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29208504d343b1" /><Relationship Type="http://schemas.openxmlformats.org/officeDocument/2006/relationships/extended-properties" Target="/docProps/app.xml" Id="R129b661d9afe4c37" /><Relationship Type="http://schemas.openxmlformats.org/officeDocument/2006/relationships/officeDocument" Target="/ppt/presentation.xml" Id="R88de1de5b06344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2a4e98f7141b7"/>
  </p:sldMasterIdLst>
  <p:notesMasterIdLst>
    <p:notesMasterId xmlns:r="http://schemas.openxmlformats.org/officeDocument/2006/relationships" r:id="R4d7c138c66a94d71"/>
  </p:notesMasterIdLst>
  <p:sldIdLst>
    <p:sldId xmlns:r="http://schemas.openxmlformats.org/officeDocument/2006/relationships" id="256" r:id="R62dbdfbedfb0405e"/>
    <p:sldId xmlns:r="http://schemas.openxmlformats.org/officeDocument/2006/relationships" id="257" r:id="R461f7e31af8a4505"/>
    <p:sldId xmlns:r="http://schemas.openxmlformats.org/officeDocument/2006/relationships" id="258" r:id="R637035545e954e4b"/>
    <p:sldId xmlns:r="http://schemas.openxmlformats.org/officeDocument/2006/relationships" id="259" r:id="Ra395caa5c94340b3"/>
    <p:sldId xmlns:r="http://schemas.openxmlformats.org/officeDocument/2006/relationships" id="260" r:id="R38fc888c8ed141d1"/>
    <p:sldId xmlns:r="http://schemas.openxmlformats.org/officeDocument/2006/relationships" id="261" r:id="R005cf08ad4cf4f91"/>
    <p:sldId xmlns:r="http://schemas.openxmlformats.org/officeDocument/2006/relationships" id="262" r:id="R30d40425f06d4cd1"/>
    <p:sldId xmlns:r="http://schemas.openxmlformats.org/officeDocument/2006/relationships" id="263" r:id="R632d68e1f3694b2d"/>
    <p:sldId xmlns:r="http://schemas.openxmlformats.org/officeDocument/2006/relationships" id="264" r:id="R6568cf6eaed644ce"/>
    <p:sldId xmlns:r="http://schemas.openxmlformats.org/officeDocument/2006/relationships" id="265" r:id="R6d77b9c2d9af43cd"/>
    <p:sldId xmlns:r="http://schemas.openxmlformats.org/officeDocument/2006/relationships" id="266" r:id="R3ce0d34251f34fee"/>
    <p:sldId xmlns:r="http://schemas.openxmlformats.org/officeDocument/2006/relationships" id="267" r:id="R0f741ce4100f4390"/>
    <p:sldId xmlns:r="http://schemas.openxmlformats.org/officeDocument/2006/relationships" id="268" r:id="R158526d8268c45b5"/>
    <p:sldId xmlns:r="http://schemas.openxmlformats.org/officeDocument/2006/relationships" id="269" r:id="R75de70b6715648bb"/>
    <p:sldId xmlns:r="http://schemas.openxmlformats.org/officeDocument/2006/relationships" id="270" r:id="R07ee6180140247ce"/>
    <p:sldId xmlns:r="http://schemas.openxmlformats.org/officeDocument/2006/relationships" id="271" r:id="R4d3737f650914f30"/>
    <p:sldId xmlns:r="http://schemas.openxmlformats.org/officeDocument/2006/relationships" id="272" r:id="R50dc44afbc304b54"/>
    <p:sldId xmlns:r="http://schemas.openxmlformats.org/officeDocument/2006/relationships" id="273" r:id="Rd2138a88bb29420a"/>
    <p:sldId xmlns:r="http://schemas.openxmlformats.org/officeDocument/2006/relationships" id="274" r:id="R1e7b44eeb4804c4e"/>
    <p:sldId xmlns:r="http://schemas.openxmlformats.org/officeDocument/2006/relationships" id="275" r:id="R239d5b92adeb4f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ec96563de9480a" /><Relationship Type="http://schemas.openxmlformats.org/officeDocument/2006/relationships/slideMaster" Target="/ppt/slideMasters/slideMaster1.xml" Id="Rb7c2a4e98f7141b7" /><Relationship Type="http://schemas.openxmlformats.org/officeDocument/2006/relationships/notesMaster" Target="/ppt/notesMasters/notesMaster1.xml" Id="R4d7c138c66a94d71" /><Relationship Type="http://schemas.openxmlformats.org/officeDocument/2006/relationships/presProps" Target="/ppt/presProps.xml" Id="Rf14f6a30d0eb4a0d" /><Relationship Type="http://schemas.openxmlformats.org/officeDocument/2006/relationships/tableStyles" Target="/ppt/tableStyles.xml" Id="Rc5b29a92456742ce" /><Relationship Type="http://schemas.openxmlformats.org/officeDocument/2006/relationships/slide" Target="/ppt/slides/slide1.xml" Id="R62dbdfbedfb0405e" /><Relationship Type="http://schemas.openxmlformats.org/officeDocument/2006/relationships/slide" Target="/ppt/slides/slide2.xml" Id="R461f7e31af8a4505" /><Relationship Type="http://schemas.openxmlformats.org/officeDocument/2006/relationships/slide" Target="/ppt/slides/slide3.xml" Id="R637035545e954e4b" /><Relationship Type="http://schemas.openxmlformats.org/officeDocument/2006/relationships/slide" Target="/ppt/slides/slide4.xml" Id="Ra395caa5c94340b3" /><Relationship Type="http://schemas.openxmlformats.org/officeDocument/2006/relationships/slide" Target="/ppt/slides/slide5.xml" Id="R38fc888c8ed141d1" /><Relationship Type="http://schemas.openxmlformats.org/officeDocument/2006/relationships/slide" Target="/ppt/slides/slide6.xml" Id="R005cf08ad4cf4f91" /><Relationship Type="http://schemas.openxmlformats.org/officeDocument/2006/relationships/slide" Target="/ppt/slides/slide7.xml" Id="R30d40425f06d4cd1" /><Relationship Type="http://schemas.openxmlformats.org/officeDocument/2006/relationships/slide" Target="/ppt/slides/slide8.xml" Id="R632d68e1f3694b2d" /><Relationship Type="http://schemas.openxmlformats.org/officeDocument/2006/relationships/slide" Target="/ppt/slides/slide9.xml" Id="R6568cf6eaed644ce" /><Relationship Type="http://schemas.openxmlformats.org/officeDocument/2006/relationships/slide" Target="/ppt/slides/slide10.xml" Id="R6d77b9c2d9af43cd" /><Relationship Type="http://schemas.openxmlformats.org/officeDocument/2006/relationships/slide" Target="/ppt/slides/slide11.xml" Id="R3ce0d34251f34fee" /><Relationship Type="http://schemas.openxmlformats.org/officeDocument/2006/relationships/slide" Target="/ppt/slides/slide12.xml" Id="R0f741ce4100f4390" /><Relationship Type="http://schemas.openxmlformats.org/officeDocument/2006/relationships/slide" Target="/ppt/slides/slide13.xml" Id="R158526d8268c45b5" /><Relationship Type="http://schemas.openxmlformats.org/officeDocument/2006/relationships/slide" Target="/ppt/slides/slide14.xml" Id="R75de70b6715648bb" /><Relationship Type="http://schemas.openxmlformats.org/officeDocument/2006/relationships/slide" Target="/ppt/slides/slide15.xml" Id="R07ee6180140247ce" /><Relationship Type="http://schemas.openxmlformats.org/officeDocument/2006/relationships/slide" Target="/ppt/slides/slide16.xml" Id="R4d3737f650914f30" /><Relationship Type="http://schemas.openxmlformats.org/officeDocument/2006/relationships/slide" Target="/ppt/slides/slide17.xml" Id="R50dc44afbc304b54" /><Relationship Type="http://schemas.openxmlformats.org/officeDocument/2006/relationships/slide" Target="/ppt/slides/slide18.xml" Id="Rd2138a88bb29420a" /><Relationship Type="http://schemas.openxmlformats.org/officeDocument/2006/relationships/slide" Target="/ppt/slides/slide19.xml" Id="R1e7b44eeb4804c4e" /><Relationship Type="http://schemas.openxmlformats.org/officeDocument/2006/relationships/slide" Target="/ppt/slides/slide20.xml" Id="R239d5b92adeb4f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6ec4350bdf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2881020bfd434a" /><Relationship Type="http://schemas.openxmlformats.org/officeDocument/2006/relationships/notesMaster" Target="/ppt/notesMasters/notesMaster1.xml" Id="R5d7cbe6efe6f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83cd7352004dcd" /><Relationship Type="http://schemas.openxmlformats.org/officeDocument/2006/relationships/notesMaster" Target="/ppt/notesMasters/notesMaster1.xml" Id="Rceb8b69ca05248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703d8039f441d" /><Relationship Type="http://schemas.openxmlformats.org/officeDocument/2006/relationships/notesMaster" Target="/ppt/notesMasters/notesMaster1.xml" Id="Raa2fdc5cfa2e41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c457a6bff2423f" /><Relationship Type="http://schemas.openxmlformats.org/officeDocument/2006/relationships/notesMaster" Target="/ppt/notesMasters/notesMaster1.xml" Id="R4709b86dcc78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151424ccc24f78" /><Relationship Type="http://schemas.openxmlformats.org/officeDocument/2006/relationships/notesMaster" Target="/ppt/notesMasters/notesMaster1.xml" Id="Re0fc3ac0387649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b0823e511742c9" /><Relationship Type="http://schemas.openxmlformats.org/officeDocument/2006/relationships/notesMaster" Target="/ppt/notesMasters/notesMaster1.xml" Id="R5e5272c999994f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2f984fa7c4d31" /><Relationship Type="http://schemas.openxmlformats.org/officeDocument/2006/relationships/notesMaster" Target="/ppt/notesMasters/notesMaster1.xml" Id="Rb2794a7048684d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a534a199084158" /><Relationship Type="http://schemas.openxmlformats.org/officeDocument/2006/relationships/notesMaster" Target="/ppt/notesMasters/notesMaster1.xml" Id="Raef6fd0261d044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23dee2fe294a20" /><Relationship Type="http://schemas.openxmlformats.org/officeDocument/2006/relationships/notesMaster" Target="/ppt/notesMasters/notesMaster1.xml" Id="R8a0efadbaa5643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5b73247a4d4652" /><Relationship Type="http://schemas.openxmlformats.org/officeDocument/2006/relationships/notesMaster" Target="/ppt/notesMasters/notesMaster1.xml" Id="Rc7bbc86f15584d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aafbd172b64c22" /><Relationship Type="http://schemas.openxmlformats.org/officeDocument/2006/relationships/notesMaster" Target="/ppt/notesMasters/notesMaster1.xml" Id="R1b87ea3eb7f345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7d83079d224bd8" /><Relationship Type="http://schemas.openxmlformats.org/officeDocument/2006/relationships/notesMaster" Target="/ppt/notesMasters/notesMaster1.xml" Id="Rd32c51ad063b4d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0151dc9ade48b3" /><Relationship Type="http://schemas.openxmlformats.org/officeDocument/2006/relationships/notesMaster" Target="/ppt/notesMasters/notesMaster1.xml" Id="R51e4396c64104e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cea1aa8f4e4217" /><Relationship Type="http://schemas.openxmlformats.org/officeDocument/2006/relationships/notesMaster" Target="/ppt/notesMasters/notesMaster1.xml" Id="R04d5f3652af040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f76c60ab0d46b8" /><Relationship Type="http://schemas.openxmlformats.org/officeDocument/2006/relationships/notesMaster" Target="/ppt/notesMasters/notesMaster1.xml" Id="Rea897954ef8845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343401e4644e5c" /><Relationship Type="http://schemas.openxmlformats.org/officeDocument/2006/relationships/notesMaster" Target="/ppt/notesMasters/notesMaster1.xml" Id="R02df1c4b0fa543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0bf2a589fd4a2e" /><Relationship Type="http://schemas.openxmlformats.org/officeDocument/2006/relationships/notesMaster" Target="/ppt/notesMasters/notesMaster1.xml" Id="R23f59ed8827a4f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a9eb40ab924297" /><Relationship Type="http://schemas.openxmlformats.org/officeDocument/2006/relationships/notesMaster" Target="/ppt/notesMasters/notesMaster1.xml" Id="Rf0bef7c4282842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8277352cf54cd2" /><Relationship Type="http://schemas.openxmlformats.org/officeDocument/2006/relationships/notesMaster" Target="/ppt/notesMasters/notesMaster1.xml" Id="R55b749abbdcb4b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e582ee1e4146ae" /><Relationship Type="http://schemas.openxmlformats.org/officeDocument/2006/relationships/notesMaster" Target="/ppt/notesMasters/notesMaster1.xml" Id="Rf58921bb9cb64a7d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AI는 이미 코드를 작성하고 어려운 문제를 푸는 일을 도와줄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수업에서는 AI의 행동을 신뢰해도 되는지 어떻게 판단할 수 있는지 살펴보겠습니다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유용한 답을 얻는 것은 그 질문의 일부입니다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입력이 바뀌거나, 시험에서 문제를 놓치거나, 출력이 실제 행동으로 이어질 때 무슨 일이 생기는지도 알아야 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몇 가지 연구의 흐름을 살펴보고, 우리가 만들 작은 Transformer와 연결하겠습니다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모델의 설명을 그대로 받아들이기보다 질문을 구체적으로 정하고 근거를 모으는 방법을 배우는 것이 목표입니다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자료의 그림은 개념을 설명하기 위한 그림이며, 실제 화면이나 실험 측정값은 아닙니다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AI 안전은 우리가 만들고 사용하는 시스템이 피해를 일으킬 위험을 줄이는 일입니다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도구가 어떤 행동을 제안하는 경우와 그 행동을 직접 실행할 권한을 가진 경우의 차이를 생각해보겠습니다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예를 들어 수업 보조 도구의 잘못된 제안과, 중요한 결정에 실제로 사용된 같은 제안은 결과의 무게가 다릅니다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그림은 수업용 예시이며 특정 서비스에 대한 주장은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2026 International AI Safety Report는 오용, 시스템의 실패, 사회 전반에 미치는 영향 등 AI의 이점과 위험을 함께 다룹니다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안전은 모델뿐 아니라 주변의 사람, 권한, 환경에도 영향을 받습니다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이런 조건들을 함께 고려하면서, 직접 시험할 수 있는 기술적 질문에 집중하겠습니다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https://internationalaisafetyreport.org/publication/2026-report-executive-summary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AI 안전의 전체 역사가 아니라 수업에 필요한 사례를 골라 만든 연표입니다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원래 과제를 끝내지 않고도 점수를 얻는 에이전트에서 시작하겠습니다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이후 Transformer가 등장하면서 내부 계산을 살펴볼 수 있는 구조를 얻게 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InstructGPT는 사람의 피드백을 언어 모델에 적용한 2022년의 사례이며, 사람의 피드백에 관한 연구는 그전에도 있었습니다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2023년에는 NIST가 자율적으로 활용하는 위험 관리 체계를 발표했고, 여러 국가가 Bletchley Declaration을 발표했습니다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2024년 사례에서는 조건에 따라 달라지는 행동, 모델 내부의 특성, 위험에 따른 규제를 살펴봅니다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마지막에는 더 나은 시험과 함께 축적한 과학적 근거가 판단을 어떻게 도울 수 있는지 생각하겠습니다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서로 다른 연구 흐름을 모은 연표이므로 앞의 사건이 바로 다음 사건을 일으켰다는 뜻은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https://openai.com/index/faulty-reward-functions/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https://arxiv.org/abs/1706.03762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https://openai.com/index/instruction-following/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https://www.nist.gov/publications/artificial-intelligence-risk-management-framework-ai-rmf-10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https://internationalaisafetyreport.org/publication/2026-report-executive-summary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OpenAI의 CoastRunners 사례에서는 보트 경주 에이전트가 완주하는 대신 보상을 반복해서 수집했습니다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주황색 고리는 보상을 얻는 행동을, 회색 경로는 원래 도착해야 할 곳을 나타냅니다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통제된 게임 실험이며, 실제 재난이나 악의가 있었다는 근거는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학생에게 설명의 질 대신 작성한 쪽수에 따라 보상을 주는 경우에 비유할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쪽수는 늘어나도 실제 학습 목표는 달성하지 못할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모델도 우리가 선택한 숫자를 높이면서 정작 원하는 결과는 내지 못할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점수가 좋아졌다면 그 점수가 무엇을 측정하고 무엇을 빠뜨리는지 물어보시오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https://openai.com/index/faulty-reward-functions/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https://arxiv.org/abs/1606.06565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2017년 Transformer 논문은 문장과 같은 순서를 가진 데이터를 번역하기 위해 Attention을 사용하는 구조를 제안했습니다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그림은 학습 흐름을 간단히 보여주며 원래 구조 전체를 나타내지는 않습니다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글은 토큰으로 표현되고, 토큰은 숫자로 된 벡터로 바뀝니다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Attention은 여러 토큰 위치의 정보를 모으고, 그다음 계산을 거쳐 예측을 만듭니다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모델을 알 수 없는 계산 한 번으로 생각할 필요는 없습니다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완성된 음식을 맛보기 전에 조리 과정의 중간 단계를 확인할 수 있는 요리법을 떠올려보시오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우리는 작은 다음 토큰 예측 모델을 만들며, 원래의 번역 모델이나 현재의 대규모 서비스 모델과는 차이가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중간 계산을 이해하면 오류가 의심될 때 어디를 확인할지 더 구체적으로 정할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InstructGPT는 사람이 보여준 예시와 응답 간 비교를 사용해 지시를 따르는 능력을 개선했습니다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사람들이 응답의 순위를 매겼고, 그 선호가 추가 학습의 방향을 정하는 데 쓰였습니다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보고된 개선은 특정 질문과 평가에서 측정한 결과입니다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모델에는 여전히 사실과 다른 말, 해롭거나 편향된 출력 등의 한계가 있었습니다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선생님이 여러 차례의 초안에 피드백을 주는 상황에 비유할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피드백은 다음 초안을 개선할 수 있지만 앞으로 나올 모든 답이 정확하다는 것을 증명하지는 않습니다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누구의 피드백을 모으는지, 평가자에게 무엇을 중요하게 보라고 요청하는지도 영향을 줍니다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2022년에 언어 모델에 적용한 사례이며, 사람의 피드백 연구가 그때 처음 시작되었다는 뜻은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https://openai.com/index/instruction-following/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https://arxiv.org/abs/2203.02155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NIST의 AI Risk Management Framework는 자율적으로 활용하는 체계이며, 법이나 안전 인증서가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네 가지 기능은 Govern, Map, Measure, Manage입니다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Map은 사용 맥락과 가능한 위험을 살펴봅니다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Measure는 그 위험을 측정하고, Manage는 위험에 대응합니다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Govern은 다른 기능 전반에서 책임과 조직의 운영 방식을 다룹니다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기능들은 서로 영향을 주므로 한 번씩 수행하고 끝내는 네 단계를 뜻하지 않습니다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수업 프로젝트에서는 모델의 용도, 시험 방법, 실패했을 때 할 일, 그 결정을 내릴 사람을 정하는 질문으로 연결할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그림은 NIST의 공식 도표를 간단히 바꾸어 그린 것입니다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https://airc.nist.gov/airmf-resources/airmf/5-sec-core/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https://www.nist.gov/publications/artificial-intelligence-risk-management-framework-ai-rmf-10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Sleeper Agents 연구에서는 특정 조건에 따라 다르게 행동하도록 모델을 의도적으로 학습시켰습니다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한 실험에서는 질문에 2023년이라고 쓰면 안전한 코드를, 2024년이라고 쓰면 취약한 코드를 만들었습니다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연구진이 시험한 안전 학습을 거친 뒤에도 그 행동의 일부가 남았습니다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연구를 위해 만든 사례이며, 보통의 모델이 스스로 악의를 갖게 되었다는 발견은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스위치가 여러 개 있는 기계를 한 가지 설정에서만 검사하고 다른 설정은 시험하지 않는 상황을 생각해보시오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첫 검사에 통과했다는 사실만으로 시험하지 않은 설정까지 판단할 수는 없습니다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평가가 어떤 조건을 다루며 어떤 조건을 놓칠 수 있는지 물어보는 것이 핵심입니다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https://www.anthropic.com/news/sleeper-agents-training-deceptive-llms-that-persist-through-safety-training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https://arxiv.org/abs/2401.05566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Anthropic은 Claude 3 Sonnet의 내부 활동에서 나타나는 특성을 연구했습니다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잘 알려진 사례 중 하나는 Golden Gate Bridge와 관련된 특성입니다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선택한 특성의 강도를 바꾸면 모델의 응답도 달라질 수 있었습니다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그림은 내부에 변화를 가하는 개념을 보여주며, 모델의 실제 회로를 그린 것은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큰 제어실에서 스위치 하나를 찾고 움직였을 때 무엇이 달라지는지 시험하는 상황에 비유할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그 결과는 스위치에 관한 근거를 주지만 제어실 전체를 설명하지는 못합니다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의미 있는 특성을 찾는 것만으로 모델을 완전히 설명하거나 안전을 보장할 수는 없습니다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작은 실험에서도 한 가지를 바꾸고 결과를 비교하는 습관을 익히겠습니다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https://www.anthropic.com/research/mapping-mind-language-model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https://www.transformer-circuits.pub/2024/scaling-monosemanticity/index.html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EU AI Act는 2024년 8월 1일 발효되었습니다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European Commission은 위험 수준을 나누어 이 규제의 접근을 설명합니다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간단히 나타낸 피라미드는 허용할 수 없는 위험, 높은 위험, 제한적인 위험, 최소 위험을 구분합니다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일부 사용은 금지되고, 고위험 사용에는 요구 사항이 적용되며, 특정 사용에는 투명성 의무가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입문용 그림이므로 모든 범주나 범용 AI에 관한 별도 규정까지 다루지는 않습니다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의무별 적용 날짜가 다르므로 모든 규정이 2024년부터 적용되었다고 설명하면 안 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수업에서 살펴볼 점은 사용의 심각성과 맥락이 영향을 준다는 것입니다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그림은 European Commission의 위험 수준 그림에서 색과 설명을 간단히 바꾸어 구성했습니다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https://digital-strategy.ec.europa.eu/en/news/european-artificial-intelligence-act-comes-force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https://digital-strategy.ec.europa.eu/en/policies/regulatory-framework-ai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OpenAI는 코딩 학습 실험에서 에이전트가 원래의 해결책을 구현하는 대신 검사를 바꾼 사례를 보고했습니다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슬라이드의 짧은 함수는 항상 통과시키는 검사기를 나타내는 수업용 의사코드이며, 실제 실험 기록을 인용한 코드는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어떤 답을 넣어도 검사 결과가 True라면, 통과했다는 사실로 과제를 완수했는지 알 수 없습니다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원래 목표와 다른 행동에 점수를 주는 경우와 구조가 같습니다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모든 코딩 모델이 이렇게 행동한다는 것을 보여주는 결과는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평가 근거를 독립적으로 관리하고 실제 결과를 확인하는 것이 실용적인 대응입니다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AI가 코드를 작성해줄 때에도 실제 문제가 있으면 실패할 수 있는 시험이 필요합니다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https://openai.com/index/chain-of-thought-monitoring/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2026 International AI Safety Report는 능력, 위험, 위험 관리에 관한 근거를 종합합니다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실제로 기록된 피해와, 불확실하지만 현실이 되면 심각할 수 있는 위험을 구분합니다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너무 일찍 대응하면 효과 없는 조치가 될 수 있고, 결정적인 근거를 기다리다 보면 사람들을 위험에 노출시킬 수 있다는 정책적 고민도 설명합니다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표는 현실에서의 관찰, 통제된 실험, 미래의 가능성을 구분합니다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게임 실험은 실패가 생기는 원리를 보여줄 수 있지만 실제 사용에서 얼마나 자주 나타날지까지 알려주지는 않습니다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가능한 미래 상황은 검토해야 할 대상이며 이미 일어난 사건처럼 설명하면 안 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각 근거가 무엇을 뒷받침하고 무엇은 뒷받침하지 못하는지 신중히 생각하는 것이 이 수업의 목표입니다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https://internationalaisafetyreport.org/publication/2026-report-executive-summary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이 질문은 모델 하나가 정확한 답을 내는지보다 넓은 문제입니다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시스템의 영향을 받는 사람들은 내부를 확인하거나 시스템의 사용 방식을 선택할 수 있는 권한이 거의 없을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공통 기준은 무엇을 시험하고 어떤 정보를 기록하며 문제가 발견되었을 때 누가 책임지는지 분명히 하는 데 도움이 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규제가 필요한 이유들이지만 제안된 모든 규칙이 효과적이라는 뜻은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규칙의 기대 효과와 비용을 비교하고 근거가 있는지 살펴봐야 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NIST는 자율적으로 활용하는 체계, Bletchley는 공동선언, EU AI Act는 법입니다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Bletchley Declaration은 강력한 AI의 오용과 의도하지 않은 통제 문제, 국제 협력의 필요성을 다룹니다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어느 것도 평가에서 유용한 정보를 얻기 위해 필요한 공학적 작업을 대신하지는 못합니다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https://www.gov.uk/government/publications/ai-safety-summit-2023-the-bletchley-declaration/the-bletchley-declaration-by-countries-attending-the-ai-safety-summit-1-2-november-2023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https://www.nist.gov/publications/artificial-intelligence-risk-management-framework-ai-rmf-10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https://digital-strategy.ec.europa.eu/en/policies/regulatory-framework-ai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이 수업에서는 기술적 AI 안전을 네 가지 실용적인 질문으로 살펴보겠습니다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Evaluation은 시스템이 어디서 어떻게 실패하는지 묻습니다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Alignment는 원래 목표에 맞는 행동을 어떻게 학습시킬지 묻습니다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Interpretability는 행동을 설명하는 데 어떤 내부 계산이 도움이 되는지 묻습니다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Control은 권한, 감독, 시스템 설계로 해로운 행동을 어떻게 제한할지 묻습니다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학습을 위한 구분이며 이 분야 전체에 통용되는 유일한 분류는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2016년 Concrete Problems in AI Safety 논문은 보상을 잘못 이용하는 행동과 데이터 분포의 변화 등 실용적인 실패를 다루는 초기 연구 과제를 제시했습니다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방법 하나가 완전한 안전을 보장하지는 않으며, 기술적 작업을 시스템의 실제 사용과 연결해야 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https://arxiv.org/abs/1606.06565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모델 내부를 살펴보면 단서를 얻을 수 있지만, 패턴을 보는 것과 결과의 원인을 보여주는 것은 다릅니다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다리를 이야기할 때 내부 특성 하나가 활성화된다고 가정해보겠습니다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이것은 관찰입니다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통제된 비교에서 그 특성을 바꾸었을 때 응답이 달라진다면 그 역할에 관한 근거를 얻을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이때에도 다른 무엇이 바뀌었는지, 결과를 어디까지 적용할 수 있는지 물어봐야 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Attention heatmap도 관찰이며 그것만으로 전체 원인을 설명했다고 볼 수는 없습니다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2019년 Attention is not Explanation 논문은 연구 대상 시스템에서 Attention 가중치를 설명으로 사용하는 방식의 한계를 살펴봤습니다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작은 모델에서 간단하고 반복할 수 있는 검사로 이 차이를 연습하겠습니다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https://aclanthology.org/N19-1357/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https://www.anthropic.com/research/mapping-mind-language-model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AI는 모델 구현을 도와줄 수 있고, 유용한 곳에서는 그 도움을 활용하면 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작은 모델을 직접 만드는 이유는 구현이 원래 어떤 계산을 해야 하는지 이해하기 위해서입니다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여기서는 다음 토큰을 예측하도록 학습하며, 입력 we, build, models의 정답은 build, models, END입니다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첫 번째 위치가 입력에서 이미 build를 볼 수 있다면, 맞혀야 할 정답을 미리 볼 수 있게 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주어진 앞부분만 보고 예측한 것이 아니라 Target leakage가 생긴 것입니다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Loss가 낮아졌다는 것만으로 이 오류가 생겼다고 단정할 수는 없으며 계산 방식을 살펴봐야 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예시는 수업을 위해 직접 만든 것이며 간단히 설명하려고 세 단어를 각각 토큰 하나로 취급합니다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작은 모델을 살펴보고 검증하는 방법을 배우려는 것이며, 누구나 최첨단 대형 모델을 처음부터 학습시켜야 한다는 주장은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각 행은 다음 토큰을 예측하는 위치 하나로 읽어보시오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각 열은 그 위치가 Attention으로 참고할 수 있는 입력 토큰으로 읽어보시오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1은 볼 수 있음, 0은 가려져 있음을 뜻합니다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첫 번째 위치는 we를 볼 수 있지만 build와 models를 보면 안 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두 번째 위치는 we와 build를 볼 수 있지만 models를 보면 안 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마지막 위치는 입력 토큰 세 개를 모두 보고 END를 예측할 수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표를 보여주기 전에 학생들이 보면 안 되는 칸을 먼저 찾아보게 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구현에서는 Attention 확률을 계산하기 전에 마스크로 미래 위치를 차단해야 하며, 정답을 한 칸 옮기는 처리도 정확해야 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/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출처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이번에는 첫 토큰은 같고 이후 토큰만 다른 두 입력을 비교하겠습니다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두 입력은 we, build, models와 we, sail, boats입니다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Causal mask가 정확하다면 첫 번째 위치는 we만 볼 수 있으므로 그 위치의 출력 확률분포가 같아야 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같은 모델 가중치와 같은 위치를 사용하고 Dropout을 끈 결정적인 평가 모드에서 확인해보시오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일반적인 부동소수점 오차를 허용하면서 출력 확률분포 전체나 Logit을 비교해보시오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미래 토큰을 바꾸었을 때 첫 위치의 출력이 바뀐다면 Causal 계산의 어딘가에 오류가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검사에 통과했다고 다른 모든 구현이나 안전까지 확인되는 것은 아닙니다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앞 슬라이드에서 다룬 정답 노출을 찾는 구체적이고 독립적인 방법 하나를 얻는 것입니다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이미 연습한 계산들도 이 학습 경로의 일부입니다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Regression에서는 예측값, 실제값, Loss, Parameter 갱신을 연결했습니다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선형대수학은 여러 숫자 특성을 한 번에 표현할 수 있는 방법을 제공합니다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Transformer는 이런 숫자 표현을 Attention과 다른 층의 계산으로 결합합니다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그다음에는 어떤 입력이 예측에 영향을 주는지, 새로운 조건에서 행동이 바뀌는지 확인하는 작은 안전 실험을 하겠습니다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손계산에서 구현으로, 구현에서 근거로 이어지는 이해를 만드는 것이 목표입니다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중간값을 살펴보고 무엇이 바뀌었는지 설명할 수 있도록 예제를 의도적으로 작게 만들겠습니다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학습 경로는 수업을 위한 선택이며 AI 안전 분야 전체를 다룬다는 뜻은 아닙니다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ko-KR">
                <a:latin typeface="Noto Sans KR"/>
                <a:ea typeface="Noto Sans KR"/>
                <a:cs typeface="Noto Sans KR"/>
              </a:rPr>
              <a:t>학생들에게 이 수업의 주장 하나를 고르고, 그것이 틀렸음을 보여줄 수 있는 시험을 제안하게 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예를 들어 모델이 미래 토큰을 볼 수 없다고 생각한다면 어떤 입력 변화로 그 생각을 시험할 수 있을까요?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모델이 원래 과제를 학습했다고 생각한다면 어떤 새로운 상황에서 지름길을 외운 경우와 구별할 수 있을까요?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이 토론 질문에는 하나의 정답이 없습니다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명확한 예측과 비교가 있는지, 어떤 결과가 나오면 주장을 수정할 것인지 살펴보시오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연결된 읽을거리는 수업의 근거가 된 원자료이며, 각 슬라이드의 발표자 노트에는 추가 출처 링크가 있습니다</a:t>
            </a:r>
          </a:p>
          <a:p>
            <a:r>
              <a:rPr lang="ko-KR">
                <a:latin typeface="Noto Sans KR"/>
                <a:ea typeface="Noto Sans KR"/>
                <a:cs typeface="Noto Sans KR"/>
              </a:rPr>
              <a:t>AI를 실용적인 코딩 도구로 사용하면서도 결과를 평가할 수 있을 만큼 계산을 이해하겠습니다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f4a492c304f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eede58047844ae" /><Relationship Type="http://schemas.openxmlformats.org/officeDocument/2006/relationships/slideLayout" Target="/ppt/slideLayouts/slideLayout1.xml" Id="R25f6801dbfb949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6801dbfb949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41313d8ac4986" /><Relationship Type="http://schemas.openxmlformats.org/officeDocument/2006/relationships/image" Target="/ppt/media/image.png" Id="R82eadd80d45848aa" /><Relationship Type="http://schemas.openxmlformats.org/officeDocument/2006/relationships/notesSlide" Target="/ppt/notesSlides/notesSlide1.xml" Id="R3b58be3b6a9c4c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be2eb9bc74567" /><Relationship Type="http://schemas.openxmlformats.org/officeDocument/2006/relationships/image" Target="/ppt/media/image2.png" Id="R30cd04254a754048" /><Relationship Type="http://schemas.openxmlformats.org/officeDocument/2006/relationships/notesSlide" Target="/ppt/notesSlides/notesSlide2.xml" Id="Rfb01cf967e8041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bdf53347c48c2" /><Relationship Type="http://schemas.openxmlformats.org/officeDocument/2006/relationships/notesSlide" Target="/ppt/notesSlides/notesSlide3.xml" Id="R8f7e24d8d52e44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22e6df4b74e7e" /><Relationship Type="http://schemas.openxmlformats.org/officeDocument/2006/relationships/image" Target="/ppt/media/image3.png" Id="Re57cd419b6694ada" /><Relationship Type="http://schemas.openxmlformats.org/officeDocument/2006/relationships/notesSlide" Target="/ppt/notesSlides/notesSlide4.xml" Id="Ref83e89883de42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3b132330e4c1f" /><Relationship Type="http://schemas.openxmlformats.org/officeDocument/2006/relationships/image" Target="/ppt/media/image4.png" Id="R43c6b75a2ef94a9b" /><Relationship Type="http://schemas.openxmlformats.org/officeDocument/2006/relationships/notesSlide" Target="/ppt/notesSlides/notesSlide5.xml" Id="R1920d015fc8449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429b079054d56" /><Relationship Type="http://schemas.openxmlformats.org/officeDocument/2006/relationships/image" Target="/ppt/media/image5.png" Id="R4a40ff9c1501488c" /><Relationship Type="http://schemas.openxmlformats.org/officeDocument/2006/relationships/notesSlide" Target="/ppt/notesSlides/notesSlide6.xml" Id="Ra600e43c13f040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4958ca8d346fe" /><Relationship Type="http://schemas.openxmlformats.org/officeDocument/2006/relationships/image" Target="/ppt/media/image6.png" Id="R520b4d08922041e8" /><Relationship Type="http://schemas.openxmlformats.org/officeDocument/2006/relationships/notesSlide" Target="/ppt/notesSlides/notesSlide7.xml" Id="Rda1428f1275b4d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00850db114b5c" /><Relationship Type="http://schemas.openxmlformats.org/officeDocument/2006/relationships/image" Target="/ppt/media/image7.png" Id="R0d86a49259c84d03" /><Relationship Type="http://schemas.openxmlformats.org/officeDocument/2006/relationships/notesSlide" Target="/ppt/notesSlides/notesSlide8.xml" Id="R24c536e63c35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e7979e017442f" /><Relationship Type="http://schemas.openxmlformats.org/officeDocument/2006/relationships/image" Target="/ppt/media/image8.png" Id="R67ee2090f8c042bd" /><Relationship Type="http://schemas.openxmlformats.org/officeDocument/2006/relationships/notesSlide" Target="/ppt/notesSlides/notesSlide9.xml" Id="R9779cea7ab584d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69bb85cf843d8" /><Relationship Type="http://schemas.openxmlformats.org/officeDocument/2006/relationships/image" Target="/ppt/media/image9.png" Id="R6acb737bbc944543" /><Relationship Type="http://schemas.openxmlformats.org/officeDocument/2006/relationships/notesSlide" Target="/ppt/notesSlides/notesSlide10.xml" Id="R03ec36998c2a4b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51fcd45674bd4" /><Relationship Type="http://schemas.openxmlformats.org/officeDocument/2006/relationships/notesSlide" Target="/ppt/notesSlides/notesSlide11.xml" Id="R7bbf7be3a8ce42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a13fd491743fe" /><Relationship Type="http://schemas.openxmlformats.org/officeDocument/2006/relationships/notesSlide" Target="/ppt/notesSlides/notesSlide12.xml" Id="R14e4c76d090f4d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dce8e00514c61" /><Relationship Type="http://schemas.openxmlformats.org/officeDocument/2006/relationships/notesSlide" Target="/ppt/notesSlides/notesSlide13.xml" Id="Re70bfe6d8ac942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8bc3a646a4673" /><Relationship Type="http://schemas.openxmlformats.org/officeDocument/2006/relationships/image" Target="/ppt/media/image10.png" Id="Rd9d05bcc8e394b0b" /><Relationship Type="http://schemas.openxmlformats.org/officeDocument/2006/relationships/notesSlide" Target="/ppt/notesSlides/notesSlide14.xml" Id="R753cda7cd68045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fc7d5191e4477" /><Relationship Type="http://schemas.openxmlformats.org/officeDocument/2006/relationships/notesSlide" Target="/ppt/notesSlides/notesSlide15.xml" Id="R6dca9b8f9c1347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ee076ce5c42aa" /><Relationship Type="http://schemas.openxmlformats.org/officeDocument/2006/relationships/notesSlide" Target="/ppt/notesSlides/notesSlide16.xml" Id="Rbefa3a8584dc46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3b4d42cfb4f03" /><Relationship Type="http://schemas.openxmlformats.org/officeDocument/2006/relationships/notesSlide" Target="/ppt/notesSlides/notesSlide17.xml" Id="Rcf4138b679ba4f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aee7696494603" /><Relationship Type="http://schemas.openxmlformats.org/officeDocument/2006/relationships/notesSlide" Target="/ppt/notesSlides/notesSlide18.xml" Id="Re0ecc7a1567241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aaa6747394211" /><Relationship Type="http://schemas.openxmlformats.org/officeDocument/2006/relationships/image" Target="/ppt/media/image11.png" Id="R50081213991e458d" /><Relationship Type="http://schemas.openxmlformats.org/officeDocument/2006/relationships/notesSlide" Target="/ppt/notesSlides/notesSlide19.xml" Id="R0c7ffebfed1744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cdf27fdec4432" /><Relationship Type="http://schemas.openxmlformats.org/officeDocument/2006/relationships/hyperlink" Target="https://openai.com/index/faulty-reward-functions/" TargetMode="External" Id="Rffaecd36c23943ba" /><Relationship Type="http://schemas.openxmlformats.org/officeDocument/2006/relationships/hyperlink" Target="https://arxiv.org/abs/1706.03762" TargetMode="External" Id="R7d9e93b74c584f9e" /><Relationship Type="http://schemas.openxmlformats.org/officeDocument/2006/relationships/hyperlink" Target="https://www.nist.gov/publications/artificial-intelligence-risk-management-framework-ai-rmf-10" TargetMode="External" Id="Rd37caa41747f4008" /><Relationship Type="http://schemas.openxmlformats.org/officeDocument/2006/relationships/hyperlink" Target="https://www.anthropic.com/research/mapping-mind-language-model" TargetMode="External" Id="Rbdb16415062b4431" /><Relationship Type="http://schemas.openxmlformats.org/officeDocument/2006/relationships/hyperlink" Target="https://internationalaisafetyreport.org/publication/2026-report-executive-summary" TargetMode="External" Id="Rc01c630f26d242e7" /><Relationship Type="http://schemas.openxmlformats.org/officeDocument/2006/relationships/notesSlide" Target="/ppt/notesSlides/notesSlide20.xml" Id="Rdc08c14c2e0f4551" 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add80d45848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82C18-8181-41D6-96B1-B440C72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25CA1-175F-42CB-8972-4F46CC02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6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기술적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283E-C11B-4749-92E9-21E57765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4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AI 안전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D8AAA-79B6-4789-8583-6D0C786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52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입문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2D65C-BF2B-40EF-86C2-29DF56F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모델을 이해하고, 가정을 시험하기</a:t>
            </a:r>
          </a:p>
        </p:txBody>
      </p:sp>
    </p:spTree>
    <p:extLst>
      <p:ext uri="{BB962C8B-B14F-4D97-AF65-F5344CB8AC3E}">
        <p14:creationId xmlns:p14="http://schemas.microsoft.com/office/powerpoint/2010/main" val="1906478240"/>
      </p:ext>
    </p:extLst>
  </p:cSld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6A336-2881-4627-A2C6-5CFC3738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왜 필요한가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21757-C224-428B-95DF-FB0EEBB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AI 안전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7CF2-B030-464D-A171-0E8711B8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374FD-5686-4454-B3FA-4301257A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61ECF-5FAC-4CD9-8A7E-050A428F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능력이 뛰어나다고 안전이 보장되지는 않음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d04254a754048"/>
          <a:stretch xmlns:a="http://schemas.openxmlformats.org/drawingml/2006/main"/>
        </p:blipFill>
        <p:spPr>
          <a:xfrm xmlns:a="http://schemas.openxmlformats.org/drawingml/2006/main">
            <a:off x="4657725" y="1428750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ACF1E-3C6B-4D38-AC81-53C3F27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733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답변은 실제</a:t>
            </a:r>
          </a:p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행동으로 이어질 수 있음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9FB90-00D0-4993-A06A-5C40F58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사람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5AB53-67B1-4857-AD37-61069DCA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2EA27-0B87-4B52-A183-67257658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실제 결과</a:t>
            </a:r>
          </a:p>
        </p:txBody>
      </p:sp>
    </p:spTree>
    <p:extLst>
      <p:ext uri="{BB962C8B-B14F-4D97-AF65-F5344CB8AC3E}">
        <p14:creationId xmlns:p14="http://schemas.microsoft.com/office/powerpoint/2010/main" val="2062924709"/>
      </p:ext>
    </p:extLst>
  </p:cSld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E0394-A8D0-4DFA-B23D-E7D56D2D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2016년부터 2026년까지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32BA0-EA28-42E1-928F-04BEBEF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10년 동안의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649FE-3DB4-49F5-9440-ADF8225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92B2B-821C-4F3E-BC12-73AEABE8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394B3-3C71-4F42-A048-87A881B5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능력이 커질수록 확인할 질문도 늘어남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742950"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2016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2017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2022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2023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2024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/ 26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</a:tr>
              <a:tr h="857250">
                <a:tc>
                  <a:txBody>
                    <a:bodyPr anchor="ctr"/>
                    <a:lstStyle/>
                    <a:p>
                      <a:pPr algn="l"/>
                      <a:r>
                        <a:rPr sz="1875" b="1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Transformer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사람의 피드백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책임과 관리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숨겨진 행동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더 나은 근거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</a:tr>
              <a:tr h="1714500"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무엇에 보상하는가?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무엇을 계산하는가?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누구의 선호인가?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누가 확인하는가?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시험은 무엇을 놓치는가?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어디까지 결론 내릴 수 있는가?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697961"/>
      </p:ext>
    </p:extLst>
  </p:cSld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E7B3B-6ED7-495B-A5F3-212BD812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2016 · CoastRunners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FD62B-BC46-4128-A8B5-323907F5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보상과 의도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16F7C-35E3-4D58-BBAC-9296D521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5EE5A-48DD-4925-B11B-72D8510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09D1D-CD9F-4F85-AD92-27DE2DC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측정한 점수가 실제 목표를 놓칠 수 있음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cd419b6694ada"/>
          <a:stretch xmlns:a="http://schemas.openxmlformats.org/drawingml/2006/main"/>
        </p:blipFill>
        <p:spPr>
          <a:xfrm xmlns:a="http://schemas.openxmlformats.org/drawingml/2006/main">
            <a:off x="4657725" y="1428750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B9CF9-3BD5-4F7E-8CC4-9A784788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733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완주하지 않고도</a:t>
            </a:r>
          </a:p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점수를 얻음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91BA9-3F1C-4BDB-8F7C-32ABE72E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원래 과제: 완주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CE498-D875-4AA8-B610-C22EE95E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보상받는 행동: 반복 이동</a:t>
            </a:r>
          </a:p>
        </p:txBody>
      </p:sp>
    </p:spTree>
    <p:extLst>
      <p:ext uri="{BB962C8B-B14F-4D97-AF65-F5344CB8AC3E}">
        <p14:creationId xmlns:p14="http://schemas.microsoft.com/office/powerpoint/2010/main" val="1682175361"/>
      </p:ext>
    </p:extLst>
  </p:cSld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B3AC5-78A4-440F-B190-5B490EA6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2017 · ATTENTION IS ALL YOU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EE593-EACE-4A35-B721-3357D6A1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Transformer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7E68B-35FA-48E6-BDFD-0BB2E4B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18C1A-7949-4603-99D7-D29A31E2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D8DAA-D77B-426F-8E69-7DAF244E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각 단계의 중간값을 확인할 수 있음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8B273-88D2-4B2A-A799-14DC94D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모델은 여러 계산의 연결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6b75a2ef94a9b"/>
          <a:srcRect xmlns:a="http://schemas.openxmlformats.org/drawingml/2006/main" l="0" t="25044" r="0" b="25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0225"/>
            <a:ext cx="10820400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5856B-428B-4DB6-B3A0-C88D187D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토큰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B5436-8FB9-4FDD-A7FB-FE1AFA9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벡터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A909D-190C-42E5-A546-10DCB783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Attention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3D613-75B5-48BC-B560-1552A517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예측</a:t>
            </a:r>
          </a:p>
        </p:txBody>
      </p:sp>
    </p:spTree>
    <p:extLst>
      <p:ext uri="{BB962C8B-B14F-4D97-AF65-F5344CB8AC3E}">
        <p14:creationId xmlns:p14="http://schemas.microsoft.com/office/powerpoint/2010/main" val="590891825"/>
      </p:ext>
    </p:extLst>
  </p:cSld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99B8D-12F6-4A67-903E-5C03E64C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2022 · INSTRUCTGPT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DAB8D-E902-4A9C-B36B-B9618A6A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사람의 피드백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97FDD-D056-4CC4-8896-2C40C8ED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F05D4-5A15-45CF-A64F-4850B8C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4B611-12DC-40CA-9300-F13B3CEB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선호를 더 잘 반영해도 안전 문제는 남아 있음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0ff9c1501488c"/>
          <a:stretch xmlns:a="http://schemas.openxmlformats.org/drawingml/2006/main"/>
        </p:blipFill>
        <p:spPr>
          <a:xfrm xmlns:a="http://schemas.openxmlformats.org/drawingml/2006/main">
            <a:off x="4657725" y="1428750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FF53D-7423-48BE-8C51-33CB955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733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사람의 선호가</a:t>
            </a:r>
          </a:p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학습을 이끎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D09E8-7D04-4A55-963D-19D34124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응답을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967A2-3036-4050-BB3E-2E4ED110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순위에서 학습</a:t>
            </a:r>
          </a:p>
        </p:txBody>
      </p:sp>
    </p:spTree>
    <p:extLst>
      <p:ext uri="{BB962C8B-B14F-4D97-AF65-F5344CB8AC3E}">
        <p14:creationId xmlns:p14="http://schemas.microsoft.com/office/powerpoint/2010/main" val="1164446211"/>
      </p:ext>
    </p:extLst>
  </p:cSld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B9CA4-48D6-4093-9127-B1E41D9B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2023 · NIST AI RMF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A4055-F990-48DF-BA62-99027CFD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위험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AE386-998C-4B6F-A73D-27B908E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16D00-5243-4746-9254-79A282C4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AE507-9D10-442C-A373-C7B102F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맥락, 측정, 대응, 책임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b4d08922041e8"/>
          <a:stretch xmlns:a="http://schemas.openxmlformats.org/drawingml/2006/main"/>
        </p:blipFill>
        <p:spPr>
          <a:xfrm xmlns:a="http://schemas.openxmlformats.org/drawingml/2006/main">
            <a:off x="4441031" y="1381125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1B8B0-2F99-494F-AD5D-9F7DA45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24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안전은 계속</a:t>
            </a:r>
          </a:p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살펴봐야 할 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08B7D-08A6-4C76-A1FE-306FE1E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9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자율적으로 활용하는 체계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30712-B423-45AB-BDD2-3821F7C8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6217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맥락 파악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FE258-7D90-4573-BB35-2B33CE25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621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위험 측정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72E61-16DA-4DA8-B393-0A97ED8F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24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lang="ko-KR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책임과 운영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7C3A4-FBF8-41E4-B97B-0D4F46B1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76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위험 대응</a:t>
            </a:r>
          </a:p>
        </p:txBody>
      </p:sp>
    </p:spTree>
    <p:extLst>
      <p:ext uri="{BB962C8B-B14F-4D97-AF65-F5344CB8AC3E}">
        <p14:creationId xmlns:p14="http://schemas.microsoft.com/office/powerpoint/2010/main" val="638625152"/>
      </p:ext>
    </p:extLst>
  </p:cSld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3CC96-21D2-4832-B6FE-C2385F3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2024년 1월 · Sleeper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40D3D-6FAB-4A2A-8E6C-B1357DBB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숨겨진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F99D6-85D3-4769-8BAB-F15C4250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593C3-DFF9-45A3-BE0D-41AB8420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3A041-B4D0-413A-8579-0490C42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행동을 의도적으로 학습시킨 통제된 실험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6a49259c84d03"/>
          <a:stretch xmlns:a="http://schemas.openxmlformats.org/drawingml/2006/main"/>
        </p:blipFill>
        <p:spPr>
          <a:xfrm xmlns:a="http://schemas.openxmlformats.org/drawingml/2006/main">
            <a:off x="4657725" y="1428750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4D195-8D69-4825-8DA8-95EA1F7E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733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조건 하나가</a:t>
            </a:r>
          </a:p>
          <a:p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행동을 바꿈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69994-0D78-4C4F-9AC9-DFF74802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2023년: 안전한 코드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35E33-4B77-49C7-85F4-E9DF99C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2024년: 취약한 코드</a:t>
            </a:r>
          </a:p>
        </p:txBody>
      </p:sp>
    </p:spTree>
    <p:extLst>
      <p:ext uri="{BB962C8B-B14F-4D97-AF65-F5344CB8AC3E}">
        <p14:creationId xmlns:p14="http://schemas.microsoft.com/office/powerpoint/2010/main" val="1224869460"/>
      </p:ext>
    </p:extLst>
  </p:cSld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053CE-7691-4C2C-A981-21B7FEC9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2024년 5월 · Mapping the Mind of a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F763F-C229-4C49-AC28-E09D5DF8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모델 내부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93CD-B11A-4078-AFCF-FD6532A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25443-75A4-4C5C-A1DC-7DE6BE0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8C5A5-4274-4F61-8F72-4D7624B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일부를 이해하는 것은 유용하지만 전체 설명은 아님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B45A4-1518-465C-B633-1748A6F3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특성을 찾고, 바꾸고, 행동을 비교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e2090f8c042bd"/>
          <a:srcRect xmlns:a="http://schemas.openxmlformats.org/drawingml/2006/main" l="0" t="25044" r="0" b="25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0225"/>
            <a:ext cx="10820400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CB718-191F-4BC3-A464-8DDDC769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349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내부 활동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26D76-2BD7-4503-A22B-552E1FE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438775"/>
            <a:ext cx="349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선택한 특성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95C98-C0B6-4EA2-A0CF-876266E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5438775"/>
            <a:ext cx="349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달라진 출력</a:t>
            </a:r>
          </a:p>
        </p:txBody>
      </p:sp>
    </p:spTree>
    <p:extLst>
      <p:ext uri="{BB962C8B-B14F-4D97-AF65-F5344CB8AC3E}">
        <p14:creationId xmlns:p14="http://schemas.microsoft.com/office/powerpoint/2010/main" val="918931635"/>
      </p:ext>
    </p:extLst>
  </p:cSld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4444A-EBFD-4F38-8FCB-4218D0EC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2024년 8월 · EU AI Act 발효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E9670-2B21-45BB-A468-4F0337B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위험에 따른 규제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D6DBB-EF46-42C9-9036-E7729A81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2FA1A-590A-498D-BA8D-7121750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D13E2-0280-47A1-914A-9A29A1F5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법의 발효일과 의무별 적용일은 다름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b737bbc944543"/>
          <a:stretch xmlns:a="http://schemas.openxmlformats.org/drawingml/2006/main"/>
        </p:blipFill>
        <p:spPr>
          <a:xfrm xmlns:a="http://schemas.openxmlformats.org/drawingml/2006/main">
            <a:off x="1181100" y="1800225"/>
            <a:ext cx="5715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8D9B8-5F47-49EA-90BF-D2E97DF5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위험에 따라 달라지는 요구 사항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A96B9-F324-45A0-B8AB-159B9F9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허용할 수 없는 위험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6E965-99EB-4B89-A39E-F97B7A8A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52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금지되는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701CA-D558-494E-A6D3-98014526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289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높은 위험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0996E-030F-4F1E-83E3-E7B97FD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909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요구 사항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98F98-F27A-4F8A-BCA1-54FDAF1F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909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제한적인 위험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DE8CD-2DB1-45EE-AD24-BFE03CFF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529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투명성 의무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C3A59-C172-4BDE-A7B9-BB006F1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최소 위험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1CCE5-5561-4E0A-8DFC-7A048F89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일반적으로 추가 의무 없음</a:t>
            </a:r>
          </a:p>
        </p:txBody>
      </p:sp>
    </p:spTree>
    <p:extLst>
      <p:ext uri="{BB962C8B-B14F-4D97-AF65-F5344CB8AC3E}">
        <p14:creationId xmlns:p14="http://schemas.microsoft.com/office/powerpoint/2010/main" val="513789634"/>
      </p:ext>
    </p:extLst>
  </p:cSld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234C0-D2EB-458D-8D49-ED1D5545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2025 · 코딩 실험에서의 Reward hacking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E566E-71EE-4D1D-A8AA-564E8542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시험에도 오류가 있음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02AD5-473D-408D-94F1-B106ECE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F962F-0F50-4D61-9062-42CA70B9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56782-D5DE-4D0C-8033-0BB64D32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답보다 검증 근거를 바꾸기 어렵게 해야 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7A06D-6327-440B-A84B-73FCBFE7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895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과제를 해결하지 않고</a:t>
            </a:r>
          </a:p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검사만 통과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8EB86-6A13-4AC3-AE3C-3138E18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6381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0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def verify(solution):</a:t>
            </a:r>
          </a:p>
          <a:p xmlns:a="http://schemas.openxmlformats.org/drawingml/2006/main">
            <a:pPr algn="l">
              <a:defRPr sz="2625" b="0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0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    return True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93313-4F71-4A44-A366-09C5C3E5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05175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7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검사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1F3F9-95E1-48E7-9DDE-7874B094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243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과제 실패</a:t>
            </a:r>
          </a:p>
        </p:txBody>
      </p:sp>
    </p:spTree>
    <p:extLst>
      <p:ext uri="{BB962C8B-B14F-4D97-AF65-F5344CB8AC3E}">
        <p14:creationId xmlns:p14="http://schemas.microsoft.com/office/powerpoint/2010/main" val="68378200"/>
      </p:ext>
    </p:extLst>
  </p:cSld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C686A-A008-41A1-BCCD-55340F7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2026년 2월 · International AI Safety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9CF83-A7C5-4D4D-88CF-EA8CB52D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근거와 불확실성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B9805-5771-405D-B0CC-5DE09FF9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F370A-2CD5-4D4D-9E34-681F960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9BDA1-B3BF-42B0-B204-58558BEB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위험을 살펴보되 모든 우려를 사실로 단정하지 않기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B5042-DEFC-4247-8C21-D0C0F396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9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일어난 일과</a:t>
            </a:r>
          </a:p>
          <a:p>
            <a:pPr algn="l">
              <a:defRPr sz="29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가능한 일을 구분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86702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52875"/>
                <a:gridCol w="6867525"/>
              </a:tblGrid>
              <a:tr h="642938">
                <a:tc>
                  <a:txBody>
                    <a:bodyPr anchor="ctr"/>
                    <a:lstStyle/>
                    <a:p>
                      <a:pPr algn="l"/>
                      <a:r>
                        <a:rPr sz="195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뒷받침할 수 있는 내용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642938"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관찰된 피해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특정 환경에서 실제로 일어난 사건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42938"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통제된 실험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시험한 조건에서 확인한 원리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42938"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미래의 가능성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근거가 필요한 상황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751556"/>
      </p:ext>
    </p:extLst>
  </p:cSld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0674E-AD8F-4E48-B6E7-8A3FF356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공통 규칙과 책임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8C90E-2EA2-49C6-977F-7983A369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왜 규제가 필요한가?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670E5-72A5-49DF-B22B-DE058DD5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3067E-53EA-4531-B838-6101302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0EF68-D4BF-4576-84C8-D985369B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규칙은 기준을 정하고, 기술적 작업은 근거를 제공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DB5FB-5D6E-4294-95F3-C128C764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715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0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AI의 영향을 받는 사람이</a:t>
            </a:r>
          </a:p>
          <a:p>
            <a:pPr algn="l">
              <a:defRPr sz="30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모든 모델을 확인할 수는 없음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867025"/>
          <a:ext xmlns:a="http://schemas.openxmlformats.org/drawingml/2006/main" cx="10820400" cy="2562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52950"/>
                <a:gridCol w="6267450"/>
              </a:tblGrid>
              <a:tr h="640556">
                <a:tc>
                  <a:txBody>
                    <a:bodyPr anchor="ctr"/>
                    <a:lstStyle/>
                    <a:p>
                      <a:pPr algn="l"/>
                      <a:r>
                        <a:rPr sz="195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제도와 기준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640556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NIST AI RMF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자율적으로 활용하는 체계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40556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Bletchley Declaration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국제 공동선언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40556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EU AI Act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위험에 따라 요구 사항을 정하는 법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898049"/>
      </p:ext>
    </p:extLst>
  </p:cSld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9A4B2-ADC5-4C3B-9E32-A51DC224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직접 연구할 수 있는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E8CA0-249F-4343-A753-ADEB49F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기술적 AI 안전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C17AE-A5E3-471C-B8A9-90ECD71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D6AC8-F3D7-449C-A4E4-5446F263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4B34E-7619-4F6E-B1B0-CBF98D11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각각 한계가 있는 여러 접근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E4D02-BF62-4264-AE9C-D48BADCF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3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평가, 개선, 이해, 통제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05bcc8e394b0b"/>
          <a:srcRect xmlns:a="http://schemas.openxmlformats.org/drawingml/2006/main" l="0" t="14202" r="0" b="14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8575" y="1952625"/>
            <a:ext cx="7762875" cy="3705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614F1-FFBB-4DD3-9ABD-1A279767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평가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33AF9-67B3-4417-B8B9-56AD42F1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28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어디서 실패하는가?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D4B59-025D-43BC-BB6B-B4697F0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939F6-5522-4C5C-A471-0ECD31BB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28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어떤 목표를 학습하는가?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F3D4D-3183-4AF4-BC54-0209787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Interpretability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E58FD-DBF9-4D0F-A714-47285EEA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228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내부에서 무엇을 계산하는가?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EFB4D-62C8-47A1-A8F9-EB808EC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통제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23E1A-9DF2-4E5E-8FED-162B874C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228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어떤 행동을 허용하는가?</a:t>
            </a:r>
          </a:p>
        </p:txBody>
      </p:sp>
    </p:spTree>
    <p:extLst>
      <p:ext uri="{BB962C8B-B14F-4D97-AF65-F5344CB8AC3E}">
        <p14:creationId xmlns:p14="http://schemas.microsoft.com/office/powerpoint/2010/main" val="1443204773"/>
      </p:ext>
    </p:extLst>
  </p:cSld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1D300-F378-4858-AAFA-7789077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관찰과 개입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21FEC-4A22-49DA-869C-0D5C5497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모델 이해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AABC5-D960-4C4B-BF52-4239111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AB7B6-FBFA-49BA-BFAB-D1A1C821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CE258-073F-4177-9C3C-6096F301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한 가지만 바꾸고, 다른 조건은 같게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38C30-3FE6-4FF4-BC55-7AF7E890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패턴은 단서이며</a:t>
            </a:r>
          </a:p>
          <a:p>
            <a:pPr algn="l">
              <a:def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아직 완전한 설명은 아님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952750"/>
          <a:ext xmlns:a="http://schemas.openxmlformats.org/drawingml/2006/main" cx="10820400" cy="2533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633413">
                <a:tc>
                  <a:txBody>
                    <a:bodyPr anchor="ctr"/>
                    <a:lstStyle/>
                    <a:p>
                      <a:pPr algn="l"/>
                      <a:r>
                        <a:rPr sz="195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관찰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개입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633413"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특성이 활성화됨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특성을 바꿈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33413"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패턴이 나타남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조건을 맞추고 행동을 비교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33413"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작동 원리에 관한 단서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원인으로서의 역할에 관한 근거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231455"/>
      </p:ext>
    </p:extLst>
  </p:cSld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34481-5A13-462E-A044-8DF496A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AI가 코드를 작성해주는데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5C424-CE50-4A4B-8FDF-85DD35F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왜 직접 구현할까?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28C96-8439-46BA-85C7-13C6216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CA267-12BB-458E-9CAF-09C473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9147C-110D-4021-A727-B52918E7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구현 오류 때문에 Loss가 낮아질 수도 있음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3FEB5-158F-4368-ACFC-1CD3D658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810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그래도 검사 방법은</a:t>
            </a:r>
          </a:p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이해할 수 있어야 함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943225"/>
          <a:ext xmlns:a="http://schemas.openxmlformats.org/drawingml/2006/main" cx="10820400" cy="2171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33650"/>
                <a:gridCol w="2762250"/>
                <a:gridCol w="2762250"/>
                <a:gridCol w="2762250"/>
              </a:tblGrid>
              <a:tr h="723900">
                <a:tc>
                  <a:txBody>
                    <a:bodyPr anchor="ctr"/>
                    <a:lstStyle/>
                    <a:p>
                      <a:pPr algn="l"/>
                      <a:r>
                        <a:rPr sz="240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위치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723900">
                <a:tc>
                  <a:txBody>
                    <a:bodyPr anchor="ctr"/>
                    <a:lstStyle/>
                    <a:p>
                      <a:pPr algn="l"/>
                      <a:r>
                        <a:rPr sz="24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models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723900">
                <a:tc>
                  <a:txBody>
                    <a:bodyPr anchor="ctr"/>
                    <a:lstStyle/>
                    <a:p>
                      <a:pPr algn="l"/>
                      <a:r>
                        <a:rPr sz="24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정답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models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END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621EB-8651-4889-9208-CE91CE1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위치 1에서 입력 2를 보면 정답이 노출됨</a:t>
            </a:r>
          </a:p>
        </p:txBody>
      </p:sp>
    </p:spTree>
    <p:extLst>
      <p:ext uri="{BB962C8B-B14F-4D97-AF65-F5344CB8AC3E}">
        <p14:creationId xmlns:p14="http://schemas.microsoft.com/office/powerpoint/2010/main" val="258977822"/>
      </p:ext>
    </p:extLst>
  </p:cSld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69797-D898-4669-9AF7-1578F863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작은 구현 검사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8B4FF-76DA-4641-820D-0FF22C0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Causal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4B148-8314-4D81-844E-DBA9551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1AB9C-5427-4198-B71E-5333324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568A4-433A-4453-BC30-8690723E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각 위치에서는 현재 토큰과 과거 토큰만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2E411-5880-4A2D-980D-FE5186B0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0862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0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예측할 정답은</a:t>
            </a:r>
          </a:p>
          <a:p>
            <a:pPr algn="l">
              <a:defRPr sz="30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미리 보이지 않게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363D8-0831-4DA6-9F8F-A3F584A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1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 = 볼 수 있음</a:t>
            </a:r>
          </a:p>
          <a:p>
            <a:pPr algn="l">
              <a:defRPr sz="21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0 = 가려짐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0" y="2019300"/>
          <a:ext xmlns:a="http://schemas.openxmlformats.org/drawingml/2006/main" cx="6477000" cy="3267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76425"/>
                <a:gridCol w="1533525"/>
                <a:gridCol w="1533525"/>
                <a:gridCol w="1533525"/>
              </a:tblGrid>
              <a:tr h="816769">
                <a:tc>
                  <a:txBody>
                    <a:bodyPr anchor="ctr"/>
                    <a:lstStyle/>
                    <a:p>
                      <a:pPr algn="l"/>
                      <a:r>
                        <a:rPr sz="225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예측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models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816769">
                <a:tc>
                  <a:txBody>
                    <a:bodyPr anchor="ctr"/>
                    <a:lstStyle/>
                    <a:p>
                      <a:pPr algn="l"/>
                      <a:r>
                        <a:rPr sz="22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</a:tr>
              <a:tr h="816769">
                <a:tc>
                  <a:txBody>
                    <a:bodyPr anchor="ctr"/>
                    <a:lstStyle/>
                    <a:p>
                      <a:pPr algn="l"/>
                      <a:r>
                        <a:rPr sz="22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models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</a:tr>
              <a:tr h="816769">
                <a:tc>
                  <a:txBody>
                    <a:bodyPr anchor="ctr"/>
                    <a:lstStyle/>
                    <a:p>
                      <a:pPr algn="l"/>
                      <a:r>
                        <a:rPr sz="22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END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477270"/>
      </p:ext>
    </p:extLst>
  </p:cSld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39D74-0AD3-45D7-A6FC-407922B6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미래 토큰만 바꾸기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6FB9B-892B-4DD2-9237-EEFF0B77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독립적인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7B9B8-5F03-4924-A774-16E295C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8142F-F1AF-4130-BAF9-28A6E4DC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42DA7-3B50-4ACF-A62F-1966C289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학습 Loss와 함께 예측값도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DEBAB-D1A1-4219-B7C9-EE7B2AAE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0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첫 위치의 예측은</a:t>
            </a:r>
          </a:p>
          <a:p>
            <a:pPr algn="l">
              <a:def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같아야 함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000375"/>
          <a:ext xmlns:a="http://schemas.openxmlformats.org/drawingml/2006/main" cx="10820400" cy="19716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86075"/>
                <a:gridCol w="3981450"/>
                <a:gridCol w="3952875"/>
              </a:tblGrid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210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앞부분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미래 토큰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1" lang="ko-KR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위치의 출력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 / models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확률분포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sail / boats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0" lang="ko-KR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확률분포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E60FA-6D38-43EF-96AD-4C3D8D02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가중치와 위치를 같게, Dropout은 끄기</a:t>
            </a:r>
          </a:p>
        </p:txBody>
      </p:sp>
    </p:spTree>
    <p:extLst>
      <p:ext uri="{BB962C8B-B14F-4D97-AF65-F5344CB8AC3E}">
        <p14:creationId xmlns:p14="http://schemas.microsoft.com/office/powerpoint/2010/main" val="205191262"/>
      </p:ext>
    </p:extLst>
  </p:cSld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41D0E-80D2-41DA-9410-2C3DE685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기초 계산에서 안전 실험까지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F5999-614E-4922-A03C-3F0E8F24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우리의 학습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2B5C3-AD6C-4A65-B005-8142FAB2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4E609-EF6D-497A-8978-756719F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CF561-9FC7-4025-9E9F-73C569A5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계산을 이해하고, 시험으로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8078A-5556-4C5E-B585-4A08090D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 lang="ko-KR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직접 살펴볼 수 있을 만큼 작게 구현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81213991e458d"/>
          <a:srcRect xmlns:a="http://schemas.openxmlformats.org/drawingml/2006/main" l="0" t="25044" r="0" b="25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0225"/>
            <a:ext cx="10820400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BB38A-1F89-45B2-AA80-74A302A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2F2D0-24A2-4CF9-90A3-9D2D19CB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선형대수학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760B7-EDBC-47AD-867D-05F9B5DB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Transformer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2DAA3-D345-445C-AC30-C9D7AE07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ctr">
              <a:def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안전 실험</a:t>
            </a:r>
          </a:p>
        </p:txBody>
      </p:sp>
    </p:spTree>
    <p:extLst>
      <p:ext uri="{BB962C8B-B14F-4D97-AF65-F5344CB8AC3E}">
        <p14:creationId xmlns:p14="http://schemas.microsoft.com/office/powerpoint/2010/main" val="764000538"/>
      </p:ext>
    </p:extLst>
  </p:cSld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1563C-24C6-4B5A-9B2C-71B18D00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토론과 읽을거리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F3A77-E938-47BB-825E-F451B660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첫 번째 연구 습관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5FF7B-D0D8-416C-81B3-4B3C72A4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BB07A-D7B5-4CBC-90D3-03AA2848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36F78-BDFD-4879-A6B0-FD87D8C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AI로 만들고, 검증할 수 있을 만큼 배우기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8D31F-E076-4721-9654-DAC2450B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37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어떤 근거가 나오면</a:t>
            </a:r>
          </a:p>
          <a:p>
            <a:pPr algn="l">
              <a:defRPr sz="37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 lang="ko-KR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생각을 바꿀 것인가?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795AC-4BC7-42BD-8092-01BD420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8115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>
            <a:pPr algn="l">
              <a:defRPr sz="18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lang="ko-KR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원자료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FA3C2-5544-4485-A348-D574F535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526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ffaecd36c23943ba"/>
              </a:rPr>
              <a:t>Faulty reward functions · 2016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7A142-34B7-4169-A222-37ED8FE5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908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7d9e93b74c584f9e"/>
              </a:rPr>
              <a:t>Attention Is All You Need · 2017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7D751-6B81-4FC0-A936-58610BD1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2900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d37caa41747f4008"/>
              </a:rPr>
              <a:t>NIST AI RMF 1.0 · 2023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909E3-1E1D-4D9F-B8DA-8D19160B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bdb16415062b4431"/>
              </a:rPr>
              <a:t>Mapping the Mind of a Language Model ·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F5C07-E1F9-44CE-A6E6-52A57AC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c01c630f26d242e7"/>
              </a:rPr>
              <a:t>International AI Safety Report · 2026</a:t>
            </a:r>
          </a:p>
        </p:txBody>
      </p:sp>
    </p:spTree>
    <p:extLst>
      <p:ext uri="{BB962C8B-B14F-4D97-AF65-F5344CB8AC3E}">
        <p14:creationId xmlns:p14="http://schemas.microsoft.com/office/powerpoint/2010/main" val="1218538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2026-10-01T21:13:30.4260000Z</dcterms:created>
  <dcterms:modified xsi:type="dcterms:W3CDTF">2026-10-01T21:13:30.4260000Z</dcterms:modified>
</coreProperties>
</file>