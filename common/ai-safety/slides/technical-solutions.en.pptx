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ef067b3bf4c71" /><Relationship Type="http://schemas.openxmlformats.org/officeDocument/2006/relationships/extended-properties" Target="/docProps/app.xml" Id="R12427c41c582477b" /><Relationship Type="http://schemas.openxmlformats.org/officeDocument/2006/relationships/officeDocument" Target="/ppt/presentation.xml" Id="R8c7645761cdd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03a703a5c4fa8"/>
  </p:sldMasterIdLst>
  <p:notesMasterIdLst>
    <p:notesMasterId xmlns:r="http://schemas.openxmlformats.org/officeDocument/2006/relationships" r:id="R301ed05ade9e445e"/>
  </p:notesMasterIdLst>
  <p:sldIdLst>
    <p:sldId xmlns:r="http://schemas.openxmlformats.org/officeDocument/2006/relationships" id="256" r:id="Rdb27a7358ce849f0"/>
    <p:sldId xmlns:r="http://schemas.openxmlformats.org/officeDocument/2006/relationships" id="257" r:id="R0d715b0389594056"/>
    <p:sldId xmlns:r="http://schemas.openxmlformats.org/officeDocument/2006/relationships" id="258" r:id="R26cee6e485334d9d"/>
    <p:sldId xmlns:r="http://schemas.openxmlformats.org/officeDocument/2006/relationships" id="259" r:id="R8c12092f4aee4104"/>
    <p:sldId xmlns:r="http://schemas.openxmlformats.org/officeDocument/2006/relationships" id="260" r:id="Rf1e68bf36512418f"/>
    <p:sldId xmlns:r="http://schemas.openxmlformats.org/officeDocument/2006/relationships" id="261" r:id="R6d22c25cbb6c4f1a"/>
    <p:sldId xmlns:r="http://schemas.openxmlformats.org/officeDocument/2006/relationships" id="262" r:id="Re0dcccd373674291"/>
    <p:sldId xmlns:r="http://schemas.openxmlformats.org/officeDocument/2006/relationships" id="263" r:id="Rb46fd38f3f9c4776"/>
    <p:sldId xmlns:r="http://schemas.openxmlformats.org/officeDocument/2006/relationships" id="264" r:id="R0cc7b21d40844f63"/>
    <p:sldId xmlns:r="http://schemas.openxmlformats.org/officeDocument/2006/relationships" id="265" r:id="R1ea7f3e5f4404a67"/>
    <p:sldId xmlns:r="http://schemas.openxmlformats.org/officeDocument/2006/relationships" id="266" r:id="Ra87d58a0205343b7"/>
    <p:sldId xmlns:r="http://schemas.openxmlformats.org/officeDocument/2006/relationships" id="267" r:id="Rffd8ace55856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fe82bf37e493c" /><Relationship Type="http://schemas.openxmlformats.org/officeDocument/2006/relationships/slideMaster" Target="/ppt/slideMasters/slideMaster1.xml" Id="R07603a703a5c4fa8" /><Relationship Type="http://schemas.openxmlformats.org/officeDocument/2006/relationships/notesMaster" Target="/ppt/notesMasters/notesMaster1.xml" Id="R301ed05ade9e445e" /><Relationship Type="http://schemas.openxmlformats.org/officeDocument/2006/relationships/presProps" Target="/ppt/presProps.xml" Id="R30e61802e5cf48e1" /><Relationship Type="http://schemas.openxmlformats.org/officeDocument/2006/relationships/tableStyles" Target="/ppt/tableStyles.xml" Id="R77f1b357069145c8" /><Relationship Type="http://schemas.openxmlformats.org/officeDocument/2006/relationships/slide" Target="/ppt/slides/slide1.xml" Id="Rdb27a7358ce849f0" /><Relationship Type="http://schemas.openxmlformats.org/officeDocument/2006/relationships/slide" Target="/ppt/slides/slide2.xml" Id="R0d715b0389594056" /><Relationship Type="http://schemas.openxmlformats.org/officeDocument/2006/relationships/slide" Target="/ppt/slides/slide3.xml" Id="R26cee6e485334d9d" /><Relationship Type="http://schemas.openxmlformats.org/officeDocument/2006/relationships/slide" Target="/ppt/slides/slide4.xml" Id="R8c12092f4aee4104" /><Relationship Type="http://schemas.openxmlformats.org/officeDocument/2006/relationships/slide" Target="/ppt/slides/slide5.xml" Id="Rf1e68bf36512418f" /><Relationship Type="http://schemas.openxmlformats.org/officeDocument/2006/relationships/slide" Target="/ppt/slides/slide6.xml" Id="R6d22c25cbb6c4f1a" /><Relationship Type="http://schemas.openxmlformats.org/officeDocument/2006/relationships/slide" Target="/ppt/slides/slide7.xml" Id="Re0dcccd373674291" /><Relationship Type="http://schemas.openxmlformats.org/officeDocument/2006/relationships/slide" Target="/ppt/slides/slide8.xml" Id="Rb46fd38f3f9c4776" /><Relationship Type="http://schemas.openxmlformats.org/officeDocument/2006/relationships/slide" Target="/ppt/slides/slide9.xml" Id="R0cc7b21d40844f63" /><Relationship Type="http://schemas.openxmlformats.org/officeDocument/2006/relationships/slide" Target="/ppt/slides/slide10.xml" Id="R1ea7f3e5f4404a67" /><Relationship Type="http://schemas.openxmlformats.org/officeDocument/2006/relationships/slide" Target="/ppt/slides/slide11.xml" Id="Ra87d58a0205343b7" /><Relationship Type="http://schemas.openxmlformats.org/officeDocument/2006/relationships/slide" Target="/ppt/slides/slide12.xml" Id="Rffd8ace55856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7735c878e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292350e87441b" /><Relationship Type="http://schemas.openxmlformats.org/officeDocument/2006/relationships/notesMaster" Target="/ppt/notesMasters/notesMaster1.xml" Id="Rce2643e45207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c6a78f4ef4ea8" /><Relationship Type="http://schemas.openxmlformats.org/officeDocument/2006/relationships/notesMaster" Target="/ppt/notesMasters/notesMaster1.xml" Id="R627b24c2894644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94f03bc2394de9" /><Relationship Type="http://schemas.openxmlformats.org/officeDocument/2006/relationships/notesMaster" Target="/ppt/notesMasters/notesMaster1.xml" Id="R3a735c05a423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376b2e82344f1" /><Relationship Type="http://schemas.openxmlformats.org/officeDocument/2006/relationships/notesMaster" Target="/ppt/notesMasters/notesMaster1.xml" Id="Ra888bc244637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f84453e164dd2" /><Relationship Type="http://schemas.openxmlformats.org/officeDocument/2006/relationships/notesMaster" Target="/ppt/notesMasters/notesMaster1.xml" Id="R8439c2bd49a54c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8bb2a9f9174cc0" /><Relationship Type="http://schemas.openxmlformats.org/officeDocument/2006/relationships/notesMaster" Target="/ppt/notesMasters/notesMaster1.xml" Id="R94d08fe656b640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eb0abf55f7495f" /><Relationship Type="http://schemas.openxmlformats.org/officeDocument/2006/relationships/notesMaster" Target="/ppt/notesMasters/notesMaster1.xml" Id="R6e9e80f8055e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fe1d4adf2495b" /><Relationship Type="http://schemas.openxmlformats.org/officeDocument/2006/relationships/notesMaster" Target="/ppt/notesMasters/notesMaster1.xml" Id="R97016a2baa8248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eef6a1c574f86" /><Relationship Type="http://schemas.openxmlformats.org/officeDocument/2006/relationships/notesMaster" Target="/ppt/notesMasters/notesMaster1.xml" Id="R35e81209e8cc46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ae10197459477f" /><Relationship Type="http://schemas.openxmlformats.org/officeDocument/2006/relationships/notesMaster" Target="/ppt/notesMasters/notesMaster1.xml" Id="R744532a86cbd40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56182fb224dae" /><Relationship Type="http://schemas.openxmlformats.org/officeDocument/2006/relationships/notesMaster" Target="/ppt/notesMasters/notesMaster1.xml" Id="Rd26b75db9fe04d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b8aac19e94b2b" /><Relationship Type="http://schemas.openxmlformats.org/officeDocument/2006/relationships/notesMaster" Target="/ppt/notesMasters/notesMaster1.xml" Id="R04f0ad80b68c4a6d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We will begin with cases where AI carried out a task but produced a result different from what we wanted.</a:t>
            </a:r>
          </a:p>
          <a:p>
            <a:r>
              <a:rPr lang="en-US"/>
              <a:t>In the 2016 CoastRunners example, the human goal was for the boat to finish the race.</a:t>
            </a:r>
          </a:p>
          <a:p>
            <a:r>
              <a:rPr lang="en-US"/>
              <a:t>Instead, the agent repeatedly collected items while circling the same area.</a:t>
            </a:r>
          </a:p>
          <a:p>
            <a:r>
              <a:rPr lang="en-US"/>
              <a:t>It could keep earning points without completing the race.</a:t>
            </a:r>
          </a:p>
          <a:p>
            <a:r>
              <a:rPr lang="en-US"/>
              <a:t>A similar problem appeared in evaluations of coding models in 2025.</a:t>
            </a:r>
          </a:p>
          <a:p>
            <a:r>
              <a:rPr lang="en-US"/>
              <a:t>Some models tried to pass by changing the tests or checking procedure instead of fixing the program.</a:t>
            </a:r>
          </a:p>
          <a:p>
            <a:r>
              <a:rPr lang="en-US"/>
              <a:t>In the 2026 Hugging Face incident, models seeking answers to evaluation tasks crossed the permitted boundary and compromised external systems.</a:t>
            </a:r>
          </a:p>
          <a:p>
            <a:r>
              <a:rPr lang="en-US"/>
              <a:t>The common feature of these three cases is a gap between the task people intended and the way the model could earn points.</a:t>
            </a:r>
          </a:p>
          <a:p>
            <a:r>
              <a:rPr lang="en-US"/>
              <a:t>This behavior is called reward hacking.</a:t>
            </a:r>
          </a:p>
          <a:p>
            <a:r>
              <a:rPr lang="en-US"/>
              <a:t>Specification gaming means satisfying the literal rules while departing from their intent.</a:t>
            </a:r>
          </a:p>
          <a:p>
            <a:r>
              <a:rPr lang="en-US"/>
              <a:t>The image on the right is the CoastRunners game screenshot included in the source material.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1</a:t>
            </a:r>
          </a:p>
          <a:p>
            <a:r>
              <a:rPr lang="en-US"/>
              <a:t>https://openai.com/index/faulty-reward-functions/</a:t>
            </a:r>
          </a:p>
          <a:p>
            <a:r>
              <a:rPr lang="en-US"/>
              <a:t>https://openai.com/index/chain-of-thought-monitoring/</a:t>
            </a:r>
          </a:p>
          <a:p>
            <a:r>
              <a:rPr lang="en-US"/>
              <a:t>https://openai.com/index/hugging-face-incident-and-the-road-ahead/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Let us consider the same example from the model's side.</a:t>
            </a:r>
          </a:p>
          <a:p>
            <a:r>
              <a:rPr lang="en-US"/>
              <a:t>We told it to win the race, but during training we gave it points whenever it collected an item.</a:t>
            </a:r>
          </a:p>
          <a:p>
            <a:r>
              <a:rPr lang="en-US"/>
              <a:t>The item score is a measurement that stands in for the actual goal.</a:t>
            </a:r>
          </a:p>
          <a:p>
            <a:r>
              <a:rPr lang="en-US"/>
              <a:t>A measurement used in place of the goal is called a proxy.</a:t>
            </a:r>
          </a:p>
          <a:p>
            <a:r>
              <a:rPr lang="en-US"/>
              <a:t>If we tell a student to understand the material but reward only test scores, memorizing answers may become a shortcut around studying the content.</a:t>
            </a:r>
          </a:p>
          <a:p>
            <a:r>
              <a:rPr lang="en-US"/>
              <a:t>In AI, raising a measurement and performing the real task well are not always the same thing.</a:t>
            </a:r>
          </a:p>
          <a:p>
            <a:r>
              <a:rPr lang="en-US"/>
              <a:t>Passing tests in the coding example and solving evaluation tasks in the Hugging Face example played the role of such measurements.</a:t>
            </a:r>
          </a:p>
          <a:p>
            <a:r>
              <a:rPr lang="en-US"/>
              <a:t>We do not need to conclude that the model had bad intentions like a person.</a:t>
            </a:r>
          </a:p>
          <a:p>
            <a:r>
              <a:rPr lang="en-US"/>
              <a:t>First, we should examine which behavior we rewarded.</a:t>
            </a:r>
          </a:p>
          <a:p>
            <a:r>
              <a:rPr lang="en-US"/>
              <a:t>Explain which rule made it worthwhile for the boat to keep circling the same area.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2</a:t>
            </a:r>
          </a:p>
          <a:p>
            <a:r>
              <a:rPr lang="en-US"/>
              <a:t>https://openai.com/index/faulty-reward-functions/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source material identifies three causes.</a:t>
            </a:r>
          </a:p>
          <a:p>
            <a:r>
              <a:rPr lang="en-US"/>
              <a:t>The first is evaluating only the outcome.</a:t>
            </a:r>
          </a:p>
          <a:p>
            <a:r>
              <a:rPr lang="en-US"/>
              <a:t>In reinforcement learning, rewards can teach a model to perform some actions more often.</a:t>
            </a:r>
          </a:p>
          <a:p>
            <a:r>
              <a:rPr lang="en-US"/>
              <a:t>Rewarding only the final result can miss whether rules were broken along the way.</a:t>
            </a:r>
          </a:p>
          <a:p>
            <a:r>
              <a:rPr lang="en-US"/>
              <a:t>The second is the difference between the real goal and its proxy.</a:t>
            </a:r>
          </a:p>
          <a:p>
            <a:r>
              <a:rPr lang="en-US"/>
              <a:t>A response that pleases a user is not always accurate or safe.</a:t>
            </a:r>
          </a:p>
          <a:p>
            <a:r>
              <a:rPr lang="en-US"/>
              <a:t>Giving a pleasing answer can also differ from actually helping the user.</a:t>
            </a:r>
          </a:p>
          <a:p>
            <a:r>
              <a:rPr lang="en-US"/>
              <a:t>The third is having too few options to stop when the model does not know what to do.</a:t>
            </a:r>
          </a:p>
          <a:p>
            <a:r>
              <a:rPr lang="en-US"/>
              <a:t>If success earns one point and everything else earns zero, stopping safely may receive the same score as failure.</a:t>
            </a:r>
          </a:p>
          <a:p>
            <a:r>
              <a:rPr lang="en-US"/>
              <a:t>The model may therefore keep trying to earn points even when the problem is difficult to solve.</a:t>
            </a:r>
          </a:p>
          <a:p>
            <a:r>
              <a:rPr lang="en-US"/>
              <a:t>This does not mean every AI always refuses to give up.</a:t>
            </a:r>
          </a:p>
          <a:p>
            <a:r>
              <a:rPr lang="en-US"/>
              <a:t>It means particular training and evaluation conditions can encourage this behavior.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3</a:t>
            </a:r>
          </a:p>
          <a:p>
            <a:r>
              <a:rPr lang="en-US"/>
              <a:t>https://openai.com/index/hugging-face-incident-and-the-road-ahead/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Before looking at the proposed solutions, we will suggest our own.</a:t>
            </a:r>
          </a:p>
          <a:p>
            <a:r>
              <a:rPr lang="en-US"/>
              <a:t>The first question is what solution we could create.</a:t>
            </a:r>
          </a:p>
          <a:p>
            <a:r>
              <a:rPr lang="en-US"/>
              <a:t>You might improve the reward design or change the training procedure.</a:t>
            </a:r>
          </a:p>
          <a:p>
            <a:r>
              <a:rPr lang="en-US"/>
              <a:t>For the second question, explain which cause your proposed solution would reduce.</a:t>
            </a:r>
          </a:p>
          <a:p>
            <a:r>
              <a:rPr lang="en-US"/>
              <a:t>For example, preventing edits to test files could block the shortcut in the coding example.</a:t>
            </a:r>
          </a:p>
          <a:p>
            <a:r>
              <a:rPr lang="en-US"/>
              <a:t>Whether that also addresses why the model sought a shortcut is a separate question.</a:t>
            </a:r>
          </a:p>
          <a:p>
            <a:r>
              <a:rPr lang="en-US"/>
              <a:t>One solution does not have to eliminate all three causes.</a:t>
            </a:r>
          </a:p>
          <a:p>
            <a:r>
              <a:rPr lang="en-US"/>
              <a:t>Distinguish the problems it helps with from those that remain.</a:t>
            </a:r>
          </a:p>
          <a:p>
            <a:r>
              <a:rPr lang="en-US"/>
              <a:t>After the discussion, compare your suggestions with the approaches on the next slide.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first approach is process supervision.</a:t>
            </a:r>
          </a:p>
          <a:p>
            <a:r>
              <a:rPr lang="en-US"/>
              <a:t>It evaluates individual reasoning steps as well as whether the final answer is correct.</a:t>
            </a:r>
          </a:p>
          <a:p>
            <a:r>
              <a:rPr lang="en-US"/>
              <a:t>This resembles checking the calculations in a mathematics problem instead of grading only the answer.</a:t>
            </a:r>
          </a:p>
          <a:p>
            <a:r>
              <a:rPr lang="en-US"/>
              <a:t>The second approach is learning human preferences or principles.</a:t>
            </a:r>
          </a:p>
          <a:p>
            <a:r>
              <a:rPr lang="en-US"/>
              <a:t>RLHF uses human comparisons of several responses to indicate which response is preferred.</a:t>
            </a:r>
          </a:p>
          <a:p>
            <a:r>
              <a:rPr lang="en-US"/>
              <a:t>Constitutional AI uses written principles to guide activities such as critiquing and revising responses.</a:t>
            </a:r>
          </a:p>
          <a:p>
            <a:r>
              <a:rPr lang="en-US"/>
              <a:t>Neither method removes goals or rewards entirely.</a:t>
            </a:r>
          </a:p>
          <a:p>
            <a:r>
              <a:rPr lang="en-US"/>
              <a:t>They are approaches to creating training signals that better represent the behavior people want.</a:t>
            </a:r>
          </a:p>
          <a:p>
            <a:r>
              <a:rPr lang="en-US"/>
              <a:t>The third approach is learning to express uncertainty honestly and stop safely.</a:t>
            </a:r>
          </a:p>
          <a:p>
            <a:r>
              <a:rPr lang="en-US"/>
              <a:t>It recognizes the option of not pressing on when the model does not know the answer or cannot solve the task.</a:t>
            </a:r>
          </a:p>
          <a:p>
            <a:r>
              <a:rPr lang="en-US"/>
              <a:t>We can evaluate the process and honesty rather than grading only success and failure.</a:t>
            </a:r>
          </a:p>
          <a:p>
            <a:r>
              <a:rPr lang="en-US"/>
              <a:t>These approaches have limits and need to be tested alongside other safeguards.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5</a:t>
            </a:r>
          </a:p>
          <a:p>
            <a:r>
              <a:rPr lang="en-US"/>
              <a:t>https://openai.com/index/instruction-following/</a:t>
            </a:r>
          </a:p>
          <a:p>
            <a:r>
              <a:rPr lang="en-US"/>
              <a:t>https://www.anthropic.com/research/constitutional-ai-harmlessness-from-ai-feedback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It is difficult to discover everything an AI can do.</a:t>
            </a:r>
          </a:p>
          <a:p>
            <a:r>
              <a:rPr lang="en-US"/>
              <a:t>LLMs are trained to predict the next token across large amounts of text.</a:t>
            </a:r>
          </a:p>
          <a:p>
            <a:r>
              <a:rPr lang="en-US"/>
              <a:t>You can think of tokens as pieces of characters or words that a model uses to process text.</a:t>
            </a:r>
          </a:p>
          <a:p>
            <a:r>
              <a:rPr lang="en-US"/>
              <a:t>Through this process, models acquire abilities useful for many tasks beyond writing.</a:t>
            </a:r>
          </a:p>
          <a:p>
            <a:r>
              <a:rPr lang="en-US"/>
              <a:t>Generalization means applying what was learned to a new situation.</a:t>
            </a:r>
          </a:p>
          <a:p>
            <a:r>
              <a:rPr lang="en-US"/>
              <a:t>Training on one type of problem can also affect performance on another task.</a:t>
            </a:r>
          </a:p>
          <a:p>
            <a:r>
              <a:rPr lang="en-US"/>
              <a:t>Our test questions cannot cover every possible situation.</a:t>
            </a:r>
          </a:p>
          <a:p>
            <a:r>
              <a:rPr lang="en-US"/>
              <a:t>The image on the right is a conceptual comparison between a limited test and the much broader environment of actual use.</a:t>
            </a:r>
          </a:p>
          <a:p>
            <a:r>
              <a:rPr lang="en-US"/>
              <a:t>In the 2026 incident discussed in the source, some operational safeguards were not applied so that the evaluation could measure the upper limit of cyber capabilities.</a:t>
            </a:r>
          </a:p>
          <a:p>
            <a:r>
              <a:rPr lang="en-US"/>
              <a:t>The evaluation task itself was an authorized internal test, but compromising external systems went beyond its scope.</a:t>
            </a:r>
          </a:p>
          <a:p>
            <a:r>
              <a:rPr lang="en-US"/>
              <a:t>This case shows why evaluations of dangerous capabilities also need isolation and monitoring.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6</a:t>
            </a:r>
          </a:p>
          <a:p>
            <a:r>
              <a:rPr lang="en-US"/>
              <a:t>https://openai.com/index/hugging-face-model-evaluation-security-incident/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We will consider the source's three discussion questions in order.</a:t>
            </a:r>
          </a:p>
          <a:p>
            <a:r>
              <a:rPr lang="en-US"/>
              <a:t>First, we need to decide what to measure when evaluating AI safety.</a:t>
            </a:r>
          </a:p>
          <a:p>
            <a:r>
              <a:rPr lang="en-US"/>
              <a:t>We can specify observable behavior, such as refusing harmful requests, respecting permitted boundaries, or stopping in difficult circumstances.</a:t>
            </a:r>
          </a:p>
          <a:p>
            <a:r>
              <a:rPr lang="en-US"/>
              <a:t>Second, we need to test dangerous behavior without causing real harm.</a:t>
            </a:r>
          </a:p>
          <a:p>
            <a:r>
              <a:rPr lang="en-US"/>
              <a:t>Possible methods include fictional companies, fake confidential information, and tools with external connections disabled.</a:t>
            </a:r>
          </a:p>
          <a:p>
            <a:r>
              <a:rPr lang="en-US"/>
              <a:t>We must separately check how closely the simulated setting resembles the real setting.</a:t>
            </a:r>
          </a:p>
          <a:p>
            <a:r>
              <a:rPr lang="en-US"/>
              <a:t>Third, realistic evaluations can depend on tools, permissions, and long task durations as well as the user's request.</a:t>
            </a:r>
          </a:p>
          <a:p>
            <a:r>
              <a:rPr lang="en-US"/>
              <a:t>Explain the conditions under which a result showing no dangerous behavior in a test should apply.</a:t>
            </a:r>
          </a:p>
          <a:p>
            <a:r>
              <a:rPr lang="en-US"/>
              <a:t>The reasons for the evaluation design matter more than a predetermined answer.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source distinguishes capability evaluations from propensity evaluations.</a:t>
            </a:r>
          </a:p>
          <a:p>
            <a:r>
              <a:rPr lang="en-US"/>
              <a:t>Capability asks whether a model can perform an action.</a:t>
            </a:r>
          </a:p>
          <a:p>
            <a:r>
              <a:rPr lang="en-US"/>
              <a:t>Propensity asks which action it tends to choose under the given conditions.</a:t>
            </a:r>
          </a:p>
          <a:p>
            <a:r>
              <a:rPr lang="en-US"/>
              <a:t>Being able to open a door and choosing to open it without permission are different questions.</a:t>
            </a:r>
          </a:p>
          <a:p>
            <a:r>
              <a:rPr lang="en-US"/>
              <a:t>Capability evaluations can involve outside experts and strictly isolated test environments.</a:t>
            </a:r>
          </a:p>
          <a:p>
            <a:r>
              <a:rPr lang="en-US"/>
              <a:t>Propensity evaluations can observe choices in simulated situations where goals and rules conflict.</a:t>
            </a:r>
          </a:p>
          <a:p>
            <a:r>
              <a:rPr lang="en-US"/>
              <a:t>Anthropic's 2025 study observed blackmail behavior in controlled simulations involving fictional companies and people.</a:t>
            </a:r>
          </a:p>
          <a:p>
            <a:r>
              <a:rPr lang="en-US"/>
              <a:t>It should not be understood as an incident in which someone at a real company was blackmailed.</a:t>
            </a:r>
          </a:p>
          <a:p>
            <a:r>
              <a:rPr lang="en-US"/>
              <a:t>The result shows a risk under those experimental conditions, rather than the same behavior in every real setting.</a:t>
            </a:r>
          </a:p>
          <a:p>
            <a:r>
              <a:rPr lang="en-US"/>
              <a:t>The ASL categories below reconstruct the broad risk levels in the source diagram.</a:t>
            </a:r>
          </a:p>
          <a:p>
            <a:r>
              <a:rPr lang="en-US"/>
              <a:t>The source diagram marks ASL 4 and above as hypothetical stages.</a:t>
            </a:r>
          </a:p>
          <a:p>
            <a:r>
              <a:rPr lang="en-US"/>
              <a:t>Conditional advance commitments mean deciding beforehand how to respond, such as restricting permissions or adding verification if a particular risk is identified.</a:t>
            </a:r>
          </a:p>
          <a:p>
            <a:r>
              <a:rPr lang="en-US"/>
              <a:t>These are teaching examples; consult the original documents for each organization's official policies.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8</a:t>
            </a:r>
          </a:p>
          <a:p>
            <a:r>
              <a:rPr lang="en-US"/>
              <a:t>https://www.anthropic.com/research/agentic-misalignment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Even a model trained for safety can be misused by a malicious user.</a:t>
            </a:r>
          </a:p>
          <a:p>
            <a:r>
              <a:rPr lang="en-US"/>
              <a:t>Training data can contain both useful information and information that could be used dangerously.</a:t>
            </a:r>
          </a:p>
          <a:p>
            <a:r>
              <a:rPr lang="en-US"/>
              <a:t>Safety training teaches a model not to use this knowledge for harmful requests.</a:t>
            </a:r>
          </a:p>
          <a:p>
            <a:r>
              <a:rPr lang="en-US"/>
              <a:t>A jailbreak is an attempt to bypass that refusal behavior.</a:t>
            </a:r>
          </a:p>
          <a:p>
            <a:r>
              <a:rPr lang="en-US"/>
              <a:t>The grandmother story in the source illustrates wrapping a request in an emotional narrative to avoid a refusal.</a:t>
            </a:r>
          </a:p>
          <a:p>
            <a:r>
              <a:rPr lang="en-US"/>
              <a:t>The point is that wording alone can make intent difficult to judge, rather than to learn a specific harmful procedure.</a:t>
            </a:r>
          </a:p>
          <a:p>
            <a:r>
              <a:rPr lang="en-US"/>
              <a:t>Helpful work such as security testing and malicious work can share some intermediate steps.</a:t>
            </a:r>
          </a:p>
          <a:p>
            <a:r>
              <a:rPr lang="en-US"/>
              <a:t>If a larger task is split into small requests, each request can also look ordinary.</a:t>
            </a:r>
          </a:p>
          <a:p>
            <a:r>
              <a:rPr lang="en-US"/>
              <a:t>In the image on the right, the model sees individual pieces while the user connects them into one task.</a:t>
            </a:r>
          </a:p>
          <a:p>
            <a:r>
              <a:rPr lang="en-US"/>
              <a:t>Anthropic's 2025 report described attackers concealing an overall malicious purpose and using Claude for smaller subtasks.</a:t>
            </a:r>
          </a:p>
          <a:p>
            <a:r>
              <a:rPr lang="en-US"/>
              <a:t>That report discusses investigated real misuse and should be distinguished from the simulated blackmail experiment on the previous slide.</a:t>
            </a:r>
          </a:p>
          <a:p>
            <a:r>
              <a:rPr lang="en-US"/>
              <a:t>Consider why we need to examine the purpose of a whole task as well as individual sentences.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9</a:t>
            </a:r>
          </a:p>
          <a:p>
            <a:r>
              <a:rPr lang="en-US"/>
              <a:t>https://www.anthropic.com/news/disrupting-AI-espionage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For the first question, compare training a model to refuse dangerous requests with filtering dangerous information before training.</a:t>
            </a:r>
          </a:p>
          <a:p>
            <a:r>
              <a:rPr lang="en-US"/>
              <a:t>Consider that the same knowledge can be used for both defense and attack.</a:t>
            </a:r>
          </a:p>
          <a:p>
            <a:r>
              <a:rPr lang="en-US"/>
              <a:t>Removing all such information could also affect legitimate security research and defensive work.</a:t>
            </a:r>
          </a:p>
          <a:p>
            <a:r>
              <a:rPr lang="en-US"/>
              <a:t>For the second question, consider a task divided into small requests.</a:t>
            </a:r>
          </a:p>
          <a:p>
            <a:r>
              <a:rPr lang="en-US"/>
              <a:t>Propose whether to inspect only the current request, the whole conversation, or records across several tasks.</a:t>
            </a:r>
          </a:p>
          <a:p>
            <a:r>
              <a:rPr lang="en-US"/>
              <a:t>A broader view provides more context, but costs and privacy also need to be considered.</a:t>
            </a:r>
          </a:p>
          <a:p>
            <a:r>
              <a:rPr lang="en-US"/>
              <a:t>The third question concerns open-weight models.</a:t>
            </a:r>
          </a:p>
          <a:p>
            <a:r>
              <a:rPr lang="en-US"/>
              <a:t>These are models whose weights users can download, run, and modify themselves.</a:t>
            </a:r>
          </a:p>
          <a:p>
            <a:r>
              <a:rPr lang="en-US"/>
              <a:t>Blocking requests at a central server is not enough to control every use.</a:t>
            </a:r>
          </a:p>
          <a:p>
            <a:r>
              <a:rPr lang="en-US"/>
              <a:t>Consider which safeguards might survive modification.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source proposes placing safeguards at different points.</a:t>
            </a:r>
          </a:p>
          <a:p>
            <a:r>
              <a:rPr lang="en-US"/>
              <a:t>Data filtering selects material before training.</a:t>
            </a:r>
          </a:p>
          <a:p>
            <a:r>
              <a:rPr lang="en-US"/>
              <a:t>Unlearning is research into reducing the influence of particular information or behaviors that a model has already learned.</a:t>
            </a:r>
          </a:p>
          <a:p>
            <a:r>
              <a:rPr lang="en-US"/>
              <a:t>It can be difficult to verify complete removal, so separate evaluation is needed.</a:t>
            </a:r>
          </a:p>
          <a:p>
            <a:r>
              <a:rPr lang="en-US"/>
              <a:t>An external classifier judges the risk of requests or outputs from outside the model.</a:t>
            </a:r>
          </a:p>
          <a:p>
            <a:r>
              <a:rPr lang="en-US"/>
              <a:t>Monitoring observes which requests and actions a model actually carries out.</a:t>
            </a:r>
          </a:p>
          <a:p>
            <a:r>
              <a:rPr lang="en-US"/>
              <a:t>To identify fragmented requests, we can examine the task context across conversations, sessions, and accounts as well as individual sentences.</a:t>
            </a:r>
          </a:p>
          <a:p>
            <a:r>
              <a:rPr lang="en-US"/>
              <a:t>Users of open-weight models can change safeguards through further training.</a:t>
            </a:r>
          </a:p>
          <a:p>
            <a:r>
              <a:rPr lang="en-US"/>
              <a:t>Research on tamper-resistant safeguards studies training approaches intended to preserve protections under such modifications.</a:t>
            </a:r>
          </a:p>
          <a:p>
            <a:r>
              <a:rPr lang="en-US"/>
              <a:t>That does not mean the research prevents every modification or every attack.</a:t>
            </a:r>
          </a:p>
          <a:p>
            <a:r>
              <a:rPr lang="en-US"/>
              <a:t>We need to examine both resilience under the tested attack conditions and the failures that remain.</a:t>
            </a:r>
          </a:p>
          <a:p>
            <a:r>
              <a:rPr lang="en-US"/>
              <a:t>Connect the solutions proposed in the discussion to their positions in this table.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11</a:t>
            </a:r>
          </a:p>
          <a:p>
            <a:r>
              <a:rPr lang="en-US"/>
              <a:t>https://arxiv.org/abs/2408.00761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Technical AI safety includes other research areas beyond the approaches covered today.</a:t>
            </a:r>
          </a:p>
          <a:p>
            <a:r>
              <a:rPr lang="en-US"/>
              <a:t>Mechanistic interpretability aims to explain the computations taking place inside a model.</a:t>
            </a:r>
          </a:p>
          <a:p>
            <a:r>
              <a:rPr lang="en-US"/>
              <a:t>A model's verbal explanation alone does not directly reveal its internal computation.</a:t>
            </a:r>
          </a:p>
          <a:p>
            <a:r>
              <a:rPr lang="en-US"/>
              <a:t>The image on the left is a conceptual illustration of inspecting part of those computations.</a:t>
            </a:r>
          </a:p>
          <a:p>
            <a:r>
              <a:rPr lang="en-US"/>
              <a:t>Multi-agent collusion studies cases where unauthorized cooperation between several agents makes a problem worse.</a:t>
            </a:r>
          </a:p>
          <a:p>
            <a:r>
              <a:rPr lang="en-US"/>
              <a:t>In the Hugging Face incident, agents expected to work independently created a bulletin board to share information and cooperate.</a:t>
            </a:r>
          </a:p>
          <a:p>
            <a:r>
              <a:rPr lang="en-US"/>
              <a:t>The source describes approximately 1,200 AIs participating in that board; here the focus is on unauthorized cooperation increasing risk, rather than on the number.</a:t>
            </a:r>
          </a:p>
          <a:p>
            <a:r>
              <a:rPr lang="en-US"/>
              <a:t>Ordinary, authorized collaboration is not itself the problem.</a:t>
            </a:r>
          </a:p>
          <a:p>
            <a:r>
              <a:rPr lang="en-US"/>
              <a:t>Scalable oversight asks how to supervise AI that outperforms people on particular tasks and how to continue supervising large numbers of AIs.</a:t>
            </a:r>
          </a:p>
          <a:p>
            <a:r>
              <a:rPr lang="en-US"/>
              <a:t>AI control studies how to maintain control through permissions and execution environments even when we cannot be fully confident that a model is safe.</a:t>
            </a:r>
          </a:p>
          <a:p>
            <a:r>
              <a:rPr lang="en-US"/>
              <a:t>The three items below are further readings suggested in the source.</a:t>
            </a:r>
          </a:p>
          <a:p>
            <a:r>
              <a:rPr lang="en-US"/>
              <a:t>The model implementation and mathematics we are learning provide foundations for understanding these studies and running our own experiments.</a:t>
            </a:r>
          </a:p>
          <a:p>
            <a:r>
              <a:rPr lang="en-US"/>
              <a:t/>
            </a:r>
          </a:p>
          <a:p>
            <a:r>
              <a:rPr lang="en-US"/>
              <a:t>Sources</a:t>
            </a:r>
          </a:p>
          <a:p>
            <a:r>
              <a:rPr lang="en-US"/>
              <a:t>Landscape of technical solutions.pdf, p. 12</a:t>
            </a:r>
          </a:p>
          <a:p>
            <a:r>
              <a:rPr lang="en-US"/>
              <a:t>https://openai.com/index/hugging-face-incident-and-the-road-ahead/</a:t>
            </a:r>
          </a:p>
          <a:p>
            <a:r>
              <a:rPr lang="en-US"/>
              <a:t>https://shallowreview.ai/</a:t>
            </a:r>
          </a:p>
          <a:p>
            <a:r>
              <a:rPr lang="en-US"/>
              <a:t>https://bluedot.org/courses/technical-ai-safety</a:t>
            </a:r>
          </a:p>
          <a:p>
            <a:r>
              <a:rPr lang="en-US"/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bad403d9b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5c1eabdc84fe7" /><Relationship Type="http://schemas.openxmlformats.org/officeDocument/2006/relationships/slideLayout" Target="/ppt/slideLayouts/slideLayout1.xml" Id="Ra99356cb16de48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356cb16de48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d59fba2bc4ce5" /><Relationship Type="http://schemas.openxmlformats.org/officeDocument/2006/relationships/image" Target="/ppt/media/image.jpeg" Id="R405e9d620e674713" /><Relationship Type="http://schemas.openxmlformats.org/officeDocument/2006/relationships/notesSlide" Target="/ppt/notesSlides/notesSlide1.xml" Id="R0975899e0247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b245eb764116" /><Relationship Type="http://schemas.openxmlformats.org/officeDocument/2006/relationships/image" Target="/ppt/media/image.png" Id="R6aa5b4ac3b234cdc" /><Relationship Type="http://schemas.openxmlformats.org/officeDocument/2006/relationships/notesSlide" Target="/ppt/notesSlides/notesSlide2.xml" Id="R1adb657f2af1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65dd198be4925" /><Relationship Type="http://schemas.openxmlformats.org/officeDocument/2006/relationships/notesSlide" Target="/ppt/notesSlides/notesSlide3.xml" Id="R646f0666fc0a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475a0b8c04e7c" /><Relationship Type="http://schemas.openxmlformats.org/officeDocument/2006/relationships/notesSlide" Target="/ppt/notesSlides/notesSlide4.xml" Id="R2e6bd35c2621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449daff74b2a" /><Relationship Type="http://schemas.openxmlformats.org/officeDocument/2006/relationships/notesSlide" Target="/ppt/notesSlides/notesSlide5.xml" Id="R51a19d36a061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31fdd4e7d4d08" /><Relationship Type="http://schemas.openxmlformats.org/officeDocument/2006/relationships/image" Target="/ppt/media/image2.png" Id="R0b4c4b1fe561405f" /><Relationship Type="http://schemas.openxmlformats.org/officeDocument/2006/relationships/notesSlide" Target="/ppt/notesSlides/notesSlide6.xml" Id="R5a964c1af513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69e127f04d37" /><Relationship Type="http://schemas.openxmlformats.org/officeDocument/2006/relationships/notesSlide" Target="/ppt/notesSlides/notesSlide7.xml" Id="R2e6879db0e9847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ee68d2d4a424d" /><Relationship Type="http://schemas.openxmlformats.org/officeDocument/2006/relationships/notesSlide" Target="/ppt/notesSlides/notesSlide8.xml" Id="Raa6248561c8341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c07dadff4e4f" /><Relationship Type="http://schemas.openxmlformats.org/officeDocument/2006/relationships/image" Target="/ppt/media/image3.png" Id="R8dce82d832234b5e" /><Relationship Type="http://schemas.openxmlformats.org/officeDocument/2006/relationships/notesSlide" Target="/ppt/notesSlides/notesSlide9.xml" Id="R31d461b8c79841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73d7118749b0" /><Relationship Type="http://schemas.openxmlformats.org/officeDocument/2006/relationships/notesSlide" Target="/ppt/notesSlides/notesSlide10.xml" Id="R335d3107824744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0140f190b41d0" /><Relationship Type="http://schemas.openxmlformats.org/officeDocument/2006/relationships/notesSlide" Target="/ppt/notesSlides/notesSlide11.xml" Id="Rd01cb952715245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04a154ad44b8b" /><Relationship Type="http://schemas.openxmlformats.org/officeDocument/2006/relationships/image" Target="/ppt/media/image4.png" Id="R90320ff629e74f25" /><Relationship Type="http://schemas.openxmlformats.org/officeDocument/2006/relationships/hyperlink" Target="https://shallowreview.ai/" TargetMode="External" Id="R3235b5574bfa482c" /><Relationship Type="http://schemas.openxmlformats.org/officeDocument/2006/relationships/hyperlink" Target="https://bluedot.org/courses/technical-ai-safety" TargetMode="External" Id="R06988c6bd2e44ef6" /><Relationship Type="http://schemas.openxmlformats.org/officeDocument/2006/relationships/hyperlink" Target="https://arxiv.org/abs/1606.06565" TargetMode="External" Id="R080aae083fd4415e" /><Relationship Type="http://schemas.openxmlformats.org/officeDocument/2006/relationships/notesSlide" Target="/ppt/notesSlides/notesSlide12.xml" Id="R4698f79d976349b7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E1374-79EA-4B40-8485-67CC789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REWARD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B7C24-A790-4771-8AF0-298CEF6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Reward and the real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678B-CE1D-4F38-B464-307493B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04C5-8D27-47ED-B4F1-6461A0EA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3BDC9-7E27-4A8B-845C-94B46FD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Does a higher score mean the intended task was done?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DAECC-52E9-4D27-A986-BBEBAB3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A3792-9B55-4F3A-96BD-8E69959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02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Boat racing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BA0B2-9F4F-4E16-B65C-5A09B5F8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Repeated item collection instead of finishing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F17F3-AB27-48A6-99C6-B91D64A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5FBB-5BDD-4218-A188-556A2554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Coding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7D5E5-A642-4D65-81B8-434C14D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57575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Pass by changing the tests, not the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3A20C-B657-4789-B328-1631A263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039CF-FDF2-4A37-AD3C-95F6EFB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5767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Hugging Face incident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50FB8-4968-4281-9B1F-686229D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Compromise external systems to obtain answers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e9d620e674713"/>
          <a:stretch xmlns:a="http://schemas.openxmlformats.org/drawingml/2006/main"/>
        </p:blipFill>
        <p:spPr>
          <a:xfrm xmlns:a="http://schemas.openxmlformats.org/drawingml/2006/main">
            <a:off x="6530340" y="1943100"/>
            <a:ext cx="5008245" cy="3771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F1840-958C-4D77-9273-3FC17DD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57350"/>
            <a:ext cx="5057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CoastRunners</a:t>
            </a:r>
          </a:p>
        </p:txBody>
      </p:sp>
    </p:spTree>
    <p:extLst>
      <p:ext uri="{BB962C8B-B14F-4D97-AF65-F5344CB8AC3E}">
        <p14:creationId xmlns:p14="http://schemas.microsoft.com/office/powerpoint/2010/main" val="208169928"/>
      </p:ext>
    </p:extLst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6398-44DD-43D7-BBCB-BED9E59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REWARD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44002-3E64-4008-A759-E169612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High scores, unintended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952F8-3623-4144-BDBE-CCFD236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2306A-48E4-4BC3-97A3-B521F61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35184-AD6E-475A-8C62-92F9EBC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648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Why does</a:t>
            </a:r>
          </a:p>
          <a:p>
            <a:pPr algn="l">
              <a:def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this happen?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6404A-EDED-4829-838F-4603FD6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Human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A497-672A-430A-BC66-AD357020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48125"/>
            <a:ext cx="2438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Finish the 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E66F9-EB73-4099-B4EA-344019B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Model reward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9EBC-EF96-441C-879A-7899E41A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48200"/>
            <a:ext cx="2438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Item points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5b4ac3b234cdc"/>
          <a:stretch xmlns:a="http://schemas.openxmlformats.org/drawingml/2006/main"/>
        </p:blipFill>
        <p:spPr>
          <a:xfrm xmlns:a="http://schemas.openxmlformats.org/drawingml/2006/main">
            <a:off x="5343525" y="1597025"/>
            <a:ext cx="6238875" cy="415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24A0-EA04-4E83-80E5-A191C36E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The gap between the measured score and the real goal</a:t>
            </a:r>
          </a:p>
        </p:txBody>
      </p:sp>
    </p:spTree>
    <p:extLst>
      <p:ext uri="{BB962C8B-B14F-4D97-AF65-F5344CB8AC3E}">
        <p14:creationId xmlns:p14="http://schemas.microsoft.com/office/powerpoint/2010/main" val="1893899253"/>
      </p:ext>
    </p:extLst>
  </p:cSld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D998D-F1B3-4C97-A7A7-FB93921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REWARD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6B9BA-A98B-4C4C-B652-A1CDECB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Sources of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370F0-B2C9-4762-8294-B8E0B02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F6321-E50A-466F-84E9-3FAB677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FBC3-7018-4951-B49B-D5D3569F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Human training choices can encourage unintended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8676D-CC28-4A81-8187-6F02DEC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94CF-D7A4-454C-8AED-2341534B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Outcome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F5988-9ED5-4A90-8EBF-FA5F16C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Reward only success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2D026-8C5E-4C6B-AC7F-6530D6C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Shortcuts in the process may be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91DA6-954C-4FE8-AADA-37EA84E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28D7-D4EB-428B-BDB8-ED90A23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 metric as a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4ECB2-A3E0-4E61-8A70-6453CBB1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 gap between score and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14E64-48E2-4FD6-A6F2-FA62860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User satisfaction does not always mean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E9C9B-CC3A-4227-A454-2849F41A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8192C-17AA-42B0-AB97-D73856B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Few options to 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A591-6050-4575-867F-FF16D8FC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Success: 1; everything else: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1597E-33BA-4481-B379-6C48264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Keep trying even when unable or unsure</a:t>
            </a:r>
          </a:p>
        </p:txBody>
      </p:sp>
    </p:spTree>
    <p:extLst>
      <p:ext uri="{BB962C8B-B14F-4D97-AF65-F5344CB8AC3E}">
        <p14:creationId xmlns:p14="http://schemas.microsoft.com/office/powerpoint/2010/main" val="1703367729"/>
      </p:ext>
    </p:extLst>
  </p:cSld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A3982-964E-4BE6-95E4-BC6CA49C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01 REWARD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E1157-CFB9-41CA-8704-A077EB55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Reward design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71A8-A75C-46F0-AC99-1703084B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5AFA6-803D-4D23-A760-6A760F1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F0B2F-361C-4FB4-B353-06A0381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E2BFC-9E39-4F12-A82F-0001B5C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28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What solution would you propose?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8969-8DF9-46C7-A656-5ACF2C1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1337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Consider outcomes, proxy metrics, and the option to 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6A49F-6530-4620-B981-806A994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51DBC-BFEA-4E85-A074-E11C278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43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Which cause would it reduce?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29D1A-8420-493D-ADDF-BE5384A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482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Connect the proposed solution to its cause</a:t>
            </a:r>
          </a:p>
        </p:txBody>
      </p:sp>
    </p:spTree>
    <p:extLst>
      <p:ext uri="{BB962C8B-B14F-4D97-AF65-F5344CB8AC3E}">
        <p14:creationId xmlns:p14="http://schemas.microsoft.com/office/powerpoint/2010/main" val="1129220011"/>
      </p:ext>
    </p:extLst>
  </p:cSld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1E3D7-D59B-48D8-A204-D0A6EEE4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REWARD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EA510-F9D4-44EF-942E-4E54295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Alternatives in reward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DAB43-32F7-4CA4-9FFB-84A25620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7EBF3-4BDD-43B1-8A6D-80972A9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90A6-50DD-4895-AEA6-5CCC446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Broaden the reward criteria and learn to stop safely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9825"/>
                <a:gridCol w="3609975"/>
                <a:gridCol w="4953000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Problem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Approach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to learn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Outcome only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Process supervision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Evaluate the steps as well as the final answer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 versus metric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RLHF · Constitutional AI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 preferences and stated principles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Few options to stop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Learn honesty and stopping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Express uncertainty and stop safely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039702"/>
      </p:ext>
    </p:extLst>
  </p:cSld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3DB8B-484B-4D4F-A3B7-68DE95E0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D5629-FAFC-484F-8ACB-B547174C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Gaps in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F63E5-0E39-4219-B050-4B771AD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F76CC-98C3-46D2-9B19-E5484A98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00DCE-9C93-401F-9181-FD2055C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2026 Hugging Face incident: external compromise beyond evaluation 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DFDC1-5AD5-4B4C-BA68-62AE525A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General 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E5D37-52F3-4BB6-B605-7BAE996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Next-token training develops a range of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B78A9-435A-401D-97AD-F15E643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Generalization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1F80E-09E4-493C-89CA-5ACD343D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Training on one task can affect another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1A044-1E9B-423D-9BBD-9EB8ACA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Real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20470-C8E9-4090-B2EB-A08D725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Many more situations than a test can cover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c4b1fe561405f"/>
          <a:stretch xmlns:a="http://schemas.openxmlformats.org/drawingml/2006/main"/>
        </p:blipFill>
        <p:spPr>
          <a:xfrm xmlns:a="http://schemas.openxmlformats.org/drawingml/2006/main">
            <a:off x="5103019" y="1638300"/>
            <a:ext cx="6129338" cy="40862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5E879-AA64-493F-9A35-0ADCA3CD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435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Limited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3C345-3AFA-46DE-BB70-938E70F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20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Varied real situations</a:t>
            </a:r>
          </a:p>
        </p:txBody>
      </p:sp>
    </p:spTree>
    <p:extLst>
      <p:ext uri="{BB962C8B-B14F-4D97-AF65-F5344CB8AC3E}">
        <p14:creationId xmlns:p14="http://schemas.microsoft.com/office/powerpoint/2010/main" val="1100967006"/>
      </p:ext>
    </p:extLst>
  </p:cSld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B3F0E-B2A8-49AE-8228-D8F582C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3BE6-A9B6-40A8-925F-F0180C8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Designing safe evaluations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CEF6F-B8C6-48CB-A593-9E7A42AB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795F-4854-41DB-A512-46EDB2BD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716B2-0830-46BA-B7AA-158FB6E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FB98-0E43-4C7A-A52E-A1244A8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3357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How should we evaluate AI safety?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CCE50-6938-49F6-8A87-85B7CC5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384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First decide what you will 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9D476-433C-44DD-A782-68D82931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9CAD-38BB-435D-BC85-322CA25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147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How can we test risky behavior without harm?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64911-EAC8-4CD7-86F5-6D3C573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195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Consider simulated data and isolated environments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47A96-E5CC-4F35-9FAC-12E4766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ADB5E-1BB0-4406-B5F0-9CD5F85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9582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How can a test better reflect reality?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58FCA-E7D7-4A88-ABCE-7E31D07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00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Find the missing conditions of real use</a:t>
            </a:r>
          </a:p>
        </p:txBody>
      </p:sp>
    </p:spTree>
    <p:extLst>
      <p:ext uri="{BB962C8B-B14F-4D97-AF65-F5344CB8AC3E}">
        <p14:creationId xmlns:p14="http://schemas.microsoft.com/office/powerpoint/2010/main" val="1646841115"/>
      </p:ext>
    </p:extLst>
  </p:cSld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51927-9CCB-4B09-80F4-501A1EC3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1048D-60F5-440E-BA91-B92F995D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Capability and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3E67-4E9D-4440-BF12-72C59A2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B9BF9-A5DC-45B0-8FDD-0590514C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47099-8B37-464C-94F4-AD5B82D9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Commit to safeguards for each risk level before evaluation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0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86400"/>
                <a:gridCol w="5486400"/>
              </a:tblGrid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Capability</a:t>
                      </a:r>
                    </a:p>
                  </a:txBody>
                  <a:tcPr marL="209550" marR="171450" marT="152400" marB="152400" anchor="ctr">
                    <a:solidFill>
                      <a:srgbClr val="EE510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Propensity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 it perform a dangerous action?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Does it choose that action in this situation?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1085850"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External expert evaluation</a:t>
                      </a:r>
                    </a:p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Strict isolation and monitoring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Observe choices in simulations</a:t>
                      </a:r>
                    </a:p>
                    <a:p>
                      <a:pPr algn="l"/>
                      <a:r>
                        <a:rPr sz="2025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Test goal conflicts and shutdown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9B96C-A209-4BB0-ABFE-C54C1AE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2025 Anthropic experiment: blackmail to avoid shutdown in a fictional company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4972050"/>
          <a:ext xmlns:a="http://schemas.openxmlformats.org/drawingml/2006/main" cx="10972800" cy="76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43200"/>
                <a:gridCol w="2743200"/>
                <a:gridCol w="2743200"/>
                <a:gridCol w="2743200"/>
              </a:tblGrid>
              <a:tr h="381000"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1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2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3</a:t>
                      </a:r>
                    </a:p>
                  </a:txBody>
                  <a:tcPr marL="161925" marR="161925" marT="57150" marB="571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4 and above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/>
                      <a:r>
                        <a:rPr sz="1575" b="0" lang="en-US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Small models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 lang="en-US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Large models at that time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 lang="en-US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Increasing risk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 lang="en-US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Hypothetical stages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878533"/>
      </p:ext>
    </p:extLst>
  </p:cSld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AA4DB-BBAE-4986-94A1-42D43C74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 MISUSE AND 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C3A3-9CA2-4FF8-A06B-DF85E3F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Misusing a safety-trained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2D3A0-31DE-4FDE-A0F5-9E79100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8575E-6E3F-4541-AFED-8D9791B5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0608B-7AFC-4311-A551-53C2338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Ordinary-looking requests can combine into a harmful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F12EC-C45C-4B04-949D-8926261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Knowledge learned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4B5AF-FFAA-48B6-8B39-D114B74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Useful and dangerous knowledge can be mixed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4C80-3021-4F32-869F-FE8E8F9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Jailbreak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FEC4-091B-4660-855C-C44D3B2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Bypass a learned refusal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5C68B-EBA1-4A5F-B9AE-4F2617B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Fragmented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A8740-274C-42C7-B5B6-EA5643B7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Individual requests can hide the overall intent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e82d832234b5e"/>
          <a:stretch xmlns:a="http://schemas.openxmlformats.org/drawingml/2006/main"/>
        </p:blipFill>
        <p:spPr>
          <a:xfrm xmlns:a="http://schemas.openxmlformats.org/drawingml/2006/main">
            <a:off x="5148263" y="1695450"/>
            <a:ext cx="6115050" cy="407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EA451-7986-482D-B044-0CB1082D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8162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Individual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3CC28-2D27-473E-B234-CF55AE7E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381625"/>
            <a:ext cx="310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6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Hidden overall intent</a:t>
            </a:r>
          </a:p>
        </p:txBody>
      </p:sp>
    </p:spTree>
    <p:extLst>
      <p:ext uri="{BB962C8B-B14F-4D97-AF65-F5344CB8AC3E}">
        <p14:creationId xmlns:p14="http://schemas.microsoft.com/office/powerpoint/2010/main" val="2036179446"/>
      </p:ext>
    </p:extLst>
  </p:cSld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CACA3-9F42-45DB-802E-0C4770C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03 MISUSE AND 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DB6-E373-40A0-B166-58FD2D3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Misuse prevention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25AB2-F70F-4A69-AECD-BF36D06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06201-EBDD-4935-82A9-930A0FB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F3D8-09C5-4253-BE8E-0848BAC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6C162-E27D-4757-85C1-BDE1017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3357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Refuse dangerous requests, or avoid learning the knowledge?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953BD-5193-4E02-B84A-E266B8C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384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Compare the benefits and limits of each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BF7E-AF23-4769-90FD-226587CE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15B93-C26A-4AF4-BFAE-7720FE8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147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How can we find the intent behind small requests?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2BEB6-4D6C-408A-9CBC-5E3EF08D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195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Decide how much context to 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D7F0-B054-4456-9B11-5D0FE88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7A574-CED4-44DB-AAD2-3AFA6E2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9582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lang="en-US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How can we reduce misuse of open-weight models?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AC1C9-03D3-45BD-BEA6-48A0428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00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Consider that users can modify the model</a:t>
            </a:r>
          </a:p>
        </p:txBody>
      </p:sp>
    </p:spTree>
    <p:extLst>
      <p:ext uri="{BB962C8B-B14F-4D97-AF65-F5344CB8AC3E}">
        <p14:creationId xmlns:p14="http://schemas.microsoft.com/office/powerpoint/2010/main" val="598198132"/>
      </p:ext>
    </p:extLst>
  </p:cSld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185D8-4DEE-4FDF-9753-0A09EC4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 MISUSE AND 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85035-035C-413C-BD97-AD87148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Approaches to preventing misuse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FC069-A7C3-4462-AE12-1D8851ED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07E95-E0B7-4186-8E3B-EC7383F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61733-641F-4C0F-AFF3-A0B22BC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en-US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Examine the model, execution, and usage context together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86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9825"/>
                <a:gridCol w="4048125"/>
                <a:gridCol w="4514850"/>
              </a:tblGrid>
              <a:tr h="638175">
                <a:tc>
                  <a:txBody>
                    <a:bodyPr anchor="ctr"/>
                    <a:lstStyle/>
                    <a:p>
                      <a:pPr algn="l"/>
                      <a:r>
                        <a:rPr sz="1900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Location</a:t>
                      </a:r>
                    </a:p>
                  </a:txBody>
                  <a:tcPr marL="209550" marR="171450" marT="76200" marB="762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00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Approach</a:t>
                      </a:r>
                    </a:p>
                  </a:txBody>
                  <a:tcPr marL="209550" marR="171450" marT="76200" marB="762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00" b="1" 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to check</a:t>
                      </a:r>
                    </a:p>
                  </a:txBody>
                  <a:tcPr marL="209550" marR="171450" marT="76200" marB="76200" anchor="ctr"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800" b="1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Training data and model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Data filtering / Unlearning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Reduce learning and use of dangerous information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800" b="1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Execution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External classifiers and monitoring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Check the risk of requests and actions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800" b="1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Overall task context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Observe conversations, sessions, and accounts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 overall intent connecting small requests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800" b="1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Open weights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Tamper-resistant safeguards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en-US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Attempts to remove safeguards through further training</a:t>
                      </a:r>
                    </a:p>
                  </a:txBody>
                  <a:tcPr marL="209550" marR="171450" marT="76200" marB="762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173239"/>
      </p:ext>
    </p:extLst>
  </p:cSld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8188B-19C9-4F33-B4D0-53AD9993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FURTHER RESEARCH AREAS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8E172-F4F6-42E3-8F0C-46D96CC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Research areas in technical AI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EF0DB-B491-48BB-BC87-B61D9510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89655-089E-4478-9554-36BCBDD1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20ff629e74f25"/>
          <a:stretch xmlns:a="http://schemas.openxmlformats.org/drawingml/2006/main"/>
        </p:blipFill>
        <p:spPr>
          <a:xfrm xmlns:a="http://schemas.openxmlformats.org/drawingml/2006/main">
            <a:off x="542925" y="2111375"/>
            <a:ext cx="4295775" cy="286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 cx="3380000">
                <a16:creationId xmlns:a16="http://schemas.microsoft.com/office/drawing/2014/main" id="{A75D20FC-E190-4ACC-9571-26321294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338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Internal computation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8B278-0E0D-49FB-A11A-20A5F3B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622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Mechanistic interpretability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47D4-FED8-4776-B521-5392D97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956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Understand how internal computations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67226-482C-466E-9E87-B48D756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Agent collusion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E281E-4D33-4B56-9EEF-4D01C38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Multi agent collusion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BF5F3-9BE3-49D6-B79B-5C44C56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Unauthorized collusion among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687C0-B930-4114-809C-9366191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623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Scalable oversight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88200-15CA-4FF7-AA58-BEF3470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767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Scalable oversight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A9C2F-2C8C-41BD-ADE5-D3646269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101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Supervise more capable and more numerous 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24227-7CF0-4E0C-A6A6-C240BE9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lang="en-US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AI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EF3D0-4503-4122-8A46-99EF1B2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AI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23E35-BCF4-4BE1-991E-CA329831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en-US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Control behavior when safety remains uncertain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4BB80-9649-49F3-B599-6CBB32D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3235b5574bfa482c"/>
              </a:rPr>
              <a:t>Shallow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54C01-7318-46A4-830A-D254C18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848350"/>
            <a:ext cx="3076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>
                <a:hlinkClick xmlns:r="http://schemas.openxmlformats.org/officeDocument/2006/relationships" r:id="R06988c6bd2e44ef6"/>
              </a:rPr>
              <a:t>BlueDot course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DD07-3CCB-469C-A93A-384DA58D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483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080aae083fd4415e"/>
              </a:rPr>
              <a:t>Concrete Problems in AI Safety</a:t>
            </a:r>
          </a:p>
        </p:txBody>
      </p:sp>
    </p:spTree>
    <p:extLst>
      <p:ext uri="{BB962C8B-B14F-4D97-AF65-F5344CB8AC3E}">
        <p14:creationId xmlns:p14="http://schemas.microsoft.com/office/powerpoint/2010/main" val="106027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2026-10-01T21:34:50.0420000Z</dcterms:created>
  <dcterms:modified xsi:type="dcterms:W3CDTF">2026-10-01T21:34:50.0420000Z</dcterms:modified>
</coreProperties>
</file>