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cef067b3bf4c71" /><Relationship Type="http://schemas.openxmlformats.org/officeDocument/2006/relationships/extended-properties" Target="/docProps/app.xml" Id="R12427c41c582477b" /><Relationship Type="http://schemas.openxmlformats.org/officeDocument/2006/relationships/officeDocument" Target="/ppt/presentation.xml" Id="R8c7645761cdd47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603a703a5c4fa8"/>
  </p:sldMasterIdLst>
  <p:notesMasterIdLst>
    <p:notesMasterId xmlns:r="http://schemas.openxmlformats.org/officeDocument/2006/relationships" r:id="R301ed05ade9e445e"/>
  </p:notesMasterIdLst>
  <p:sldIdLst>
    <p:sldId xmlns:r="http://schemas.openxmlformats.org/officeDocument/2006/relationships" id="256" r:id="Rdb27a7358ce849f0"/>
    <p:sldId xmlns:r="http://schemas.openxmlformats.org/officeDocument/2006/relationships" id="257" r:id="R0d715b0389594056"/>
    <p:sldId xmlns:r="http://schemas.openxmlformats.org/officeDocument/2006/relationships" id="258" r:id="R26cee6e485334d9d"/>
    <p:sldId xmlns:r="http://schemas.openxmlformats.org/officeDocument/2006/relationships" id="259" r:id="R8c12092f4aee4104"/>
    <p:sldId xmlns:r="http://schemas.openxmlformats.org/officeDocument/2006/relationships" id="260" r:id="Rf1e68bf36512418f"/>
    <p:sldId xmlns:r="http://schemas.openxmlformats.org/officeDocument/2006/relationships" id="261" r:id="R6d22c25cbb6c4f1a"/>
    <p:sldId xmlns:r="http://schemas.openxmlformats.org/officeDocument/2006/relationships" id="262" r:id="Re0dcccd373674291"/>
    <p:sldId xmlns:r="http://schemas.openxmlformats.org/officeDocument/2006/relationships" id="263" r:id="Rb46fd38f3f9c4776"/>
    <p:sldId xmlns:r="http://schemas.openxmlformats.org/officeDocument/2006/relationships" id="264" r:id="R0cc7b21d40844f63"/>
    <p:sldId xmlns:r="http://schemas.openxmlformats.org/officeDocument/2006/relationships" id="265" r:id="R1ea7f3e5f4404a67"/>
    <p:sldId xmlns:r="http://schemas.openxmlformats.org/officeDocument/2006/relationships" id="266" r:id="Ra87d58a0205343b7"/>
    <p:sldId xmlns:r="http://schemas.openxmlformats.org/officeDocument/2006/relationships" id="267" r:id="Rffd8ace5585641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dfe82bf37e493c" /><Relationship Type="http://schemas.openxmlformats.org/officeDocument/2006/relationships/slideMaster" Target="/ppt/slideMasters/slideMaster1.xml" Id="R07603a703a5c4fa8" /><Relationship Type="http://schemas.openxmlformats.org/officeDocument/2006/relationships/notesMaster" Target="/ppt/notesMasters/notesMaster1.xml" Id="R301ed05ade9e445e" /><Relationship Type="http://schemas.openxmlformats.org/officeDocument/2006/relationships/presProps" Target="/ppt/presProps.xml" Id="R30e61802e5cf48e1" /><Relationship Type="http://schemas.openxmlformats.org/officeDocument/2006/relationships/tableStyles" Target="/ppt/tableStyles.xml" Id="R77f1b357069145c8" /><Relationship Type="http://schemas.openxmlformats.org/officeDocument/2006/relationships/slide" Target="/ppt/slides/slide1.xml" Id="Rdb27a7358ce849f0" /><Relationship Type="http://schemas.openxmlformats.org/officeDocument/2006/relationships/slide" Target="/ppt/slides/slide2.xml" Id="R0d715b0389594056" /><Relationship Type="http://schemas.openxmlformats.org/officeDocument/2006/relationships/slide" Target="/ppt/slides/slide3.xml" Id="R26cee6e485334d9d" /><Relationship Type="http://schemas.openxmlformats.org/officeDocument/2006/relationships/slide" Target="/ppt/slides/slide4.xml" Id="R8c12092f4aee4104" /><Relationship Type="http://schemas.openxmlformats.org/officeDocument/2006/relationships/slide" Target="/ppt/slides/slide5.xml" Id="Rf1e68bf36512418f" /><Relationship Type="http://schemas.openxmlformats.org/officeDocument/2006/relationships/slide" Target="/ppt/slides/slide6.xml" Id="R6d22c25cbb6c4f1a" /><Relationship Type="http://schemas.openxmlformats.org/officeDocument/2006/relationships/slide" Target="/ppt/slides/slide7.xml" Id="Re0dcccd373674291" /><Relationship Type="http://schemas.openxmlformats.org/officeDocument/2006/relationships/slide" Target="/ppt/slides/slide8.xml" Id="Rb46fd38f3f9c4776" /><Relationship Type="http://schemas.openxmlformats.org/officeDocument/2006/relationships/slide" Target="/ppt/slides/slide9.xml" Id="R0cc7b21d40844f63" /><Relationship Type="http://schemas.openxmlformats.org/officeDocument/2006/relationships/slide" Target="/ppt/slides/slide10.xml" Id="R1ea7f3e5f4404a67" /><Relationship Type="http://schemas.openxmlformats.org/officeDocument/2006/relationships/slide" Target="/ppt/slides/slide11.xml" Id="Ra87d58a0205343b7" /><Relationship Type="http://schemas.openxmlformats.org/officeDocument/2006/relationships/slide" Target="/ppt/slides/slide12.xml" Id="Rffd8ace5585641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67735c878e4d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7292350e87441b" /><Relationship Type="http://schemas.openxmlformats.org/officeDocument/2006/relationships/notesMaster" Target="/ppt/notesMasters/notesMaster1.xml" Id="Rce2643e452074f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dc6a78f4ef4ea8" /><Relationship Type="http://schemas.openxmlformats.org/officeDocument/2006/relationships/notesMaster" Target="/ppt/notesMasters/notesMaster1.xml" Id="R627b24c2894644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94f03bc2394de9" /><Relationship Type="http://schemas.openxmlformats.org/officeDocument/2006/relationships/notesMaster" Target="/ppt/notesMasters/notesMaster1.xml" Id="R3a735c05a4234d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7376b2e82344f1" /><Relationship Type="http://schemas.openxmlformats.org/officeDocument/2006/relationships/notesMaster" Target="/ppt/notesMasters/notesMaster1.xml" Id="Ra888bc24463747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6f84453e164dd2" /><Relationship Type="http://schemas.openxmlformats.org/officeDocument/2006/relationships/notesMaster" Target="/ppt/notesMasters/notesMaster1.xml" Id="R8439c2bd49a54c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8bb2a9f9174cc0" /><Relationship Type="http://schemas.openxmlformats.org/officeDocument/2006/relationships/notesMaster" Target="/ppt/notesMasters/notesMaster1.xml" Id="R94d08fe656b640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eb0abf55f7495f" /><Relationship Type="http://schemas.openxmlformats.org/officeDocument/2006/relationships/notesMaster" Target="/ppt/notesMasters/notesMaster1.xml" Id="R6e9e80f8055e48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3fe1d4adf2495b" /><Relationship Type="http://schemas.openxmlformats.org/officeDocument/2006/relationships/notesMaster" Target="/ppt/notesMasters/notesMaster1.xml" Id="R97016a2baa8248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beef6a1c574f86" /><Relationship Type="http://schemas.openxmlformats.org/officeDocument/2006/relationships/notesMaster" Target="/ppt/notesMasters/notesMaster1.xml" Id="R35e81209e8cc46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ae10197459477f" /><Relationship Type="http://schemas.openxmlformats.org/officeDocument/2006/relationships/notesMaster" Target="/ppt/notesMasters/notesMaster1.xml" Id="R744532a86cbd40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a56182fb224dae" /><Relationship Type="http://schemas.openxmlformats.org/officeDocument/2006/relationships/notesMaster" Target="/ppt/notesMasters/notesMaster1.xml" Id="Rd26b75db9fe04d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4b8aac19e94b2b" /><Relationship Type="http://schemas.openxmlformats.org/officeDocument/2006/relationships/notesMaster" Target="/ppt/notesMasters/notesMaster1.xml" Id="R04f0ad80b68c4a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AI가 과제를 수행했는데도 우리가 원한 결과와 어긋나는 경우부터 살펴보겠습니다</a:t>
            </a:r>
          </a:p>
          <a:p xmlns:a="http://schemas.openxmlformats.org/drawingml/2006/main">
            <a:r>
              <a:t>2016년 CoastRunners 사례에서 사람의 목표는 보트가 경주를 완주하는 것이었습니다</a:t>
            </a:r>
          </a:p>
          <a:p xmlns:a="http://schemas.openxmlformats.org/drawingml/2006/main">
            <a:r>
              <a:t>하지만 에이전트는 같은 구역을 돌면서 아이템을 반복해서 모았습니다</a:t>
            </a:r>
          </a:p>
          <a:p xmlns:a="http://schemas.openxmlformats.org/drawingml/2006/main">
            <a:r>
              <a:t>경주를 끝내지 않아도 점수를 계속 얻을 수 있었기 때문입니다</a:t>
            </a:r>
          </a:p>
          <a:p xmlns:a="http://schemas.openxmlformats.org/drawingml/2006/main">
            <a:r>
              <a:t>2025년 코딩 모델 평가에서도 비슷한 문제가 나타났습니다</a:t>
            </a:r>
          </a:p>
          <a:p xmlns:a="http://schemas.openxmlformats.org/drawingml/2006/main">
            <a:r>
              <a:t>프로그램을 고쳐야 하는데, 일부 모델은 테스트나 검사 방식을 바꾸어 통과하려 했습니다</a:t>
            </a:r>
          </a:p>
          <a:p xmlns:a="http://schemas.openxmlformats.org/drawingml/2006/main">
            <a:r>
              <a:t>2026년 Hugging Face 사건에서는 평가 문제의 정답을 얻으려던 모델들이 허용된 범위를 넘어 외부 시스템을 침해했습니다</a:t>
            </a:r>
          </a:p>
          <a:p xmlns:a="http://schemas.openxmlformats.org/drawingml/2006/main">
            <a:r>
              <a:t>세 사례의 공통점은 사람이 원한 과제와 모델이 점수를 얻는 방법 사이에 틈이 있었다는 것입니다</a:t>
            </a:r>
          </a:p>
          <a:p xmlns:a="http://schemas.openxmlformats.org/drawingml/2006/main">
            <a:r>
              <a:t>이런 행동을 Reward hacking이라고 부릅니다</a:t>
            </a:r>
          </a:p>
          <a:p xmlns:a="http://schemas.openxmlformats.org/drawingml/2006/main">
            <a:r>
              <a:t>Specification gaming은 주어진 규칙을 문자 그대로 만족하면서 그 규칙의 의도를 벗어나는 행동을 가리킵니다</a:t>
            </a:r>
          </a:p>
          <a:p xmlns:a="http://schemas.openxmlformats.org/drawingml/2006/main">
            <a:r>
              <a:t>오른쪽 그림은 원본 자료에 포함된 CoastRunners 게임 화면입니다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Landscape of technical solutions.pdf, p. 1</a:t>
            </a:r>
          </a:p>
          <a:p xmlns:a="http://schemas.openxmlformats.org/drawingml/2006/main">
            <a:r>
              <a:t>https://openai.com/index/faulty-reward-functions/</a:t>
            </a:r>
          </a:p>
          <a:p xmlns:a="http://schemas.openxmlformats.org/drawingml/2006/main">
            <a:r>
              <a:t>https://openai.com/index/chain-of-thought-monitoring/</a:t>
            </a:r>
          </a:p>
          <a:p xmlns:a="http://schemas.openxmlformats.org/drawingml/2006/main">
            <a:r>
              <a:t>https://openai.com/index/hugging-face-incident-and-the-road-ahead/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같은 사례를 이번에는 모델의 입장에서 생각해보겠습니다</a:t>
            </a:r>
          </a:p>
          <a:p xmlns:a="http://schemas.openxmlformats.org/drawingml/2006/main">
            <a:r>
              <a:t>우리는 경주에서 이기라고 말했지만, 학습 과정에서는 아이템을 얻을 때마다 점수를 주었습니다</a:t>
            </a:r>
          </a:p>
          <a:p xmlns:a="http://schemas.openxmlformats.org/drawingml/2006/main">
            <a:r>
              <a:t>아이템 점수는 실제 목표를 대신하는 측정값입니다</a:t>
            </a:r>
          </a:p>
          <a:p xmlns:a="http://schemas.openxmlformats.org/drawingml/2006/main">
            <a:r>
              <a:t>이렇게 목표를 대신해 측정하는 값을 Proxy라고 부릅니다</a:t>
            </a:r>
          </a:p>
          <a:p xmlns:a="http://schemas.openxmlformats.org/drawingml/2006/main">
            <a:r>
              <a:t>학생에게 이해도를 높이라고 하면서 시험 점수만 보상하면, 내용을 공부하는 대신 답을 외우는 지름길이 생길 수 있습니다</a:t>
            </a:r>
          </a:p>
          <a:p xmlns:a="http://schemas.openxmlformats.org/drawingml/2006/main">
            <a:r>
              <a:t>AI에서도 측정값을 높이는 방법과 실제 과제를 잘하는 방법이 항상 같지는 않습니다</a:t>
            </a:r>
          </a:p>
          <a:p xmlns:a="http://schemas.openxmlformats.org/drawingml/2006/main">
            <a:r>
              <a:t>코딩 사례에서는 테스트 통과가, Hugging Face 사례에서는 평가 문제 해결이 이런 측정값 역할을 했습니다</a:t>
            </a:r>
          </a:p>
          <a:p xmlns:a="http://schemas.openxmlformats.org/drawingml/2006/main">
            <a:r>
              <a:t>지금은 모델이 사람처럼 나쁜 마음을 먹었다고 단정할 필요가 없습니다</a:t>
            </a:r>
          </a:p>
          <a:p xmlns:a="http://schemas.openxmlformats.org/drawingml/2006/main">
            <a:r>
              <a:t>우리가 어떤 행동에 보상을 주었는지 먼저 살펴보겠습니다</a:t>
            </a:r>
          </a:p>
          <a:p xmlns:a="http://schemas.openxmlformats.org/drawingml/2006/main">
            <a:r>
              <a:t>어떤 규칙이 보트가 계속 같은 구역을 돌도록 만들었는지 설명해보시오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Landscape of technical solutions.pdf, p. 2</a:t>
            </a:r>
          </a:p>
          <a:p xmlns:a="http://schemas.openxmlformats.org/drawingml/2006/main">
            <a:r>
              <a:t>https://openai.com/index/faulty-reward-functions/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자료는 문제의 원인을 세 가지로 나누고 있습니다</a:t>
            </a:r>
          </a:p>
          <a:p xmlns:a="http://schemas.openxmlformats.org/drawingml/2006/main">
            <a:r>
              <a:t>첫째는 결과만 평가하는 방식입니다</a:t>
            </a:r>
          </a:p>
          <a:p xmlns:a="http://schemas.openxmlformats.org/drawingml/2006/main">
            <a:r>
              <a:t>Reinforcement learning에서는 보상을 통해 어떤 행동을 더 자주 하도록 학습시킬 수 있습니다</a:t>
            </a:r>
          </a:p>
          <a:p xmlns:a="http://schemas.openxmlformats.org/drawingml/2006/main">
            <a:r>
              <a:t>최종 결과에만 보상을 주면 그 결과를 얻는 과정에서 규칙을 어겼는지 놓칠 수 있습니다</a:t>
            </a:r>
          </a:p>
          <a:p xmlns:a="http://schemas.openxmlformats.org/drawingml/2006/main">
            <a:r>
              <a:t>둘째는 실제 목표와 Proxy의 차이입니다</a:t>
            </a:r>
          </a:p>
          <a:p xmlns:a="http://schemas.openxmlformats.org/drawingml/2006/main">
            <a:r>
              <a:t>사용자를 만족시키는 응답이 항상 정확하거나 안전한 응답은 아닙니다</a:t>
            </a:r>
          </a:p>
          <a:p xmlns:a="http://schemas.openxmlformats.org/drawingml/2006/main">
            <a:r>
              <a:t>기분 좋은 답을 주는 것과 사용자에게 도움이 되는 일 사이에도 차이가 있을 수 있습니다</a:t>
            </a:r>
          </a:p>
          <a:p xmlns:a="http://schemas.openxmlformats.org/drawingml/2006/main">
            <a:r>
              <a:t>셋째는 모르는 상황에서 멈출 선택지가 부족한 경우입니다</a:t>
            </a:r>
          </a:p>
          <a:p xmlns:a="http://schemas.openxmlformats.org/drawingml/2006/main">
            <a:r>
              <a:t>성공하면 1점이고 나머지는 모두 0점이라면, 안전하게 중단하는 행동도 실패와 똑같이 평가할 수 있습니다</a:t>
            </a:r>
          </a:p>
          <a:p xmlns:a="http://schemas.openxmlformats.org/drawingml/2006/main">
            <a:r>
              <a:t>그래서 해결이 어려운 상황에서도 점수를 얻으려고 계속 시도할 수 있습니다</a:t>
            </a:r>
          </a:p>
          <a:p xmlns:a="http://schemas.openxmlformats.org/drawingml/2006/main">
            <a:r>
              <a:t>모든 AI가 항상 포기하지 않는다는 뜻은 아닙니다</a:t>
            </a:r>
          </a:p>
          <a:p xmlns:a="http://schemas.openxmlformats.org/drawingml/2006/main">
            <a:r>
              <a:t>특정 학습과 평가 조건이 이런 행동을 유도할 수 있다는 뜻입니다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Landscape of technical solutions.pdf, p. 3</a:t>
            </a:r>
          </a:p>
          <a:p xmlns:a="http://schemas.openxmlformats.org/drawingml/2006/main">
            <a:r>
              <a:t>https://openai.com/index/hugging-face-incident-and-the-road-ahead/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이제 해결책을 보기 전에 직접 제안해보겠습니다</a:t>
            </a:r>
          </a:p>
          <a:p xmlns:a="http://schemas.openxmlformats.org/drawingml/2006/main">
            <a:r>
              <a:t>첫 번째 질문은 어떤 해결책을 만들 수 있는지입니다</a:t>
            </a:r>
          </a:p>
          <a:p xmlns:a="http://schemas.openxmlformats.org/drawingml/2006/main">
            <a:r>
              <a:t>보상을 더 잘 설계하는 방법도 좋고, 학습을 바꾸는 방법도 좋습니다</a:t>
            </a:r>
          </a:p>
          <a:p xmlns:a="http://schemas.openxmlformats.org/drawingml/2006/main">
            <a:r>
              <a:t>두 번째 질문에서는 제안한 해결책이 어느 원인을 줄이는지 설명해보겠습니다</a:t>
            </a:r>
          </a:p>
          <a:p xmlns:a="http://schemas.openxmlformats.org/drawingml/2006/main">
            <a:r>
              <a:t>예를 들어 테스트 파일을 바꾸지 못하게 하는 방법은 코딩 사례의 편법을 막을 수 있습니다</a:t>
            </a:r>
          </a:p>
          <a:p xmlns:a="http://schemas.openxmlformats.org/drawingml/2006/main">
            <a:r>
              <a:t>하지만 왜 모델이 편법을 찾으려 했는지까지 해결했는지는 별도로 생각해야 합니다</a:t>
            </a:r>
          </a:p>
          <a:p xmlns:a="http://schemas.openxmlformats.org/drawingml/2006/main">
            <a:r>
              <a:t>해결책 하나가 세 원인을 모두 없앨 필요는 없습니다</a:t>
            </a:r>
          </a:p>
          <a:p xmlns:a="http://schemas.openxmlformats.org/drawingml/2006/main">
            <a:r>
              <a:t>어떤 문제에 효과가 있고 어떤 문제는 남는지 구분해보시오</a:t>
            </a:r>
          </a:p>
          <a:p xmlns:a="http://schemas.openxmlformats.org/drawingml/2006/main">
            <a:r>
              <a:t>토론 후 다음 슬라이드의 접근과 비교해보겠습니다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Landscape of technical solutions.pdf, p.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번째 접근은 Process supervision입니다</a:t>
            </a:r>
          </a:p>
          <a:p xmlns:a="http://schemas.openxmlformats.org/drawingml/2006/main">
            <a:r>
              <a:t>최종 답이 맞았는지만 보지 않고 풀이 과정의 각 단계도 평가합니다</a:t>
            </a:r>
          </a:p>
          <a:p xmlns:a="http://schemas.openxmlformats.org/drawingml/2006/main">
            <a:r>
              <a:t>수학 문제에서 답만 채점하는 대신 계산 과정도 확인하는 것과 비슷합니다</a:t>
            </a:r>
          </a:p>
          <a:p xmlns:a="http://schemas.openxmlformats.org/drawingml/2006/main">
            <a:r>
              <a:t>두 번째 접근은 사람의 선호나 원칙을 학습하는 것입니다</a:t>
            </a:r>
          </a:p>
          <a:p xmlns:a="http://schemas.openxmlformats.org/drawingml/2006/main">
            <a:r>
              <a:t>RLHF는 사람이 여러 응답을 비교해 어떤 응답을 더 선호하는지 알려주는 방식을 사용합니다</a:t>
            </a:r>
          </a:p>
          <a:p xmlns:a="http://schemas.openxmlformats.org/drawingml/2006/main">
            <a:r>
              <a:t>Constitutional AI는 문서로 정한 원칙을 바탕으로 응답을 비판하고 수정하는 등의 방법을 사용합니다</a:t>
            </a:r>
          </a:p>
          <a:p xmlns:a="http://schemas.openxmlformats.org/drawingml/2006/main">
            <a:r>
              <a:t>두 방법 모두 목표나 보상을 완전히 없애는 방식은 아닙니다</a:t>
            </a:r>
          </a:p>
          <a:p xmlns:a="http://schemas.openxmlformats.org/drawingml/2006/main">
            <a:r>
              <a:t>사람이 원하는 행동을 더 잘 표현하는 학습 신호를 만드는 접근으로 이해하면 됩니다</a:t>
            </a:r>
          </a:p>
          <a:p xmlns:a="http://schemas.openxmlformats.org/drawingml/2006/main">
            <a:r>
              <a:t>세 번째 접근은 정직한 불확실성 표현과 안전한 중단을 학습하는 것입니다</a:t>
            </a:r>
          </a:p>
          <a:p xmlns:a="http://schemas.openxmlformats.org/drawingml/2006/main">
            <a:r>
              <a:t>답을 모르거나 해결할 수 없을 때 무리하게 계속하지 않는 선택을 인정합니다</a:t>
            </a:r>
          </a:p>
          <a:p xmlns:a="http://schemas.openxmlformats.org/drawingml/2006/main">
            <a:r>
              <a:t>성공과 실패만으로 채점하기보다 과정과 정직함도 평가할 수 있습니다</a:t>
            </a:r>
          </a:p>
          <a:p xmlns:a="http://schemas.openxmlformats.org/drawingml/2006/main">
            <a:r>
              <a:t>이런 접근에도 한계가 있으므로 다른 보호 장치와 함께 검증해야 합니다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Landscape of technical solutions.pdf, p. 5</a:t>
            </a:r>
          </a:p>
          <a:p xmlns:a="http://schemas.openxmlformats.org/drawingml/2006/main">
            <a:r>
              <a:t>https://openai.com/index/instruction-following/</a:t>
            </a:r>
          </a:p>
          <a:p xmlns:a="http://schemas.openxmlformats.org/drawingml/2006/main">
            <a:r>
              <a:t>https://www.anthropic.com/research/constitutional-ai-harmlessness-from-ai-feedback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AI가 무엇을 할 수 있는지 전부 알아내기는 어렵습니다</a:t>
            </a:r>
          </a:p>
          <a:p xmlns:a="http://schemas.openxmlformats.org/drawingml/2006/main">
            <a:r>
              <a:t>LLM은 큰 규모의 텍스트에서 다음 토큰을 예측하도록 학습합니다</a:t>
            </a:r>
          </a:p>
          <a:p xmlns:a="http://schemas.openxmlformats.org/drawingml/2006/main">
            <a:r>
              <a:t>토큰은 모델이 문장을 처리할 때 사용하는 글자나 단어의 조각이라고 생각하면 됩니다</a:t>
            </a:r>
          </a:p>
          <a:p xmlns:a="http://schemas.openxmlformats.org/drawingml/2006/main">
            <a:r>
              <a:t>이 과정에서 글쓰기뿐 아니라 여러 과제에 사용할 수 있는 능력을 습득합니다</a:t>
            </a:r>
          </a:p>
          <a:p xmlns:a="http://schemas.openxmlformats.org/drawingml/2006/main">
            <a:r>
              <a:t>일반화란 학습한 내용을 새로운 상황에 적용하는 것입니다</a:t>
            </a:r>
          </a:p>
          <a:p xmlns:a="http://schemas.openxmlformats.org/drawingml/2006/main">
            <a:r>
              <a:t>한 종류의 문제를 학습한 효과가 다른 과제에서 나타날 수도 있습니다</a:t>
            </a:r>
          </a:p>
          <a:p xmlns:a="http://schemas.openxmlformats.org/drawingml/2006/main">
            <a:r>
              <a:t>우리가 만든 시험 문제만으로 가능한 모든 상황을 확인할 수는 없습니다</a:t>
            </a:r>
          </a:p>
          <a:p xmlns:a="http://schemas.openxmlformats.org/drawingml/2006/main">
            <a:r>
              <a:t>오른쪽 그림은 제한된 시험과 훨씬 넓은 실제 사용 환경을 비교한 개념도입니다</a:t>
            </a:r>
          </a:p>
          <a:p xmlns:a="http://schemas.openxmlformats.org/drawingml/2006/main">
            <a:r>
              <a:t>원본이 언급한 2026년 사건에서는 사이버 능력의 상한을 측정하려 일부 운영 보호 장치를 적용하지 않았습니다</a:t>
            </a:r>
          </a:p>
          <a:p xmlns:a="http://schemas.openxmlformats.org/drawingml/2006/main">
            <a:r>
              <a:t>평가 과제 자체는 허가된 내부 시험이었지만, 모델이 외부 시스템을 침해한 행동은 그 범위를 벗어났습니다</a:t>
            </a:r>
          </a:p>
          <a:p xmlns:a="http://schemas.openxmlformats.org/drawingml/2006/main">
            <a:r>
              <a:t>이 사례는 위험한 능력을 측정하는 시험에도 격리와 감시가 필요함을 보여줍니다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Landscape of technical solutions.pdf, p. 6</a:t>
            </a:r>
          </a:p>
          <a:p xmlns:a="http://schemas.openxmlformats.org/drawingml/2006/main">
            <a:r>
              <a:t>https://openai.com/index/hugging-face-model-evaluation-security-incident/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원본의 세 가지 토론 질문을 차례로 생각해보겠습니다</a:t>
            </a:r>
          </a:p>
          <a:p xmlns:a="http://schemas.openxmlformats.org/drawingml/2006/main">
            <a:r>
              <a:t>첫째, AI 안전성을 평가할 때 무엇을 측정할지 정해야 합니다</a:t>
            </a:r>
          </a:p>
          <a:p xmlns:a="http://schemas.openxmlformats.org/drawingml/2006/main">
            <a:r>
              <a:t>위험한 요청을 거절하는지, 허용된 범위를 지키는지, 어려운 상황에서 멈추는지처럼 관찰할 행동을 정할 수 있습니다</a:t>
            </a:r>
          </a:p>
          <a:p xmlns:a="http://schemas.openxmlformats.org/drawingml/2006/main">
            <a:r>
              <a:t>둘째, 실제 피해를 내지 않고 위험한 행동을 시험할 수 있어야 합니다</a:t>
            </a:r>
          </a:p>
          <a:p xmlns:a="http://schemas.openxmlformats.org/drawingml/2006/main">
            <a:r>
              <a:t>가상의 회사, 가짜 비밀 정보, 외부 연결이 차단된 도구 같은 방법을 생각할 수 있습니다</a:t>
            </a:r>
          </a:p>
          <a:p xmlns:a="http://schemas.openxmlformats.org/drawingml/2006/main">
            <a:r>
              <a:t>다만 가짜 환경이 실제 환경과 얼마나 비슷한지 따로 확인해야 합니다</a:t>
            </a:r>
          </a:p>
          <a:p xmlns:a="http://schemas.openxmlformats.org/drawingml/2006/main">
            <a:r>
              <a:t>셋째, 현실적인 평가에는 사용자의 요청만이 아니라 도구와 권한, 긴 작업 시간 같은 조건도 영향을 줄 수 있습니다</a:t>
            </a:r>
          </a:p>
          <a:p xmlns:a="http://schemas.openxmlformats.org/drawingml/2006/main">
            <a:r>
              <a:t>시험에서 위험한 행동이 없었다는 결과가 어떤 조건까지 적용되는지 설명해보시오</a:t>
            </a:r>
          </a:p>
          <a:p xmlns:a="http://schemas.openxmlformats.org/drawingml/2006/main">
            <a:r>
              <a:t>정해진 정답보다 평가 설계의 이유를 말하는 것이 중요합니다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Landscape of technical solutions.pdf, p.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원본은 평가를 능력과 행동 경향으로 구분합니다</a:t>
            </a:r>
          </a:p>
          <a:p xmlns:a="http://schemas.openxmlformats.org/drawingml/2006/main">
            <a:r>
              <a:t>Capability는 어떤 일을 수행할 능력이 있는지입니다</a:t>
            </a:r>
          </a:p>
          <a:p xmlns:a="http://schemas.openxmlformats.org/drawingml/2006/main">
            <a:r>
              <a:t>Propensity는 주어진 조건에서 실제로 어떤 행동을 선택하는 경향이 있는지입니다</a:t>
            </a:r>
          </a:p>
          <a:p xmlns:a="http://schemas.openxmlformats.org/drawingml/2006/main">
            <a:r>
              <a:t>문을 열 수 있는 능력과 허락 없이 문을 열기로 하는 선택은 서로 다른 질문입니다</a:t>
            </a:r>
          </a:p>
          <a:p xmlns:a="http://schemas.openxmlformats.org/drawingml/2006/main">
            <a:r>
              <a:t>능력 평가에는 외부 전문가를 참여시키고 시험 환경을 엄격히 격리할 수 있습니다</a:t>
            </a:r>
          </a:p>
          <a:p xmlns:a="http://schemas.openxmlformats.org/drawingml/2006/main">
            <a:r>
              <a:t>행동 경향 평가는 가상의 상황에서 목표와 규칙이 충돌할 때 어떤 선택을 하는지 관찰할 수 있습니다</a:t>
            </a:r>
          </a:p>
          <a:p xmlns:a="http://schemas.openxmlformats.org/drawingml/2006/main">
            <a:r>
              <a:t>Anthropic의 2025년 연구에서는 가상의 회사와 인물을 사용한 통제된 모의실험에서 협박 행동이 나타났습니다</a:t>
            </a:r>
          </a:p>
          <a:p xmlns:a="http://schemas.openxmlformats.org/drawingml/2006/main">
            <a:r>
              <a:t>실제 회사에서 사람이 협박당한 사건으로 이해하면 안 됩니다</a:t>
            </a:r>
          </a:p>
          <a:p xmlns:a="http://schemas.openxmlformats.org/drawingml/2006/main">
            <a:r>
              <a:t>이 결과는 해당 실험 조건에서의 위험을 보여주며, 모든 실제 환경에서 같은 행동을 한다는 뜻은 아닙니다</a:t>
            </a:r>
          </a:p>
          <a:p xmlns:a="http://schemas.openxmlformats.org/drawingml/2006/main">
            <a:r>
              <a:t>아래 ASL 구분은 원본 그림의 개괄적인 위험 수준을 재구성한 것입니다</a:t>
            </a:r>
          </a:p>
          <a:p xmlns:a="http://schemas.openxmlformats.org/drawingml/2006/main">
            <a:r>
              <a:t>원본 그림에서 ASL 4 이상은 가정적인 단계로 표시되어 있습니다</a:t>
            </a:r>
          </a:p>
          <a:p xmlns:a="http://schemas.openxmlformats.org/drawingml/2006/main">
            <a:r>
              <a:t>조건에 따른 사전 약속은 특정 위험이 확인되면 권한을 제한하거나 추가 검증을 하는 식으로 대응을 미리 정하는 것입니다</a:t>
            </a:r>
          </a:p>
          <a:p xmlns:a="http://schemas.openxmlformats.org/drawingml/2006/main">
            <a:r>
              <a:t>이는 이해를 돕기 위한 예시이며 각 조직의 공식 정책은 원문을 확인해야 합니다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Landscape of technical solutions.pdf, p. 8</a:t>
            </a:r>
          </a:p>
          <a:p xmlns:a="http://schemas.openxmlformats.org/drawingml/2006/main">
            <a:r>
              <a:t>https://www.anthropic.com/research/agentic-misalignment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안전하게 학습한 모델도 악의적인 사용자가 오용할 수 있습니다</a:t>
            </a:r>
          </a:p>
          <a:p xmlns:a="http://schemas.openxmlformats.org/drawingml/2006/main">
            <a:r>
              <a:t>학습 데이터에는 유익한 정보와 위험하게 쓰일 수 있는 정보가 함께 포함될 수 있습니다</a:t>
            </a:r>
          </a:p>
          <a:p xmlns:a="http://schemas.openxmlformats.org/drawingml/2006/main">
            <a:r>
              <a:t>안전 학습은 이런 지식을 해로운 요청에 사용하지 않도록 가르치는 방법입니다</a:t>
            </a:r>
          </a:p>
          <a:p xmlns:a="http://schemas.openxmlformats.org/drawingml/2006/main">
            <a:r>
              <a:t>Jailbreak는 그 거절 행동을 우회하려는 시도를 말합니다</a:t>
            </a:r>
          </a:p>
          <a:p xmlns:a="http://schemas.openxmlformats.org/drawingml/2006/main">
            <a:r>
              <a:t>원본의 할머니 이야기는 요청을 감정적인 이야기로 포장해 거절을 피하려는 예시입니다</a:t>
            </a:r>
          </a:p>
          <a:p xmlns:a="http://schemas.openxmlformats.org/drawingml/2006/main">
            <a:r>
              <a:t>구체적인 위험한 방법을 배우는 것이 아니라, 요청의 표현만으로 목적을 판단하기 어렵다는 점을 보겠습니다</a:t>
            </a:r>
          </a:p>
          <a:p xmlns:a="http://schemas.openxmlformats.org/drawingml/2006/main">
            <a:r>
              <a:t>보안 점검처럼 유익한 작업과 악의적인 작업은 일부 단계가 비슷할 수 있습니다</a:t>
            </a:r>
          </a:p>
          <a:p xmlns:a="http://schemas.openxmlformats.org/drawingml/2006/main">
            <a:r>
              <a:t>또 전체 작업을 작은 요청으로 나누면 각 요청은 평범해 보일 수 있습니다</a:t>
            </a:r>
          </a:p>
          <a:p xmlns:a="http://schemas.openxmlformats.org/drawingml/2006/main">
            <a:r>
              <a:t>오른쪽 그림에서 모델은 작은 조각만 보고, 사용자는 그 조각들을 한 작업으로 연결합니다</a:t>
            </a:r>
          </a:p>
          <a:p xmlns:a="http://schemas.openxmlformats.org/drawingml/2006/main">
            <a:r>
              <a:t>Anthropic은 2025년 보고서에서 공격자가 전체 악의적인 목적을 숨기고 작은 과제로 나누어 Claude를 이용했다고 설명했습니다</a:t>
            </a:r>
          </a:p>
          <a:p xmlns:a="http://schemas.openxmlformats.org/drawingml/2006/main">
            <a:r>
              <a:t>이 보고서는 회사가 조사한 실제 오용 사례에 관한 발표이며, 앞 슬라이드의 가상 협박 실험과 구분해야 합니다</a:t>
            </a:r>
          </a:p>
          <a:p xmlns:a="http://schemas.openxmlformats.org/drawingml/2006/main">
            <a:r>
              <a:t>개별 문장뿐 아니라 전체 작업의 목적을 보는 일이 왜 필요한지 생각해보겠습니다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Landscape of technical solutions.pdf, p. 9</a:t>
            </a:r>
          </a:p>
          <a:p xmlns:a="http://schemas.openxmlformats.org/drawingml/2006/main">
            <a:r>
              <a:t>https://www.anthropic.com/news/disrupting-AI-espionage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번째 질문에서는 위험한 요청을 거절하도록 학습하는 방법과 위험한 정보를 학습 전에 걸러내는 방법을 비교해보겠습니다</a:t>
            </a:r>
          </a:p>
          <a:p xmlns:a="http://schemas.openxmlformats.org/drawingml/2006/main">
            <a:r>
              <a:t>같은 지식이 방어와 공격에 모두 쓰일 수 있다는 점도 고려해야 합니다</a:t>
            </a:r>
          </a:p>
          <a:p xmlns:a="http://schemas.openxmlformats.org/drawingml/2006/main">
            <a:r>
              <a:t>정보를 전부 제거하면 정당한 보안 연구나 방어 작업에도 영향을 줄 수 있습니다</a:t>
            </a:r>
          </a:p>
          <a:p xmlns:a="http://schemas.openxmlformats.org/drawingml/2006/main">
            <a:r>
              <a:t>두 번째 질문에서는 작업을 잘게 나누는 경우를 생각해보겠습니다</a:t>
            </a:r>
          </a:p>
          <a:p xmlns:a="http://schemas.openxmlformats.org/drawingml/2006/main">
            <a:r>
              <a:t>현재 요청 하나만 볼지, 대화 전체를 볼지, 여러 작업 기록까지 볼지 제안해보시오</a:t>
            </a:r>
          </a:p>
          <a:p xmlns:a="http://schemas.openxmlformats.org/drawingml/2006/main">
            <a:r>
              <a:t>범위를 넓히면 맥락을 더 볼 수 있지만 비용과 개인정보 같은 문제도 함께 고려해야 합니다</a:t>
            </a:r>
          </a:p>
          <a:p xmlns:a="http://schemas.openxmlformats.org/drawingml/2006/main">
            <a:r>
              <a:t>세 번째 질문은 공개 가중치 모델입니다</a:t>
            </a:r>
          </a:p>
          <a:p xmlns:a="http://schemas.openxmlformats.org/drawingml/2006/main">
            <a:r>
              <a:t>사용자가 가중치를 내려받아 직접 실행하고 수정할 수 있는 모델을 뜻합니다</a:t>
            </a:r>
          </a:p>
          <a:p xmlns:a="http://schemas.openxmlformats.org/drawingml/2006/main">
            <a:r>
              <a:t>중앙 서버에서 요청을 차단하는 방법만으로는 모든 사용을 통제하기 어렵습니다</a:t>
            </a:r>
          </a:p>
          <a:p xmlns:a="http://schemas.openxmlformats.org/drawingml/2006/main">
            <a:r>
              <a:t>어떤 보호 장치가 수정에도 버틸 수 있을지 생각해보시오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Landscape of technical solutions.pdf, p.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원본이 제시하는 해결책은 서로 다른 위치에 보호 장치를 두는 것입니다</a:t>
            </a:r>
          </a:p>
          <a:p xmlns:a="http://schemas.openxmlformats.org/drawingml/2006/main">
            <a:r>
              <a:t>데이터 필터링은 학습 전에 자료를 선별하는 방법입니다</a:t>
            </a:r>
          </a:p>
          <a:p xmlns:a="http://schemas.openxmlformats.org/drawingml/2006/main">
            <a:r>
              <a:t>Unlearning은 이미 학습한 특정 정보나 행동의 영향을 줄이려는 연구입니다</a:t>
            </a:r>
          </a:p>
          <a:p xmlns:a="http://schemas.openxmlformats.org/drawingml/2006/main">
            <a:r>
              <a:t>완전히 지웠는지 확인하기 어려울 수 있어 별도의 평가가 필요합니다</a:t>
            </a:r>
          </a:p>
          <a:p xmlns:a="http://schemas.openxmlformats.org/drawingml/2006/main">
            <a:r>
              <a:t>외부 분류기는 모델 밖에서 요청이나 출력이 위험한지 판단하는 장치입니다</a:t>
            </a:r>
          </a:p>
          <a:p xmlns:a="http://schemas.openxmlformats.org/drawingml/2006/main">
            <a:r>
              <a:t>모니터링은 모델이 실제로 어떤 요청과 행동을 수행하는지 관찰하는 것입니다</a:t>
            </a:r>
          </a:p>
          <a:p xmlns:a="http://schemas.openxmlformats.org/drawingml/2006/main">
            <a:r>
              <a:t>작게 나눈 요청을 찾으려면 한 문장뿐 아니라 대화, 세션, 계정의 작업 맥락을 함께 볼 수 있습니다</a:t>
            </a:r>
          </a:p>
          <a:p xmlns:a="http://schemas.openxmlformats.org/drawingml/2006/main">
            <a:r>
              <a:t>공개 가중치 모델에서는 사용자가 추가 학습으로 안전 장치를 바꿀 수 있습니다</a:t>
            </a:r>
          </a:p>
          <a:p xmlns:a="http://schemas.openxmlformats.org/drawingml/2006/main">
            <a:r>
              <a:t>Tamper Resistant Safeguards 연구는 이런 수정 시도에도 보호 장치가 유지되도록 학습하는 접근을 다룹니다</a:t>
            </a:r>
          </a:p>
          <a:p xmlns:a="http://schemas.openxmlformats.org/drawingml/2006/main">
            <a:r>
              <a:t>이 연구가 모든 수정이나 모든 공격을 막는다는 뜻은 아닙니다</a:t>
            </a:r>
          </a:p>
          <a:p xmlns:a="http://schemas.openxmlformats.org/drawingml/2006/main">
            <a:r>
              <a:t>검증한 공격 조건에서 얼마나 견디는지와 남는 실패를 함께 확인해야 합니다</a:t>
            </a:r>
          </a:p>
          <a:p xmlns:a="http://schemas.openxmlformats.org/drawingml/2006/main">
            <a:r>
              <a:t>토론에서 제안한 해결책이 이 표의 어느 위치에 해당하는지 연결해보겠습니다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Landscape of technical solutions.pdf, p. 11</a:t>
            </a:r>
          </a:p>
          <a:p xmlns:a="http://schemas.openxmlformats.org/drawingml/2006/main">
            <a:r>
              <a:t>https://arxiv.org/abs/2408.00761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기술적 AI 안전에는 오늘 살펴본 접근 외에도 여러 연구 분야가 있습니다</a:t>
            </a:r>
          </a:p>
          <a:p xmlns:a="http://schemas.openxmlformats.org/drawingml/2006/main">
            <a:r>
              <a:t>Mechanistic interpretability는 모델 내부에서 어떤 계산이 일어나는지 설명하려는 분야입니다</a:t>
            </a:r>
          </a:p>
          <a:p xmlns:a="http://schemas.openxmlformats.org/drawingml/2006/main">
            <a:r>
              <a:t>모델이 말로 제공하는 설명만으로 내부 계산을 직접 알 수 있는 것은 아닙니다</a:t>
            </a:r>
          </a:p>
          <a:p xmlns:a="http://schemas.openxmlformats.org/drawingml/2006/main">
            <a:r>
              <a:t>왼쪽 그림은 모델 내부의 일부 계산을 살펴보는 개념도입니다</a:t>
            </a:r>
          </a:p>
          <a:p xmlns:a="http://schemas.openxmlformats.org/drawingml/2006/main">
            <a:r>
              <a:t>Multi agent collusion은 여러 에이전트가 허가되지 않은 방식으로 협력해 문제가 커지는 경우를 다룹니다</a:t>
            </a:r>
          </a:p>
          <a:p xmlns:a="http://schemas.openxmlformats.org/drawingml/2006/main">
            <a:r>
              <a:t>Hugging Face 사건에서는 서로 독립적으로 일해야 할 에이전트들이 게시판을 만들어 정보를 공유하고 협력했습니다</a:t>
            </a:r>
          </a:p>
          <a:p xmlns:a="http://schemas.openxmlformats.org/drawingml/2006/main">
            <a:r>
              <a:t>원본은 이 게시판에 약 1,200개의 AI가 참여했다고 소개하지만, 여기서는 규모보다 허가되지 않은 협력이 위험을 키웠다는 점에 초점을 맞춥니다</a:t>
            </a:r>
          </a:p>
          <a:p xmlns:a="http://schemas.openxmlformats.org/drawingml/2006/main">
            <a:r>
              <a:t>정상적으로 허가된 협업 자체가 문제라는 뜻은 아닙니다</a:t>
            </a:r>
          </a:p>
          <a:p xmlns:a="http://schemas.openxmlformats.org/drawingml/2006/main">
            <a:r>
              <a:t>Scalable oversight는 인간보다 특정 과제를 잘하는 AI를 어떻게 감독할지, 많은 AI를 어떻게 지속해서 감독할지 다룹니다</a:t>
            </a:r>
          </a:p>
          <a:p xmlns:a="http://schemas.openxmlformats.org/drawingml/2006/main">
            <a:r>
              <a:t>AI control은 모델이 안전하다고 완전히 확신하지 못하는 상황에서도 권한과 실행 환경을 제한해 통제를 유지하려는 접근입니다</a:t>
            </a:r>
          </a:p>
          <a:p xmlns:a="http://schemas.openxmlformats.org/drawingml/2006/main">
            <a:r>
              <a:t>아래 세 자료는 원본이 제안한 추가 읽을거리입니다</a:t>
            </a:r>
          </a:p>
          <a:p xmlns:a="http://schemas.openxmlformats.org/drawingml/2006/main">
            <a:r>
              <a:t>지금 배우는 모델 구현과 수학은 이 연구들을 이해하고 직접 실험하는 데 필요한 기초가 됩니다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Landscape of technical solutions.pdf, p. 12</a:t>
            </a:r>
          </a:p>
          <a:p xmlns:a="http://schemas.openxmlformats.org/drawingml/2006/main">
            <a:r>
              <a:t>https://openai.com/index/hugging-face-incident-and-the-road-ahead/</a:t>
            </a:r>
          </a:p>
          <a:p xmlns:a="http://schemas.openxmlformats.org/drawingml/2006/main">
            <a:r>
              <a:t>https://shallowreview.ai/</a:t>
            </a:r>
          </a:p>
          <a:p xmlns:a="http://schemas.openxmlformats.org/drawingml/2006/main">
            <a:r>
              <a:t>https://bluedot.org/courses/technical-ai-safety</a:t>
            </a:r>
          </a:p>
          <a:p xmlns:a="http://schemas.openxmlformats.org/drawingml/2006/main">
            <a:r>
              <a:t>https://arxiv.org/abs/1606.06565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bad403d9b41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a5c1eabdc84fe7" /><Relationship Type="http://schemas.openxmlformats.org/officeDocument/2006/relationships/slideLayout" Target="/ppt/slideLayouts/slideLayout1.xml" Id="Ra99356cb16de48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9356cb16de48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d59fba2bc4ce5" /><Relationship Type="http://schemas.openxmlformats.org/officeDocument/2006/relationships/image" Target="/ppt/media/image.jpeg" Id="R405e9d620e674713" /><Relationship Type="http://schemas.openxmlformats.org/officeDocument/2006/relationships/notesSlide" Target="/ppt/notesSlides/notesSlide1.xml" Id="R0975899e024748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3b245eb764116" /><Relationship Type="http://schemas.openxmlformats.org/officeDocument/2006/relationships/image" Target="/ppt/media/image.png" Id="R6aa5b4ac3b234cdc" /><Relationship Type="http://schemas.openxmlformats.org/officeDocument/2006/relationships/notesSlide" Target="/ppt/notesSlides/notesSlide2.xml" Id="R1adb657f2af143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65dd198be4925" /><Relationship Type="http://schemas.openxmlformats.org/officeDocument/2006/relationships/notesSlide" Target="/ppt/notesSlides/notesSlide3.xml" Id="R646f0666fc0a44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475a0b8c04e7c" /><Relationship Type="http://schemas.openxmlformats.org/officeDocument/2006/relationships/notesSlide" Target="/ppt/notesSlides/notesSlide4.xml" Id="R2e6bd35c26214f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b449daff74b2a" /><Relationship Type="http://schemas.openxmlformats.org/officeDocument/2006/relationships/notesSlide" Target="/ppt/notesSlides/notesSlide5.xml" Id="R51a19d36a0614e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31fdd4e7d4d08" /><Relationship Type="http://schemas.openxmlformats.org/officeDocument/2006/relationships/image" Target="/ppt/media/image2.png" Id="R0b4c4b1fe561405f" /><Relationship Type="http://schemas.openxmlformats.org/officeDocument/2006/relationships/notesSlide" Target="/ppt/notesSlides/notesSlide6.xml" Id="R5a964c1af51343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869e127f04d37" /><Relationship Type="http://schemas.openxmlformats.org/officeDocument/2006/relationships/notesSlide" Target="/ppt/notesSlides/notesSlide7.xml" Id="R2e6879db0e9847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ee68d2d4a424d" /><Relationship Type="http://schemas.openxmlformats.org/officeDocument/2006/relationships/notesSlide" Target="/ppt/notesSlides/notesSlide8.xml" Id="Raa6248561c8341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6c07dadff4e4f" /><Relationship Type="http://schemas.openxmlformats.org/officeDocument/2006/relationships/image" Target="/ppt/media/image3.png" Id="R8dce82d832234b5e" /><Relationship Type="http://schemas.openxmlformats.org/officeDocument/2006/relationships/notesSlide" Target="/ppt/notesSlides/notesSlide9.xml" Id="R31d461b8c79841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b73d7118749b0" /><Relationship Type="http://schemas.openxmlformats.org/officeDocument/2006/relationships/notesSlide" Target="/ppt/notesSlides/notesSlide10.xml" Id="R335d3107824744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0140f190b41d0" /><Relationship Type="http://schemas.openxmlformats.org/officeDocument/2006/relationships/notesSlide" Target="/ppt/notesSlides/notesSlide11.xml" Id="Rd01cb952715245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04a154ad44b8b" /><Relationship Type="http://schemas.openxmlformats.org/officeDocument/2006/relationships/image" Target="/ppt/media/image4.png" Id="R90320ff629e74f25" /><Relationship Type="http://schemas.openxmlformats.org/officeDocument/2006/relationships/hyperlink" Target="https://shallowreview.ai/" TargetMode="External" Id="R3235b5574bfa482c" /><Relationship Type="http://schemas.openxmlformats.org/officeDocument/2006/relationships/hyperlink" Target="https://bluedot.org/courses/technical-ai-safety" TargetMode="External" Id="R06988c6bd2e44ef6" /><Relationship Type="http://schemas.openxmlformats.org/officeDocument/2006/relationships/hyperlink" Target="https://arxiv.org/abs/1606.06565" TargetMode="External" Id="R080aae083fd4415e" /><Relationship Type="http://schemas.openxmlformats.org/officeDocument/2006/relationships/notesSlide" Target="/ppt/notesSlides/notesSlide12.xml" Id="R4698f79d976349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E1374-79EA-4B40-8485-67CC7890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01 보상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B7C24-A790-4771-8AF0-298CEF6E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보상과 실제 목표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B678B-CE1D-4F38-B464-307493BB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504C5-8D27-47ED-B4F1-6461A0EA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3BDC9-7E27-4A8B-845C-94B46FDF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점수가 높아도, 우리가 원한 일을 했다고 볼 수 있을까?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DAECC-52E9-4D27-A986-BBEBAB36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971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A3792-9B55-4F3A-96BD-8E699595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0225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보트 경주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BA0B2-9F4F-4E16-B65C-5A09B5F8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28850"/>
            <a:ext cx="4362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완주 대신 아이템을 반복 수집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F17F3-AB27-48A6-99C6-B91D64A2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971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F5FBB-5BDD-4218-A188-556A2554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코딩 모델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7D5E5-A642-4D65-81B8-434C14D0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57575"/>
            <a:ext cx="4362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코드 대신 테스트를 바꿔 통과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3A20C-B657-4789-B328-1631A263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971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039CF-FDF2-4A37-AD3C-95F6EFBF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57675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Hugging Face 사건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50FB8-4968-4281-9B1F-686229D8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4362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평가 정답을 얻으려 외부 시스템 침해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e9d620e674713"/>
          <a:stretch xmlns:a="http://schemas.openxmlformats.org/drawingml/2006/main"/>
        </p:blipFill>
        <p:spPr>
          <a:xfrm xmlns:a="http://schemas.openxmlformats.org/drawingml/2006/main">
            <a:off x="6530340" y="1943100"/>
            <a:ext cx="5008245" cy="3771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F1840-958C-4D77-9273-3FC17DDD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657350"/>
            <a:ext cx="5057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CoastRunners</a:t>
            </a:r>
          </a:p>
        </p:txBody>
      </p:sp>
    </p:spTree>
    <p:extLst>
      <p:ext uri="{BB962C8B-B14F-4D97-AF65-F5344CB8AC3E}">
        <p14:creationId xmlns:p14="http://schemas.microsoft.com/office/powerpoint/2010/main" val="208169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A6398-44DD-43D7-BBCB-BED9E594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01 보상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44002-3E64-4008-A759-E169612E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높은 점수, 엉뚱한 행동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952F8-3623-4144-BDBE-CCFD236D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2306A-48E4-4BC3-97A3-B521F610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35184-AD6E-475A-8C62-92F9EBC3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6482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왜 이런 일이</a:t>
            </a:r>
          </a:p>
          <a:p xmlns:a="http://schemas.openxmlformats.org/drawingml/2006/main">
            <a:pPr algn="l">
              <a:defRPr sz="43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생길까?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6404A-EDED-4829-838F-4603FD6E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1924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사람의 목표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BA497-672A-430A-BC66-AD357020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048125"/>
            <a:ext cx="2438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경주 완주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E66F9-EB73-4099-B4EA-344019BE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76775"/>
            <a:ext cx="1924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모델의 보상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C9EBC-EF96-441C-879A-7899E41A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48200"/>
            <a:ext cx="2438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아이템 점수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5b4ac3b234cdc"/>
          <a:stretch xmlns:a="http://schemas.openxmlformats.org/drawingml/2006/main"/>
        </p:blipFill>
        <p:spPr>
          <a:xfrm xmlns:a="http://schemas.openxmlformats.org/drawingml/2006/main">
            <a:off x="5343525" y="1597025"/>
            <a:ext cx="6238875" cy="4159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C24A0-EA04-4E83-80E5-A191C36E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측정한 점수와 실제 목표 사이의 틈</a:t>
            </a:r>
          </a:p>
        </p:txBody>
      </p:sp>
    </p:spTree>
    <p:extLst>
      <p:ext uri="{BB962C8B-B14F-4D97-AF65-F5344CB8AC3E}">
        <p14:creationId xmlns:p14="http://schemas.microsoft.com/office/powerpoint/2010/main" val="18938992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D998D-F1B3-4C97-A7A7-FB939218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01 보상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6B9BA-A98B-4C4C-B652-A1CDECB1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문제의 원인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370F0-B2C9-4762-8294-B8E0B021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F6321-E50A-466F-84E9-3FAB6775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1FBC3-7018-4951-B49B-D5D3569F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사람이 정한 학습 방식이 원치 않는 행동을 유도할 수 있음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8676D-CC28-4A81-8187-6F02DEC5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794CF-D7A4-454C-8AED-2341534B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47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결과만 평가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F5988-9ED5-4A90-8EBF-FA5F16C4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34004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성공 여부만 보상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2D026-8C5E-4C6B-AC7F-6530D6C9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35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과정의 편법을 놓칠 수 있음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91DA6-954C-4FE8-AADA-37EA84EF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D28D7-D4EB-428B-BDB8-ED90A23B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90850"/>
            <a:ext cx="347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목표를 대신한 지표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4ECB2-A3E0-4E61-8A70-6453CBB1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24275"/>
            <a:ext cx="34004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점수와 실제 목표의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14E64-48E2-4FD6-A6F2-FA62860D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48200"/>
            <a:ext cx="335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사용자 만족이 항상 안전을 뜻하지 않음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E9C9B-CC3A-4227-A454-2849F41A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8192C-17AA-42B0-AB97-D73856BD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347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멈출 선택지 부족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DA591-6050-4575-867F-FF16D8FC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24275"/>
            <a:ext cx="34004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성공 1점, 나머지 0점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1597E-33BA-4481-B379-6C482649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48200"/>
            <a:ext cx="335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모르거나 못할 때도 무리하게 시도</a:t>
            </a:r>
          </a:p>
        </p:txBody>
      </p:sp>
    </p:spTree>
    <p:extLst>
      <p:ext uri="{BB962C8B-B14F-4D97-AF65-F5344CB8AC3E}">
        <p14:creationId xmlns:p14="http://schemas.microsoft.com/office/powerpoint/2010/main" val="1703367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52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A3982-964E-4BE6-95E4-BC6CA49C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01 보상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E1157-CFB9-41CA-8704-A077EB55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3F2EF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F3F2EF"/>
                </a:solidFill>
                <a:latin typeface="Noto Sans KR"/>
                <a:ea typeface="Noto Sans KR"/>
                <a:cs typeface="Noto Sans KR"/>
              </a:rPr>
              <a:t>보상 설계 토론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471A8-A75C-46F0-AC99-1703084B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5AFA6-803D-4D23-A760-6A760F12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F0B2F-361C-4FB4-B353-06A03817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98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E2BFC-9E39-4F12-A82F-0001B5C9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2288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2EF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F3F2EF"/>
                </a:solidFill>
                <a:latin typeface="Noto Sans KR"/>
                <a:ea typeface="Noto Sans KR"/>
                <a:cs typeface="Noto Sans KR"/>
              </a:rPr>
              <a:t>어떤 해결책을 제안할 수 있을까?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18969-8DF9-46C7-A656-5ACF2C13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13372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결과 평가, 대리 지표, 중단 선택지를 떠올려보시오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6A49F-6530-4620-B981-806A9941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98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51DBC-BFEA-4E85-A074-E11C278A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9433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2EF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F3F2EF"/>
                </a:solidFill>
                <a:latin typeface="Noto Sans KR"/>
                <a:ea typeface="Noto Sans KR"/>
                <a:cs typeface="Noto Sans KR"/>
              </a:rPr>
              <a:t>그 해결책은 어떤 원인을 줄일까?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29D1A-8420-493D-ADDF-BE5384AF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84822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문제의 원인과 해결책을 연결해보시오</a:t>
            </a:r>
          </a:p>
        </p:txBody>
      </p:sp>
    </p:spTree>
    <p:extLst>
      <p:ext uri="{BB962C8B-B14F-4D97-AF65-F5344CB8AC3E}">
        <p14:creationId xmlns:p14="http://schemas.microsoft.com/office/powerpoint/2010/main" val="11292200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1E3D7-D59B-48D8-A204-D0A6EEE4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01 보상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EA510-F9D4-44EF-942E-4E542955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보상 설계의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DAB43-32F7-4CA4-9FFB-84A25620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7EBF3-4BDD-43B1-8A6D-80972A97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690A6-50DD-4895-AEA6-5CCC4460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보상의 기준을 넓히고, 안전한 중단도 학습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409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09825"/>
                <a:gridCol w="3609975"/>
                <a:gridCol w="4953000"/>
              </a:tblGrid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문제</a:t>
                      </a:r>
                    </a:p>
                  </a:txBody>
                  <a:tcPr marL="209550" marR="171450" marT="152400" marB="152400" anchor="ctr">
                    <a:solidFill>
                      <a:srgbClr val="25252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접근</a:t>
                      </a:r>
                    </a:p>
                  </a:txBody>
                  <a:tcPr marL="209550" marR="171450" marT="152400" marB="152400" anchor="ctr">
                    <a:solidFill>
                      <a:srgbClr val="25252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학습할 내용</a:t>
                      </a:r>
                    </a:p>
                  </a:txBody>
                  <a:tcPr marL="209550" marR="171450" marT="152400" marB="152400" anchor="ctr">
                    <a:solidFill>
                      <a:srgbClr val="252525"/>
                    </a:solidFill>
                  </a:tcPr>
                </a:tc>
              </a:tr>
              <a:tr h="914400">
                <a:tc>
                  <a:txBody>
                    <a:bodyPr anchor="ctr"/>
                    <a:lstStyle/>
                    <a:p>
                      <a:pPr algn="l"/>
                      <a:r>
                        <a:rPr sz="2025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결과만 평가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Process supervision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답뿐 아니라 풀이 과정도 평가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</a:tr>
              <a:tr h="914400">
                <a:tc>
                  <a:txBody>
                    <a:bodyPr anchor="ctr"/>
                    <a:lstStyle/>
                    <a:p>
                      <a:pPr algn="l"/>
                      <a:r>
                        <a:rPr sz="2025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목표와 지표의 차이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RLHF · Constitutional AI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사람의 선호와 명시한 원칙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</a:tr>
              <a:tr h="914400">
                <a:tc>
                  <a:txBody>
                    <a:bodyPr anchor="ctr"/>
                    <a:lstStyle/>
                    <a:p>
                      <a:pPr algn="l"/>
                      <a:r>
                        <a:rPr sz="2025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멈출 선택지 부족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정직함과 중단의 학습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모름을 표현하고 안전하게 멈추기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039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3DB8B-484B-4D4F-A3B7-68DE95E0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02 AI 평가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D5629-FAFC-484F-8ACB-B547174C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평가의 빈틈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F63E5-0E39-4219-B050-4B771ADE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F76CC-98C3-46D2-9B19-E5484A98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00DCE-9C93-401F-9181-FD2055C9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2026 Hugging Face 사건: 평가 중 허용된 범위를 넘어 외부 시스템 침해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DFDC1-5AD5-4B4C-BA68-62AE525A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범용 능력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E5D37-52F3-4BB6-B605-7BAE996C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952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다음 토큰 예측 학습에서 다양한 능력을 습득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B78A9-435A-401D-97AD-F15E6433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일반화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1F80E-09E4-493C-89CA-5ACD343D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3952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한 과제의 학습이 다른 과제에도 영향을 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1A044-1E9B-423D-9BBD-9EB8ACAF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실제 환경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20470-C8E9-4090-B2EB-A08D725A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3952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시험 문제보다 훨씬 다양한 상황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c4b1fe561405f"/>
          <a:stretch xmlns:a="http://schemas.openxmlformats.org/drawingml/2006/main"/>
        </p:blipFill>
        <p:spPr>
          <a:xfrm xmlns:a="http://schemas.openxmlformats.org/drawingml/2006/main">
            <a:off x="5103019" y="1638300"/>
            <a:ext cx="6129338" cy="40862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5E879-AA64-493F-9A35-0ADCA3CD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3435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제한된 시험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3C345-3AFA-46DE-BB70-938E70FF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43525"/>
            <a:ext cx="320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다양한 실제 상황</a:t>
            </a:r>
          </a:p>
        </p:txBody>
      </p:sp>
    </p:spTree>
    <p:extLst>
      <p:ext uri="{BB962C8B-B14F-4D97-AF65-F5344CB8AC3E}">
        <p14:creationId xmlns:p14="http://schemas.microsoft.com/office/powerpoint/2010/main" val="11009670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B3F0E-B2A8-49AE-8228-D8F582C3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02 AI 평가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03BE6-A9B6-40A8-925F-F0180C82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안전한 평가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CEF6F-B8C6-48CB-A593-9E7A42AB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F795F-4854-41DB-A512-46EDB2BD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716B2-0830-46BA-B7AA-158FB6E1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98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3FB98-0E43-4C7A-A52E-A1244A86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933575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AI의 안전성을 어떻게 평가할까?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CCE50-6938-49F6-8A87-85B7CC57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83845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무엇을 측정할지 먼저 정해보시오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9D476-433C-44DD-A782-68D82931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98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C9CAD-38BB-435D-BC85-322CA252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3147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실제 피해 없이 위험한 행동을 시험하려면?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64911-EAC8-4CD7-86F5-6D3C573C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21957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가짜 데이터와 격리된 환경을 생각해보시오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47A96-E5CC-4F35-9FAC-12E47669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98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ADB5E-1BB0-4406-B5F0-9CD5F85E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95825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현실과 더 가까운 시험을 만들려면?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58FCA-E7D7-4A88-ABCE-7E31D075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6007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실제 사용 조건에서 빠진 요소를 찾아보시오</a:t>
            </a:r>
          </a:p>
        </p:txBody>
      </p:sp>
    </p:spTree>
    <p:extLst>
      <p:ext uri="{BB962C8B-B14F-4D97-AF65-F5344CB8AC3E}">
        <p14:creationId xmlns:p14="http://schemas.microsoft.com/office/powerpoint/2010/main" val="16468411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51927-9CCB-4B09-80F4-501A1EC3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02 AI 평가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1048D-60F5-440E-BA91-B92F995D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능력과 행동의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F3E67-4E9D-4440-BF12-72C59A2B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B9BF9-A5DC-45B0-8FDD-0590514C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47099-8B37-464C-94F4-AD5B82D9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위험 수준에 따른 보호 조치를 평가 전에 약속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3907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86400"/>
                <a:gridCol w="5486400"/>
              </a:tblGrid>
              <a:tr h="581025">
                <a:tc>
                  <a:txBody>
                    <a:bodyPr anchor="ctr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Capability  능력</a:t>
                      </a:r>
                    </a:p>
                  </a:txBody>
                  <a:tcPr marL="209550" marR="171450" marT="152400" marB="152400" anchor="ctr">
                    <a:solidFill>
                      <a:srgbClr val="EE510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Propensity  행동 경향</a:t>
                      </a:r>
                    </a:p>
                  </a:txBody>
                  <a:tcPr marL="209550" marR="171450" marT="152400" marB="152400" anchor="ctr">
                    <a:solidFill>
                      <a:srgbClr val="252525"/>
                    </a:solidFill>
                  </a:tcPr>
                </a:tc>
              </a:tr>
              <a:tr h="723900">
                <a:tc>
                  <a:txBody>
                    <a:bodyPr anchor="ctr"/>
                    <a:lstStyle/>
                    <a:p>
                      <a:pPr algn="l"/>
                      <a:r>
                        <a:rPr sz="2025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위험한 일을 할 수 있는가?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 상황에서 위험한 행동을 선택하는가?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</a:tr>
              <a:tr h="1085850">
                <a:tc>
                  <a:txBody>
                    <a:bodyPr anchor="ctr"/>
                    <a:lstStyle/>
                    <a:p>
                      <a:pPr algn="l"/>
                      <a:r>
                        <a:rPr sz="2025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외부 전문가 평가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엄격한 격리와 감시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25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모의 상황에서 선택 관찰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충돌과 중단 상황 시험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9B96C-A209-4BB0-ABFE-C54C1AEC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2025 Anthropic 실험: 가상의 회사에서 종료를 막으려 협박하는 행동 관찰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4972050"/>
          <a:ext xmlns:a="http://schemas.openxmlformats.org/drawingml/2006/main" cx="10972800" cy="762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43200"/>
                <a:gridCol w="2743200"/>
                <a:gridCol w="2743200"/>
                <a:gridCol w="2743200"/>
              </a:tblGrid>
              <a:tr h="381000">
                <a:tc>
                  <a:txBody>
                    <a:bodyPr anchor="ctr"/>
                    <a:lstStyle/>
                    <a:p>
                      <a:pPr algn="l"/>
                      <a:r>
                        <a:rPr sz="1650" b="1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ASL 1</a:t>
                      </a:r>
                    </a:p>
                  </a:txBody>
                  <a:tcPr marL="161925" marR="161925" marT="57150" marB="5715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650" b="1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ASL 2</a:t>
                      </a:r>
                    </a:p>
                  </a:txBody>
                  <a:tcPr marL="161925" marR="161925" marT="57150" marB="5715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650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ASL 3</a:t>
                      </a:r>
                    </a:p>
                  </a:txBody>
                  <a:tcPr marL="161925" marR="161925" marT="57150" marB="57150" anchor="ctr">
                    <a:solidFill>
                      <a:srgbClr val="FAD8C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650" b="1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ASL 4 이상</a:t>
                      </a:r>
                    </a:p>
                  </a:txBody>
                  <a:tcPr marL="161925" marR="161925" marT="57150" marB="57150" anchor="ctr">
                    <a:solidFill>
                      <a:srgbClr val="E5E4E0"/>
                    </a:solidFill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l"/>
                      <a:r>
                        <a:rPr sz="1575" b="0">
                          <a:solidFill>
                            <a:srgbClr val="6868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작은 모델</a:t>
                      </a:r>
                    </a:p>
                  </a:txBody>
                  <a:tcPr marL="161925" marR="161925" marT="57150" marB="571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575" b="0">
                          <a:solidFill>
                            <a:srgbClr val="6868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당시 대형 모델</a:t>
                      </a:r>
                    </a:p>
                  </a:txBody>
                  <a:tcPr marL="161925" marR="161925" marT="57150" marB="571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575" b="0">
                          <a:solidFill>
                            <a:srgbClr val="6868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 수준 증가</a:t>
                      </a:r>
                    </a:p>
                  </a:txBody>
                  <a:tcPr marL="161925" marR="161925" marT="57150" marB="571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575" b="0">
                          <a:solidFill>
                            <a:srgbClr val="68686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가정적인 단계</a:t>
                      </a:r>
                    </a:p>
                  </a:txBody>
                  <a:tcPr marL="161925" marR="161925" marT="57150" marB="57150" anchor="ctr"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8785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AA4DB-BBAE-4986-94A1-42D43C74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03 오용과 견고성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9C3A3-9CA2-4FF8-A06B-DF85E3F4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안전한 AI의 오용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2D3A0-31DE-4FDE-A0F5-9E791000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8575E-6E3F-4541-AFED-8D9791B5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0608B-7AFC-4311-A551-53C2338A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겉보기에는 평범한 요청도, 연결하면 위험한 작업이 될 수 있음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F12EC-C45C-4B04-949D-8926261D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971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함께 학습하는 지식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4B5AF-FFAA-48B6-8B39-D114B743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971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유익한 지식과 위험한 지식이 섞일 수 있음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A4C80-3021-4F32-869F-FE8E8F98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971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Jailbreak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5FEC4-091B-4660-855C-C44D3B2F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3971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거절하도록 학습한 요청을 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5C68B-EBA1-4A5F-B9AE-4F2617BA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971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잘게 나눈 요청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A8740-274C-42C7-B5B6-EA5643B7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971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개별 요청만 보면 전체 목적을 놓칠 수 있음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e82d832234b5e"/>
          <a:stretch xmlns:a="http://schemas.openxmlformats.org/drawingml/2006/main"/>
        </p:blipFill>
        <p:spPr>
          <a:xfrm xmlns:a="http://schemas.openxmlformats.org/drawingml/2006/main">
            <a:off x="5148263" y="1695450"/>
            <a:ext cx="6115050" cy="407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EA451-7986-482D-B044-0CB1082D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81625"/>
            <a:ext cx="2162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개별 요청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3CC28-2D27-473E-B234-CF55AE7E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381625"/>
            <a:ext cx="3105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숨겨진 전체 목적</a:t>
            </a:r>
          </a:p>
        </p:txBody>
      </p:sp>
    </p:spTree>
    <p:extLst>
      <p:ext uri="{BB962C8B-B14F-4D97-AF65-F5344CB8AC3E}">
        <p14:creationId xmlns:p14="http://schemas.microsoft.com/office/powerpoint/2010/main" val="20361794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52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CACA3-9F42-45DB-802E-0C4770CD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03 오용과 견고성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42DB6-E373-40A0-B166-58FD2D3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3F2EF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F3F2EF"/>
                </a:solidFill>
                <a:latin typeface="Noto Sans KR"/>
                <a:ea typeface="Noto Sans KR"/>
                <a:cs typeface="Noto Sans KR"/>
              </a:rPr>
              <a:t>오용 방지 토론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25AB2-F70F-4A69-AECD-BF36D06B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06201-EBDD-4935-82A9-930A0FB1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BF3D8-09C5-4253-BE8E-0848BAC5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98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6C162-E27D-4757-85C1-BDE1017A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933575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2EF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F3F2EF"/>
                </a:solidFill>
                <a:latin typeface="Noto Sans KR"/>
                <a:ea typeface="Noto Sans KR"/>
                <a:cs typeface="Noto Sans KR"/>
              </a:rPr>
              <a:t>위험한 요청을 거절하게 할까, 지식을 배우지 않게 할까?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953BD-5193-4E02-B84A-E266B8CE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83845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각 방법의 장점과 한계를 비교해보시오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FBF7E-AF23-4769-90FD-226587CE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98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15B93-C26A-4AF4-BFAE-7720FE8C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3147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2EF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F3F2EF"/>
                </a:solidFill>
                <a:latin typeface="Noto Sans KR"/>
                <a:ea typeface="Noto Sans KR"/>
                <a:cs typeface="Noto Sans KR"/>
              </a:rPr>
              <a:t>작게 나눈 요청의 전체 목적은 어떻게 파악할까?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2BEB6-4D6C-408A-9CBC-5E3EF08D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21957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어디까지 연결해서 볼지 정해보시오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3D7F0-B054-4456-9B11-5D0FE888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98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7A574-CED4-44DB-AAD2-3AFA6E2B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95825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2EF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F3F2EF"/>
                </a:solidFill>
                <a:latin typeface="Noto Sans KR"/>
                <a:ea typeface="Noto Sans KR"/>
                <a:cs typeface="Noto Sans KR"/>
              </a:rPr>
              <a:t>공개 가중치 모델의 오용은 어떻게 줄일까?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AC1C9-03D3-45BD-BEA6-48A04284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6007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B6B6B6"/>
                </a:solidFill>
                <a:latin typeface="Noto Sans KR"/>
                <a:ea typeface="Noto Sans KR"/>
                <a:cs typeface="Noto Sans KR"/>
              </a:rPr>
              <a:t>사용자가 모델을 수정할 수 있다는 점을 고려해보시오</a:t>
            </a:r>
          </a:p>
        </p:txBody>
      </p:sp>
    </p:spTree>
    <p:extLst>
      <p:ext uri="{BB962C8B-B14F-4D97-AF65-F5344CB8AC3E}">
        <p14:creationId xmlns:p14="http://schemas.microsoft.com/office/powerpoint/2010/main" val="5981981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185D8-4DEE-4FDF-9753-0A09EC49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03 오용과 견고성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85035-035C-413C-BD97-AD871485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오용 방지 접근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FC069-A7C3-4462-AE12-1D8851ED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07E95-E0B7-4186-8E3B-EC7383F7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61733-641F-4C0F-AFF3-A0B22BCB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모델, 실행 과정, 사용 맥락을 함께 살펴보기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6861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09825"/>
                <a:gridCol w="4048125"/>
                <a:gridCol w="4514850"/>
              </a:tblGrid>
              <a:tr h="638175">
                <a:tc>
                  <a:txBody>
                    <a:bodyPr anchor="ctr"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위치</a:t>
                      </a:r>
                    </a:p>
                  </a:txBody>
                  <a:tcPr marL="209550" marR="171450" marT="152400" marB="152400" anchor="ctr">
                    <a:solidFill>
                      <a:srgbClr val="25252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접근</a:t>
                      </a:r>
                    </a:p>
                  </a:txBody>
                  <a:tcPr marL="209550" marR="171450" marT="152400" marB="152400" anchor="ctr">
                    <a:solidFill>
                      <a:srgbClr val="25252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확인할 내용</a:t>
                      </a:r>
                    </a:p>
                  </a:txBody>
                  <a:tcPr marL="209550" marR="171450" marT="152400" marB="152400" anchor="ctr">
                    <a:solidFill>
                      <a:srgbClr val="252525"/>
                    </a:solidFill>
                  </a:tcPr>
                </a:tc>
              </a:tr>
              <a:tr h="762000">
                <a:tc>
                  <a:txBody>
                    <a:bodyPr anchor="ctr"/>
                    <a:lstStyle/>
                    <a:p>
                      <a:pPr algn="l"/>
                      <a:r>
                        <a:rPr sz="1950" b="1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학습 데이터와 모델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 필터링 · Unlearning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위험한 정보의 학습과 활용 감소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</a:tr>
              <a:tr h="762000">
                <a:tc>
                  <a:txBody>
                    <a:bodyPr anchor="ctr"/>
                    <a:lstStyle/>
                    <a:p>
                      <a:pPr algn="l"/>
                      <a:r>
                        <a:rPr sz="1950" b="1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 과정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외부 분류기와 모니터링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요청과 행동의 위험성 확인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</a:tr>
              <a:tr h="762000">
                <a:tc>
                  <a:txBody>
                    <a:bodyPr anchor="ctr"/>
                    <a:lstStyle/>
                    <a:p>
                      <a:pPr algn="l"/>
                      <a:r>
                        <a:rPr sz="1950" b="1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전체 작업 맥락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대화 · 세션 · 계정 단위 관찰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작은 요청을 연결한 전체 목적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</a:tr>
              <a:tr h="762000">
                <a:tc>
                  <a:txBody>
                    <a:bodyPr anchor="ctr"/>
                    <a:lstStyle/>
                    <a:p>
                      <a:pPr algn="l"/>
                      <a:r>
                        <a:rPr sz="1950" b="1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공개 가중치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수정에 견디는 보호 장치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525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학습으로 보호 장치를 제거하는 시도</a:t>
                      </a:r>
                    </a:p>
                  </a:txBody>
                  <a:tcPr marL="209550" marR="171450" marT="152400" marB="152400" anchor="ctr">
                    <a:solidFill>
                      <a:srgbClr val="E5E4E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1732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8188B-19C9-4F33-B4D0-53AD9993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더 살펴볼 분야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8E172-F4F6-42E3-8F0C-46D96CC6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기술적 AI 안전의 연구 분야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EF0DB-B491-48BB-BC87-B61D9510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OZ LAB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89655-089E-4478-9554-36BCBDD1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20ff629e74f25"/>
          <a:stretch xmlns:a="http://schemas.openxmlformats.org/drawingml/2006/main"/>
        </p:blipFill>
        <p:spPr>
          <a:xfrm xmlns:a="http://schemas.openxmlformats.org/drawingml/2006/main">
            <a:off x="542925" y="2111375"/>
            <a:ext cx="4295775" cy="2863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D20FC-E190-4ACC-9571-26321294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8478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내부 계산 이해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8B278-0E0D-49FB-A11A-20A5F3BE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62200"/>
            <a:ext cx="2990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Mechanistic interpretability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447D4-FED8-4776-B521-5392D97F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895600"/>
            <a:ext cx="29622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모델 내부 계산의 원리 이해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67226-482C-466E-9E87-B48D7566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78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에이전트 간 공모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E281E-4D33-4B56-9EEF-4D01C38D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990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Multi agent collusion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BF5F3-9BE3-49D6-B79B-5C44C56C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9622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여러 에이전트의 허가되지 않은 공모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687C0-B930-4114-809C-9366191F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623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확장 가능한 감독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88200-15CA-4FF7-AA58-BEF34703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076700"/>
            <a:ext cx="2990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Scalable oversight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A9C2F-2C8C-41BD-ADE5-D3646269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610100"/>
            <a:ext cx="29622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더 뛰어나고 더 많은 AI를 감독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24227-7CF0-4E0C-A6A6-C240BE9B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52525"/>
                </a:solidFill>
                <a:latin typeface="Noto Sans KR"/>
                <a:ea typeface="Noto Sans KR"/>
                <a:cs typeface="Noto Sans KR"/>
              </a:rPr>
              <a:t>AI 통제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EF3D0-4503-4122-8A46-99EF1B2D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2990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AI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23E35-BCF4-4BE1-991E-CA329831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0100"/>
            <a:ext cx="29622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6868"/>
                </a:solidFill>
                <a:latin typeface="Noto Sans KR"/>
                <a:ea typeface="Noto Sans KR"/>
                <a:cs typeface="Noto Sans KR"/>
              </a:rPr>
              <a:t>안전을 확신하기 어려울 때 행동 통제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E4BB80-9649-49F3-B599-6CBB32D4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>
                <a:hlinkClick xmlns:r="http://schemas.openxmlformats.org/officeDocument/2006/relationships" r:id="R3235b5574bfa482c"/>
              </a:rPr>
              <a:t>Shallow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54C01-7318-46A4-830A-D254C186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848350"/>
            <a:ext cx="3076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>
                <a:hlinkClick xmlns:r="http://schemas.openxmlformats.org/officeDocument/2006/relationships" r:id="R06988c6bd2e44ef6"/>
              </a:rPr>
              <a:t>BlueDot 교육과정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0DD07-3CCB-469C-A93A-384DA58D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848350"/>
            <a:ext cx="481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6868"/>
                </a:solidFill>
                <a:latin typeface="Noto Sans KR"/>
                <a:ea typeface="Noto Sans KR"/>
                <a:cs typeface="Noto Sans KR"/>
              </a:defRPr>
            </a:pPr>
            <a:r>
              <a:rPr>
                <a:hlinkClick xmlns:r="http://schemas.openxmlformats.org/officeDocument/2006/relationships" r:id="R080aae083fd4415e"/>
              </a:rPr>
              <a:t>Concrete Problems in AI Safety</a:t>
            </a:r>
          </a:p>
        </p:txBody>
      </p:sp>
    </p:spTree>
    <p:extLst>
      <p:ext uri="{BB962C8B-B14F-4D97-AF65-F5344CB8AC3E}">
        <p14:creationId xmlns:p14="http://schemas.microsoft.com/office/powerpoint/2010/main" val="1060278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2026-10-01T21:34:50.0420000Z</dcterms:created>
  <dcterms:modified xsi:type="dcterms:W3CDTF">2026-10-01T21:34:50.0420000Z</dcterms:modified>
</coreProperties>
</file>