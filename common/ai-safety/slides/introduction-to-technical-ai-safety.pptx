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29208504d343b1" /><Relationship Type="http://schemas.openxmlformats.org/officeDocument/2006/relationships/extended-properties" Target="/docProps/app.xml" Id="R129b661d9afe4c37" /><Relationship Type="http://schemas.openxmlformats.org/officeDocument/2006/relationships/officeDocument" Target="/ppt/presentation.xml" Id="R88de1de5b06344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c2a4e98f7141b7"/>
  </p:sldMasterIdLst>
  <p:notesMasterIdLst>
    <p:notesMasterId xmlns:r="http://schemas.openxmlformats.org/officeDocument/2006/relationships" r:id="R4d7c138c66a94d71"/>
  </p:notesMasterIdLst>
  <p:sldIdLst>
    <p:sldId xmlns:r="http://schemas.openxmlformats.org/officeDocument/2006/relationships" id="256" r:id="R62dbdfbedfb0405e"/>
    <p:sldId xmlns:r="http://schemas.openxmlformats.org/officeDocument/2006/relationships" id="257" r:id="R461f7e31af8a4505"/>
    <p:sldId xmlns:r="http://schemas.openxmlformats.org/officeDocument/2006/relationships" id="258" r:id="R637035545e954e4b"/>
    <p:sldId xmlns:r="http://schemas.openxmlformats.org/officeDocument/2006/relationships" id="259" r:id="Ra395caa5c94340b3"/>
    <p:sldId xmlns:r="http://schemas.openxmlformats.org/officeDocument/2006/relationships" id="260" r:id="R38fc888c8ed141d1"/>
    <p:sldId xmlns:r="http://schemas.openxmlformats.org/officeDocument/2006/relationships" id="261" r:id="R005cf08ad4cf4f91"/>
    <p:sldId xmlns:r="http://schemas.openxmlformats.org/officeDocument/2006/relationships" id="262" r:id="R30d40425f06d4cd1"/>
    <p:sldId xmlns:r="http://schemas.openxmlformats.org/officeDocument/2006/relationships" id="263" r:id="R632d68e1f3694b2d"/>
    <p:sldId xmlns:r="http://schemas.openxmlformats.org/officeDocument/2006/relationships" id="264" r:id="R6568cf6eaed644ce"/>
    <p:sldId xmlns:r="http://schemas.openxmlformats.org/officeDocument/2006/relationships" id="265" r:id="R6d77b9c2d9af43cd"/>
    <p:sldId xmlns:r="http://schemas.openxmlformats.org/officeDocument/2006/relationships" id="266" r:id="R3ce0d34251f34fee"/>
    <p:sldId xmlns:r="http://schemas.openxmlformats.org/officeDocument/2006/relationships" id="267" r:id="R0f741ce4100f4390"/>
    <p:sldId xmlns:r="http://schemas.openxmlformats.org/officeDocument/2006/relationships" id="268" r:id="R158526d8268c45b5"/>
    <p:sldId xmlns:r="http://schemas.openxmlformats.org/officeDocument/2006/relationships" id="269" r:id="R75de70b6715648bb"/>
    <p:sldId xmlns:r="http://schemas.openxmlformats.org/officeDocument/2006/relationships" id="270" r:id="R07ee6180140247ce"/>
    <p:sldId xmlns:r="http://schemas.openxmlformats.org/officeDocument/2006/relationships" id="271" r:id="R4d3737f650914f30"/>
    <p:sldId xmlns:r="http://schemas.openxmlformats.org/officeDocument/2006/relationships" id="272" r:id="R50dc44afbc304b54"/>
    <p:sldId xmlns:r="http://schemas.openxmlformats.org/officeDocument/2006/relationships" id="273" r:id="Rd2138a88bb29420a"/>
    <p:sldId xmlns:r="http://schemas.openxmlformats.org/officeDocument/2006/relationships" id="274" r:id="R1e7b44eeb4804c4e"/>
    <p:sldId xmlns:r="http://schemas.openxmlformats.org/officeDocument/2006/relationships" id="275" r:id="R239d5b92adeb4f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ec96563de9480a" /><Relationship Type="http://schemas.openxmlformats.org/officeDocument/2006/relationships/slideMaster" Target="/ppt/slideMasters/slideMaster1.xml" Id="Rb7c2a4e98f7141b7" /><Relationship Type="http://schemas.openxmlformats.org/officeDocument/2006/relationships/notesMaster" Target="/ppt/notesMasters/notesMaster1.xml" Id="R4d7c138c66a94d71" /><Relationship Type="http://schemas.openxmlformats.org/officeDocument/2006/relationships/presProps" Target="/ppt/presProps.xml" Id="Rf14f6a30d0eb4a0d" /><Relationship Type="http://schemas.openxmlformats.org/officeDocument/2006/relationships/tableStyles" Target="/ppt/tableStyles.xml" Id="Rc5b29a92456742ce" /><Relationship Type="http://schemas.openxmlformats.org/officeDocument/2006/relationships/slide" Target="/ppt/slides/slide1.xml" Id="R62dbdfbedfb0405e" /><Relationship Type="http://schemas.openxmlformats.org/officeDocument/2006/relationships/slide" Target="/ppt/slides/slide2.xml" Id="R461f7e31af8a4505" /><Relationship Type="http://schemas.openxmlformats.org/officeDocument/2006/relationships/slide" Target="/ppt/slides/slide3.xml" Id="R637035545e954e4b" /><Relationship Type="http://schemas.openxmlformats.org/officeDocument/2006/relationships/slide" Target="/ppt/slides/slide4.xml" Id="Ra395caa5c94340b3" /><Relationship Type="http://schemas.openxmlformats.org/officeDocument/2006/relationships/slide" Target="/ppt/slides/slide5.xml" Id="R38fc888c8ed141d1" /><Relationship Type="http://schemas.openxmlformats.org/officeDocument/2006/relationships/slide" Target="/ppt/slides/slide6.xml" Id="R005cf08ad4cf4f91" /><Relationship Type="http://schemas.openxmlformats.org/officeDocument/2006/relationships/slide" Target="/ppt/slides/slide7.xml" Id="R30d40425f06d4cd1" /><Relationship Type="http://schemas.openxmlformats.org/officeDocument/2006/relationships/slide" Target="/ppt/slides/slide8.xml" Id="R632d68e1f3694b2d" /><Relationship Type="http://schemas.openxmlformats.org/officeDocument/2006/relationships/slide" Target="/ppt/slides/slide9.xml" Id="R6568cf6eaed644ce" /><Relationship Type="http://schemas.openxmlformats.org/officeDocument/2006/relationships/slide" Target="/ppt/slides/slide10.xml" Id="R6d77b9c2d9af43cd" /><Relationship Type="http://schemas.openxmlformats.org/officeDocument/2006/relationships/slide" Target="/ppt/slides/slide11.xml" Id="R3ce0d34251f34fee" /><Relationship Type="http://schemas.openxmlformats.org/officeDocument/2006/relationships/slide" Target="/ppt/slides/slide12.xml" Id="R0f741ce4100f4390" /><Relationship Type="http://schemas.openxmlformats.org/officeDocument/2006/relationships/slide" Target="/ppt/slides/slide13.xml" Id="R158526d8268c45b5" /><Relationship Type="http://schemas.openxmlformats.org/officeDocument/2006/relationships/slide" Target="/ppt/slides/slide14.xml" Id="R75de70b6715648bb" /><Relationship Type="http://schemas.openxmlformats.org/officeDocument/2006/relationships/slide" Target="/ppt/slides/slide15.xml" Id="R07ee6180140247ce" /><Relationship Type="http://schemas.openxmlformats.org/officeDocument/2006/relationships/slide" Target="/ppt/slides/slide16.xml" Id="R4d3737f650914f30" /><Relationship Type="http://schemas.openxmlformats.org/officeDocument/2006/relationships/slide" Target="/ppt/slides/slide17.xml" Id="R50dc44afbc304b54" /><Relationship Type="http://schemas.openxmlformats.org/officeDocument/2006/relationships/slide" Target="/ppt/slides/slide18.xml" Id="Rd2138a88bb29420a" /><Relationship Type="http://schemas.openxmlformats.org/officeDocument/2006/relationships/slide" Target="/ppt/slides/slide19.xml" Id="R1e7b44eeb4804c4e" /><Relationship Type="http://schemas.openxmlformats.org/officeDocument/2006/relationships/slide" Target="/ppt/slides/slide20.xml" Id="R239d5b92adeb4f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6ec4350bdf4a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2881020bfd434a" /><Relationship Type="http://schemas.openxmlformats.org/officeDocument/2006/relationships/notesMaster" Target="/ppt/notesMasters/notesMaster1.xml" Id="R5d7cbe6efe6f49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83cd7352004dcd" /><Relationship Type="http://schemas.openxmlformats.org/officeDocument/2006/relationships/notesMaster" Target="/ppt/notesMasters/notesMaster1.xml" Id="Rceb8b69ca05248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2703d8039f441d" /><Relationship Type="http://schemas.openxmlformats.org/officeDocument/2006/relationships/notesMaster" Target="/ppt/notesMasters/notesMaster1.xml" Id="Raa2fdc5cfa2e41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c457a6bff2423f" /><Relationship Type="http://schemas.openxmlformats.org/officeDocument/2006/relationships/notesMaster" Target="/ppt/notesMasters/notesMaster1.xml" Id="R4709b86dcc7845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151424ccc24f78" /><Relationship Type="http://schemas.openxmlformats.org/officeDocument/2006/relationships/notesMaster" Target="/ppt/notesMasters/notesMaster1.xml" Id="Re0fc3ac0387649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b0823e511742c9" /><Relationship Type="http://schemas.openxmlformats.org/officeDocument/2006/relationships/notesMaster" Target="/ppt/notesMasters/notesMaster1.xml" Id="R5e5272c999994f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02f984fa7c4d31" /><Relationship Type="http://schemas.openxmlformats.org/officeDocument/2006/relationships/notesMaster" Target="/ppt/notesMasters/notesMaster1.xml" Id="Rb2794a7048684d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a534a199084158" /><Relationship Type="http://schemas.openxmlformats.org/officeDocument/2006/relationships/notesMaster" Target="/ppt/notesMasters/notesMaster1.xml" Id="Raef6fd0261d044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23dee2fe294a20" /><Relationship Type="http://schemas.openxmlformats.org/officeDocument/2006/relationships/notesMaster" Target="/ppt/notesMasters/notesMaster1.xml" Id="R8a0efadbaa5643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5b73247a4d4652" /><Relationship Type="http://schemas.openxmlformats.org/officeDocument/2006/relationships/notesMaster" Target="/ppt/notesMasters/notesMaster1.xml" Id="Rc7bbc86f15584d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4aafbd172b64c22" /><Relationship Type="http://schemas.openxmlformats.org/officeDocument/2006/relationships/notesMaster" Target="/ppt/notesMasters/notesMaster1.xml" Id="R1b87ea3eb7f345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7d83079d224bd8" /><Relationship Type="http://schemas.openxmlformats.org/officeDocument/2006/relationships/notesMaster" Target="/ppt/notesMasters/notesMaster1.xml" Id="Rd32c51ad063b4d5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0151dc9ade48b3" /><Relationship Type="http://schemas.openxmlformats.org/officeDocument/2006/relationships/notesMaster" Target="/ppt/notesMasters/notesMaster1.xml" Id="R51e4396c64104e5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7cea1aa8f4e4217" /><Relationship Type="http://schemas.openxmlformats.org/officeDocument/2006/relationships/notesMaster" Target="/ppt/notesMasters/notesMaster1.xml" Id="R04d5f3652af0406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8f76c60ab0d46b8" /><Relationship Type="http://schemas.openxmlformats.org/officeDocument/2006/relationships/notesMaster" Target="/ppt/notesMasters/notesMaster1.xml" Id="Rea897954ef8845d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4343401e4644e5c" /><Relationship Type="http://schemas.openxmlformats.org/officeDocument/2006/relationships/notesMaster" Target="/ppt/notesMasters/notesMaster1.xml" Id="R02df1c4b0fa543d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30bf2a589fd4a2e" /><Relationship Type="http://schemas.openxmlformats.org/officeDocument/2006/relationships/notesMaster" Target="/ppt/notesMasters/notesMaster1.xml" Id="R23f59ed8827a4f9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7a9eb40ab924297" /><Relationship Type="http://schemas.openxmlformats.org/officeDocument/2006/relationships/notesMaster" Target="/ppt/notesMasters/notesMaster1.xml" Id="Rf0bef7c4282842f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88277352cf54cd2" /><Relationship Type="http://schemas.openxmlformats.org/officeDocument/2006/relationships/notesMaster" Target="/ppt/notesMasters/notesMaster1.xml" Id="R55b749abbdcb4bd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fe582ee1e4146ae" /><Relationship Type="http://schemas.openxmlformats.org/officeDocument/2006/relationships/notesMaster" Target="/ppt/notesMasters/notesMaster1.xml" Id="Rf58921bb9cb64a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can already help us write code and solve difficult problems.</a:t>
            </a:r>
          </a:p>
          <a:p xmlns:a="http://schemas.openxmlformats.org/drawingml/2006/main">
            <a:r>
              <a:t>The question for this course is how we can tell whether its behavior deserves our trust.</a:t>
            </a:r>
          </a:p>
          <a:p xmlns:a="http://schemas.openxmlformats.org/drawingml/2006/main">
            <a:r>
              <a:t>A useful answer is only one part of that question.</a:t>
            </a:r>
          </a:p>
          <a:p xmlns:a="http://schemas.openxmlformats.org/drawingml/2006/main">
            <a:r>
              <a:t>We also need to know what happens when the input changes, a test misses something, or an output becomes an action.</a:t>
            </a:r>
          </a:p>
          <a:p xmlns:a="http://schemas.openxmlformats.org/drawingml/2006/main">
            <a:r>
              <a:t>We will follow several research milestones, then connect them to the small Transformer we will build.</a:t>
            </a:r>
          </a:p>
          <a:p xmlns:a="http://schemas.openxmlformats.org/drawingml/2006/main">
            <a:r>
              <a:t>The aim is to learn how to ask a precise question and gather evidence, rather than simply accepting a model's explanation.</a:t>
            </a:r>
          </a:p>
          <a:p xmlns:a="http://schemas.openxmlformats.org/drawingml/2006/main">
            <a:r>
              <a:t>The illustrations in this deck are conceptual teaching diagrams, not screenshots or experimental measurements.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safety means reducing the risk of harm from the systems we build and use.</a:t>
            </a:r>
          </a:p>
          <a:p xmlns:a="http://schemas.openxmlformats.org/drawingml/2006/main">
            <a:r>
              <a:t>Think of the difference between a tool suggesting a move and a tool being allowed to carry it out.</a:t>
            </a:r>
          </a:p>
          <a:p xmlns:a="http://schemas.openxmlformats.org/drawingml/2006/main">
            <a:r>
              <a:t>For example, a classroom assistant's wrong suggestion and the same suggestion used in a consequential decision have different stakes.</a:t>
            </a:r>
          </a:p>
          <a:p xmlns:a="http://schemas.openxmlformats.org/drawingml/2006/main">
            <a:r>
              <a:t>This illustration is a teaching example, not a claim about a particular deployed system.</a:t>
            </a:r>
          </a:p>
          <a:p xmlns:a="http://schemas.openxmlformats.org/drawingml/2006/main">
            <a:r>
              <a:t>The 2026 International AI Safety Report discusses both benefits and risks, including misuse, failures, and wider effects on society.</a:t>
            </a:r>
          </a:p>
          <a:p xmlns:a="http://schemas.openxmlformats.org/drawingml/2006/main">
            <a:r>
              <a:t>Safety also depends on the people, permissions, and environment around a model.</a:t>
            </a:r>
          </a:p>
          <a:p xmlns:a="http://schemas.openxmlformats.org/drawingml/2006/main">
            <a:r>
              <a:t>Our focus will be on technical questions that we can test, while keeping those wider conditions in 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https://internationalaisafetyreport.org/publication/2026-report-executive-summary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selected teaching timeline, not a complete history of AI safety.</a:t>
            </a:r>
          </a:p>
          <a:p xmlns:a="http://schemas.openxmlformats.org/drawingml/2006/main">
            <a:r>
              <a:t>We begin with an agent that scores points without completing the intended task.</a:t>
            </a:r>
          </a:p>
          <a:p xmlns:a="http://schemas.openxmlformats.org/drawingml/2006/main">
            <a:r>
              <a:t>The Transformer then gives us an architecture whose calculations we can study.</a:t>
            </a:r>
          </a:p>
          <a:p xmlns:a="http://schemas.openxmlformats.org/drawingml/2006/main">
            <a:r>
              <a:t>InstructGPT is a 2022 example of applying human feedback to language models; human-feedback research existed before that year.</a:t>
            </a:r>
          </a:p>
          <a:p xmlns:a="http://schemas.openxmlformats.org/drawingml/2006/main">
            <a:r>
              <a:t>In 2023, NIST published a voluntary risk-management framework and countries issued the Bletchley Declaration.</a:t>
            </a:r>
          </a:p>
          <a:p xmlns:a="http://schemas.openxmlformats.org/drawingml/2006/main">
            <a:r>
              <a:t>The 2024 examples examine conditional behavior, internal features, and risk-based regulation.</a:t>
            </a:r>
          </a:p>
          <a:p xmlns:a="http://schemas.openxmlformats.org/drawingml/2006/main">
            <a:r>
              <a:t>The final part asks how stronger tests and shared scientific evidence can improve decisions.</a:t>
            </a:r>
          </a:p>
          <a:p xmlns:a="http://schemas.openxmlformats.org/drawingml/2006/main">
            <a:r>
              <a:t>These milestones belong to different lines of work; the timeline does not claim that one event directly caused the next.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https://openai.com/index/faulty-reward-functions/</a:t>
            </a:r>
          </a:p>
          <a:p xmlns:a="http://schemas.openxmlformats.org/drawingml/2006/main">
            <a:r>
              <a:t>https://arxiv.org/abs/1706.03762</a:t>
            </a:r>
          </a:p>
          <a:p xmlns:a="http://schemas.openxmlformats.org/drawingml/2006/main">
            <a:r>
              <a:t>https://openai.com/index/instruction-following/</a:t>
            </a:r>
          </a:p>
          <a:p xmlns:a="http://schemas.openxmlformats.org/drawingml/2006/main">
            <a:r>
              <a:t>https://www.nist.gov/publications/artificial-intelligence-risk-management-framework-ai-rmf-10</a:t>
            </a:r>
          </a:p>
          <a:p xmlns:a="http://schemas.openxmlformats.org/drawingml/2006/main">
            <a:r>
              <a:t>https://internationalaisafetyreport.org/publication/2026-report-executive-summary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OpenAI's CoastRunners example, a boat-racing agent repeatedly collected rewards instead of finishing the race.</a:t>
            </a:r>
          </a:p>
          <a:p xmlns:a="http://schemas.openxmlformats.org/drawingml/2006/main">
            <a:r>
              <a:t>The orange loop shows the rewarded behavior and the gray route shows the intended destination.</a:t>
            </a:r>
          </a:p>
          <a:p xmlns:a="http://schemas.openxmlformats.org/drawingml/2006/main">
            <a:r>
              <a:t>This was a controlled game experiment, not a real-world disaster or evidence of malicious intent.</a:t>
            </a:r>
          </a:p>
          <a:p xmlns:a="http://schemas.openxmlformats.org/drawingml/2006/main">
            <a:r>
              <a:t>A classroom analogy is a student being rewarded for the number of pages written rather than the quality of an explanation.</a:t>
            </a:r>
          </a:p>
          <a:p xmlns:a="http://schemas.openxmlformats.org/drawingml/2006/main">
            <a:r>
              <a:t>The page count can rise while the real learning goal remains unmet.</a:t>
            </a:r>
          </a:p>
          <a:p xmlns:a="http://schemas.openxmlformats.org/drawingml/2006/main">
            <a:r>
              <a:t>A model can similarly improve the number we chose without delivering the result we wanted.</a:t>
            </a:r>
          </a:p>
          <a:p xmlns:a="http://schemas.openxmlformats.org/drawingml/2006/main">
            <a:r>
              <a:t>When you see a score improve, ask what that score actually measures and what it leaves 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https://openai.com/index/faulty-reward-functions/</a:t>
            </a:r>
          </a:p>
          <a:p xmlns:a="http://schemas.openxmlformats.org/drawingml/2006/main">
            <a:r>
              <a:t>https://arxiv.org/abs/1606.06565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2017 Transformer paper introduced an attention-based architecture for sequence translation.</a:t>
            </a:r>
          </a:p>
          <a:p xmlns:a="http://schemas.openxmlformats.org/drawingml/2006/main">
            <a:r>
              <a:t>Our drawing is a simplified learning map, not the complete original architecture.</a:t>
            </a:r>
          </a:p>
          <a:p xmlns:a="http://schemas.openxmlformats.org/drawingml/2006/main">
            <a:r>
              <a:t>Text is represented as tokens, which are converted into numerical vectors.</a:t>
            </a:r>
          </a:p>
          <a:p xmlns:a="http://schemas.openxmlformats.org/drawingml/2006/main">
            <a:r>
              <a:t>Attention combines information across token positions, and later computations produce a prediction.</a:t>
            </a:r>
          </a:p>
          <a:p xmlns:a="http://schemas.openxmlformats.org/drawingml/2006/main">
            <a:r>
              <a:t>The model is not a single mysterious operation.</a:t>
            </a:r>
          </a:p>
          <a:p xmlns:a="http://schemas.openxmlformats.org/drawingml/2006/main">
            <a:r>
              <a:t>Think of a recipe whose intermediate steps can be inspected before tasting the final dish.</a:t>
            </a:r>
          </a:p>
          <a:p xmlns:a="http://schemas.openxmlformats.org/drawingml/2006/main">
            <a:r>
              <a:t>We will build a small next-token model; it will differ from the original translation model and from today's large production systems.</a:t>
            </a:r>
          </a:p>
          <a:p xmlns:a="http://schemas.openxmlformats.org/drawingml/2006/main">
            <a:r>
              <a:t>Understanding the intermediate calculations gives us more precise places to check a suspected 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https://arxiv.org/abs/1706.03762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InstructGPT used human demonstrations and comparisons to improve instruction following.</a:t>
            </a:r>
          </a:p>
          <a:p xmlns:a="http://schemas.openxmlformats.org/drawingml/2006/main">
            <a:r>
              <a:t>People ranked responses, and those preferences helped guide further training.</a:t>
            </a:r>
          </a:p>
          <a:p xmlns:a="http://schemas.openxmlformats.org/drawingml/2006/main">
            <a:r>
              <a:t>The reported improvements were measured on particular prompts and evaluations.</a:t>
            </a:r>
          </a:p>
          <a:p xmlns:a="http://schemas.openxmlformats.org/drawingml/2006/main">
            <a:r>
              <a:t>The models still had limitations, including false statements and harmful or biased outputs.</a:t>
            </a:r>
          </a:p>
          <a:p xmlns:a="http://schemas.openxmlformats.org/drawingml/2006/main">
            <a:r>
              <a:t>A classroom analogy is a teacher giving feedback on several drafts.</a:t>
            </a:r>
          </a:p>
          <a:p xmlns:a="http://schemas.openxmlformats.org/drawingml/2006/main">
            <a:r>
              <a:t>That feedback can improve the next draft without proving that every future answer will be correct.</a:t>
            </a:r>
          </a:p>
          <a:p xmlns:a="http://schemas.openxmlformats.org/drawingml/2006/main">
            <a:r>
              <a:t>It also matters whose feedback is collected and what the instructions ask those people to value.</a:t>
            </a:r>
          </a:p>
          <a:p xmlns:a="http://schemas.openxmlformats.org/drawingml/2006/main">
            <a:r>
              <a:t>This is a language-model application from 2022, not the beginning of all human-feedback research.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https://openai.com/index/instruction-following/</a:t>
            </a:r>
          </a:p>
          <a:p xmlns:a="http://schemas.openxmlformats.org/drawingml/2006/main">
            <a:r>
              <a:t>https://arxiv.org/abs/2203.02155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NIST's AI Risk Management Framework is a voluntary framework, not a law or a safety certificate.</a:t>
            </a:r>
          </a:p>
          <a:p xmlns:a="http://schemas.openxmlformats.org/drawingml/2006/main">
            <a:r>
              <a:t>Its four functions are Govern, Map, Measure, and Manage.</a:t>
            </a:r>
          </a:p>
          <a:p xmlns:a="http://schemas.openxmlformats.org/drawingml/2006/main">
            <a:r>
              <a:t>Map asks about the use context and possible risks.</a:t>
            </a:r>
          </a:p>
          <a:p xmlns:a="http://schemas.openxmlformats.org/drawingml/2006/main">
            <a:r>
              <a:t>Measure examines those risks, and Manage addresses them.</a:t>
            </a:r>
          </a:p>
          <a:p xmlns:a="http://schemas.openxmlformats.org/drawingml/2006/main">
            <a:r>
              <a:t>Govern concerns responsibility and organizational practices throughout the other functions.</a:t>
            </a:r>
          </a:p>
          <a:p xmlns:a="http://schemas.openxmlformats.org/drawingml/2006/main">
            <a:r>
              <a:t>These functions interact; the diagram does not represent four steps that are completed once.</a:t>
            </a:r>
          </a:p>
          <a:p xmlns:a="http://schemas.openxmlformats.org/drawingml/2006/main">
            <a:r>
              <a:t>For a classroom project, the practical questions are what the model is for, how we will test it, what we will do after a failure, and who will make that decision.</a:t>
            </a:r>
          </a:p>
          <a:p xmlns:a="http://schemas.openxmlformats.org/drawingml/2006/main">
            <a:r>
              <a:t>The figure is a simplified adaptation of the official NIST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https://airc.nist.gov/airmf-resources/airmf/5-sec-core/</a:t>
            </a:r>
          </a:p>
          <a:p xmlns:a="http://schemas.openxmlformats.org/drawingml/2006/main">
            <a:r>
              <a:t>https://www.nist.gov/publications/artificial-intelligence-risk-management-framework-ai-rmf-10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Sleeper Agents study deliberately trained models to behave differently under particular conditions.</a:t>
            </a:r>
          </a:p>
          <a:p xmlns:a="http://schemas.openxmlformats.org/drawingml/2006/main">
            <a:r>
              <a:t>In one setup, a prompt stating 2023 led to secure code while a prompt stating 2024 triggered vulnerable code.</a:t>
            </a:r>
          </a:p>
          <a:p xmlns:a="http://schemas.openxmlformats.org/drawingml/2006/main">
            <a:r>
              <a:t>Some of that behavior persisted after the safety-training methods examined by the researchers.</a:t>
            </a:r>
          </a:p>
          <a:p xmlns:a="http://schemas.openxmlformats.org/drawingml/2006/main">
            <a:r>
              <a:t>This was a constructed research example, not a finding that ordinary models naturally developed evil intentions.</a:t>
            </a:r>
          </a:p>
          <a:p xmlns:a="http://schemas.openxmlformats.org/drawingml/2006/main">
            <a:r>
              <a:t>Think of checking a device under only one switch setting while another setting is never tested.</a:t>
            </a:r>
          </a:p>
          <a:p xmlns:a="http://schemas.openxmlformats.org/drawingml/2006/main">
            <a:r>
              <a:t>Passing the first check tells us little about the untested setting.</a:t>
            </a:r>
          </a:p>
          <a:p xmlns:a="http://schemas.openxmlformats.org/drawingml/2006/main">
            <a:r>
              <a:t>The lesson is to ask what conditions an evaluation covers and which conditions it could miss.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https://www.anthropic.com/news/sleeper-agents-training-deceptive-llms-that-persist-through-safety-training</a:t>
            </a:r>
          </a:p>
          <a:p xmlns:a="http://schemas.openxmlformats.org/drawingml/2006/main">
            <a:r>
              <a:t>https://arxiv.org/abs/2401.05566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Anthropic studied features in the internal activity of Claude 3 Sonnet.</a:t>
            </a:r>
          </a:p>
          <a:p xmlns:a="http://schemas.openxmlformats.org/drawingml/2006/main">
            <a:r>
              <a:t>One well-known example was associated with the Golden Gate Bridge.</a:t>
            </a:r>
          </a:p>
          <a:p xmlns:a="http://schemas.openxmlformats.org/drawingml/2006/main">
            <a:r>
              <a:t>Changing the strength of selected features could change the model's responses.</a:t>
            </a:r>
          </a:p>
          <a:p xmlns:a="http://schemas.openxmlformats.org/drawingml/2006/main">
            <a:r>
              <a:t>The illustration represents the idea of an intervention; it is not a picture of the model's actual circuit.</a:t>
            </a:r>
          </a:p>
          <a:p xmlns:a="http://schemas.openxmlformats.org/drawingml/2006/main">
            <a:r>
              <a:t>A useful analogy is finding one switch in a large control room and testing what changes when it is moved.</a:t>
            </a:r>
          </a:p>
          <a:p xmlns:a="http://schemas.openxmlformats.org/drawingml/2006/main">
            <a:r>
              <a:t>That gives evidence about the switch without explaining the whole room.</a:t>
            </a:r>
          </a:p>
          <a:p xmlns:a="http://schemas.openxmlformats.org/drawingml/2006/main">
            <a:r>
              <a:t>Finding a meaningful feature is not a complete explanation of a model or a guarantee of safety.</a:t>
            </a:r>
          </a:p>
          <a:p xmlns:a="http://schemas.openxmlformats.org/drawingml/2006/main">
            <a:r>
              <a:t>We will borrow the habit of changing one thing and comparing the result in small experiments.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https://www.anthropic.com/research/mapping-mind-language-model</a:t>
            </a:r>
          </a:p>
          <a:p xmlns:a="http://schemas.openxmlformats.org/drawingml/2006/main">
            <a:r>
              <a:t>https://www.transformer-circuits.pub/2024/scaling-monosemanticity/index.html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EU AI Act entered into force on 1 August 2024.</a:t>
            </a:r>
          </a:p>
          <a:p xmlns:a="http://schemas.openxmlformats.org/drawingml/2006/main">
            <a:r>
              <a:t>The European Commission explains its approach through different risk levels.</a:t>
            </a:r>
          </a:p>
          <a:p xmlns:a="http://schemas.openxmlformats.org/drawingml/2006/main">
            <a:r>
              <a:t>The simplified pyramid distinguishes unacceptable, high, limited, and minimal risk.</a:t>
            </a:r>
          </a:p>
          <a:p xmlns:a="http://schemas.openxmlformats.org/drawingml/2006/main">
            <a:r>
              <a:t>Some uses are prohibited, high-risk uses face requirements, and certain uses have transparency obligations.</a:t>
            </a:r>
          </a:p>
          <a:p xmlns:a="http://schemas.openxmlformats.org/drawingml/2006/main">
            <a:r>
              <a:t>This is an introductory picture; it does not cover every category or the separate rules for general-purpose AI.</a:t>
            </a:r>
          </a:p>
          <a:p xmlns:a="http://schemas.openxmlformats.org/drawingml/2006/main">
            <a:r>
              <a:t>The obligations have different application dates, so 2024 should not be presented as the date every rule became applicable.</a:t>
            </a:r>
          </a:p>
          <a:p xmlns:a="http://schemas.openxmlformats.org/drawingml/2006/main">
            <a:r>
              <a:t>The teaching point is that the seriousness and context of a use matter.</a:t>
            </a:r>
          </a:p>
          <a:p xmlns:a="http://schemas.openxmlformats.org/drawingml/2006/main">
            <a:r>
              <a:t>The figure is adapted from the European Commission's risk-level illustration, with simplified colors and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https://digital-strategy.ec.europa.eu/en/news/european-artificial-intelligence-act-comes-force</a:t>
            </a:r>
          </a:p>
          <a:p xmlns:a="http://schemas.openxmlformats.org/drawingml/2006/main">
            <a:r>
              <a:t>https://digital-strategy.ec.europa.eu/en/policies/regulatory-framework-ai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OpenAI reported coding-training examples where agents manipulated checks instead of implementing the intended solution.</a:t>
            </a:r>
          </a:p>
          <a:p xmlns:a="http://schemas.openxmlformats.org/drawingml/2006/main">
            <a:r>
              <a:t>The short function on this slide is teaching pseudocode representing an always-passing verifier, not a quotation from an experimental trace.</a:t>
            </a:r>
          </a:p>
          <a:p xmlns:a="http://schemas.openxmlformats.org/drawingml/2006/main">
            <a:r>
              <a:t>If a test returns True for every solution, passing it no longer tells us whether the task was completed.</a:t>
            </a:r>
          </a:p>
          <a:p xmlns:a="http://schemas.openxmlformats.org/drawingml/2006/main">
            <a:r>
              <a:t>This has the same structure as awarding points for something other than the intended goal.</a:t>
            </a:r>
          </a:p>
          <a:p xmlns:a="http://schemas.openxmlformats.org/drawingml/2006/main">
            <a:r>
              <a:t>It does not establish that every coding model behaves this way.</a:t>
            </a:r>
          </a:p>
          <a:p xmlns:a="http://schemas.openxmlformats.org/drawingml/2006/main">
            <a:r>
              <a:t>A practical response is to keep evaluation evidence independent and inspect the actual result.</a:t>
            </a:r>
          </a:p>
          <a:p xmlns:a="http://schemas.openxmlformats.org/drawingml/2006/main">
            <a:r>
              <a:t>When AI writes code for us, we need tests that can fail for a real reason.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https://openai.com/index/chain-of-thought-monitoring/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2026 International AI Safety Report synthesizes evidence on capabilities, risks, and risk management.</a:t>
            </a:r>
          </a:p>
          <a:p xmlns:a="http://schemas.openxmlformats.org/drawingml/2006/main">
            <a:r>
              <a:t>It distinguishes documented harms from uncertain risks that could be severe if they materialize.</a:t>
            </a:r>
          </a:p>
          <a:p xmlns:a="http://schemas.openxmlformats.org/drawingml/2006/main">
            <a:r>
              <a:t>It also describes a policy dilemma: acting too early can create ineffective interventions, while waiting for conclusive evidence can leave people exposed.</a:t>
            </a:r>
          </a:p>
          <a:p xmlns:a="http://schemas.openxmlformats.org/drawingml/2006/main">
            <a:r>
              <a:t>Our table separates real-world observations, controlled experiments, and future possibilities.</a:t>
            </a:r>
          </a:p>
          <a:p xmlns:a="http://schemas.openxmlformats.org/drawingml/2006/main">
            <a:r>
              <a:t>A game experiment can reveal a failure mechanism without establishing how often that mechanism will appear in deployment.</a:t>
            </a:r>
          </a:p>
          <a:p xmlns:a="http://schemas.openxmlformats.org/drawingml/2006/main">
            <a:r>
              <a:t>A possible future scenario should be evaluated rather than presented as an event that has already happened.</a:t>
            </a:r>
          </a:p>
          <a:p xmlns:a="http://schemas.openxmlformats.org/drawingml/2006/main">
            <a:r>
              <a:t>The aim of this course is careful reasoning about what each piece of evidence does and does not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https://internationalaisafetyreport.org/publication/2026-report-executive-summary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question is broader than whether a single model gives correct answers.</a:t>
            </a:r>
          </a:p>
          <a:p xmlns:a="http://schemas.openxmlformats.org/drawingml/2006/main">
            <a:r>
              <a:t>The people affected by a system may have little ability to inspect it or choose how it is deployed.</a:t>
            </a:r>
          </a:p>
          <a:p xmlns:a="http://schemas.openxmlformats.org/drawingml/2006/main">
            <a:r>
              <a:t>Shared requirements can clarify what must be tested, what information should be recorded, and who is responsible when a problem is found.</a:t>
            </a:r>
          </a:p>
          <a:p xmlns:a="http://schemas.openxmlformats.org/drawingml/2006/main">
            <a:r>
              <a:t>Those are reasons for regulation, not a claim that every proposed rule is effective.</a:t>
            </a:r>
          </a:p>
          <a:p xmlns:a="http://schemas.openxmlformats.org/drawingml/2006/main">
            <a:r>
              <a:t>We should compare the expected benefit of a rule with its costs and whether evidence supports it.</a:t>
            </a:r>
          </a:p>
          <a:p xmlns:a="http://schemas.openxmlformats.org/drawingml/2006/main">
            <a:r>
              <a:t>NIST is a voluntary framework, Bletchley is a joint declaration, and the EU AI Act is a law.</a:t>
            </a:r>
          </a:p>
          <a:p xmlns:a="http://schemas.openxmlformats.org/drawingml/2006/main">
            <a:r>
              <a:t>The Bletchley Declaration calls attention to misuse and unintended control problems in powerful AI and to international cooperation.</a:t>
            </a:r>
          </a:p>
          <a:p xmlns:a="http://schemas.openxmlformats.org/drawingml/2006/main">
            <a:r>
              <a:t>None of these replaces the engineering work needed to make an evaluation informative.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https://www.gov.uk/government/publications/ai-safety-summit-2023-the-bletchley-declaration/the-bletchley-declaration-by-countries-attending-the-ai-safety-summit-1-2-november-2023</a:t>
            </a:r>
          </a:p>
          <a:p xmlns:a="http://schemas.openxmlformats.org/drawingml/2006/main">
            <a:r>
              <a:t>https://www.nist.gov/publications/artificial-intelligence-risk-management-framework-ai-rmf-10</a:t>
            </a:r>
          </a:p>
          <a:p xmlns:a="http://schemas.openxmlformats.org/drawingml/2006/main">
            <a:r>
              <a:t>https://digital-strategy.ec.europa.eu/en/policies/regulatory-framework-ai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this course, we will use four practical questions as a map of technical AI safety.</a:t>
            </a:r>
          </a:p>
          <a:p xmlns:a="http://schemas.openxmlformats.org/drawingml/2006/main">
            <a:r>
              <a:t>Evaluation asks where and how the system fails.</a:t>
            </a:r>
          </a:p>
          <a:p xmlns:a="http://schemas.openxmlformats.org/drawingml/2006/main">
            <a:r>
              <a:t>Alignment asks how to train behavior toward the intended goal.</a:t>
            </a:r>
          </a:p>
          <a:p xmlns:a="http://schemas.openxmlformats.org/drawingml/2006/main">
            <a:r>
              <a:t>Interpretability asks which internal computations help explain a behavior.</a:t>
            </a:r>
          </a:p>
          <a:p xmlns:a="http://schemas.openxmlformats.org/drawingml/2006/main">
            <a:r>
              <a:t>Control asks how permissions, oversight, and system design can limit harmful actions.</a:t>
            </a:r>
          </a:p>
          <a:p xmlns:a="http://schemas.openxmlformats.org/drawingml/2006/main">
            <a:r>
              <a:t>This is a teaching map, not a universal classification of the field.</a:t>
            </a:r>
          </a:p>
          <a:p xmlns:a="http://schemas.openxmlformats.org/drawingml/2006/main">
            <a:r>
              <a:t>The 2016 Concrete Problems in AI Safety paper offers an early research agenda covering practical failures such as reward gaming and distribution changes.</a:t>
            </a:r>
          </a:p>
          <a:p xmlns:a="http://schemas.openxmlformats.org/drawingml/2006/main">
            <a:r>
              <a:t>No single method establishes complete safety, and technical work needs to be connected to the system's actual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https://arxiv.org/abs/1606.06565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Looking inside a model can give us clues, but seeing a pattern is different from showing what causes a result.</a:t>
            </a:r>
          </a:p>
          <a:p xmlns:a="http://schemas.openxmlformats.org/drawingml/2006/main">
            <a:r>
              <a:t>Suppose an internal feature becomes active when a bridge is discussed.</a:t>
            </a:r>
          </a:p>
          <a:p xmlns:a="http://schemas.openxmlformats.org/drawingml/2006/main">
            <a:r>
              <a:t>That is an observation.</a:t>
            </a:r>
          </a:p>
          <a:p xmlns:a="http://schemas.openxmlformats.org/drawingml/2006/main">
            <a:r>
              <a:t>If changing that feature changes the response under a controlled comparison, we have evidence about its role.</a:t>
            </a:r>
          </a:p>
          <a:p xmlns:a="http://schemas.openxmlformats.org/drawingml/2006/main">
            <a:r>
              <a:t>We still need to ask what else changed and how far the result generalizes.</a:t>
            </a:r>
          </a:p>
          <a:p xmlns:a="http://schemas.openxmlformats.org/drawingml/2006/main">
            <a:r>
              <a:t>An Attention heatmap is also an observation; by itself it is not proof of a complete causal explanation.</a:t>
            </a:r>
          </a:p>
          <a:p xmlns:a="http://schemas.openxmlformats.org/drawingml/2006/main">
            <a:r>
              <a:t>The 2019 Attention is not Explanation paper examined limits of using attention weights as explanations in the systems it studied.</a:t>
            </a:r>
          </a:p>
          <a:p xmlns:a="http://schemas.openxmlformats.org/drawingml/2006/main">
            <a:r>
              <a:t>Our small model will let us practice this distinction with simple, repeatable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https://aclanthology.org/N19-1357/</a:t>
            </a:r>
          </a:p>
          <a:p xmlns:a="http://schemas.openxmlformats.org/drawingml/2006/main">
            <a:r>
              <a:t>https://www.anthropic.com/research/mapping-mind-language-model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can help us implement the model, and we should use that help where it is useful.</a:t>
            </a:r>
          </a:p>
          <a:p xmlns:a="http://schemas.openxmlformats.org/drawingml/2006/main">
            <a:r>
              <a:t>The reason to build a small version ourselves is to understand what the implementation is supposed to compute.</a:t>
            </a:r>
          </a:p>
          <a:p xmlns:a="http://schemas.openxmlformats.org/drawingml/2006/main">
            <a:r>
              <a:t>Here we train a model to predict the next token: input we, build, models has targets build, models, END.</a:t>
            </a:r>
          </a:p>
          <a:p xmlns:a="http://schemas.openxmlformats.org/drawingml/2006/main">
            <a:r>
              <a:t>If the first position can already see build in its input, it can access the answer it is being asked to predict.</a:t>
            </a:r>
          </a:p>
          <a:p xmlns:a="http://schemas.openxmlformats.org/drawingml/2006/main">
            <a:r>
              <a:t>This is target leakage, not successful prediction from the available prefix.</a:t>
            </a:r>
          </a:p>
          <a:p xmlns:a="http://schemas.openxmlformats.org/drawingml/2006/main">
            <a:r>
              <a:t>A lower Loss alone would not prove that this error happened; we need to examine the mechanism.</a:t>
            </a:r>
          </a:p>
          <a:p xmlns:a="http://schemas.openxmlformats.org/drawingml/2006/main">
            <a:r>
              <a:t>The example is original classroom material, and the three words are treated as three tokens for simplicity.</a:t>
            </a:r>
          </a:p>
          <a:p xmlns:a="http://schemas.openxmlformats.org/drawingml/2006/main">
            <a:r>
              <a:t>We are learning to inspect and verify a small model, not claiming that everyone must train a frontier model from the beginning.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https://arxiv.org/abs/1706.03762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each row as one position making a next-token prediction.</a:t>
            </a:r>
          </a:p>
          <a:p xmlns:a="http://schemas.openxmlformats.org/drawingml/2006/main">
            <a:r>
              <a:t>Read each column as an input token that position might attend to.</a:t>
            </a:r>
          </a:p>
          <a:p xmlns:a="http://schemas.openxmlformats.org/drawingml/2006/main">
            <a:r>
              <a:t>One means visible and zero means hidden.</a:t>
            </a:r>
          </a:p>
          <a:p xmlns:a="http://schemas.openxmlformats.org/drawingml/2006/main">
            <a:r>
              <a:t>The first position sees we, but it must not see build or models.</a:t>
            </a:r>
          </a:p>
          <a:p xmlns:a="http://schemas.openxmlformats.org/drawingml/2006/main">
            <a:r>
              <a:t>The second position sees we and build, but it must not see models.</a:t>
            </a:r>
          </a:p>
          <a:p xmlns:a="http://schemas.openxmlformats.org/drawingml/2006/main">
            <a:r>
              <a:t>The last position may see all three input tokens before predicting END.</a:t>
            </a:r>
          </a:p>
          <a:p xmlns:a="http://schemas.openxmlformats.org/drawingml/2006/main">
            <a:r>
              <a:t>Ask students to identify the forbidden cells before revealing the table.</a:t>
            </a:r>
          </a:p>
          <a:p xmlns:a="http://schemas.openxmlformats.org/drawingml/2006/main">
            <a:r>
              <a:t>In the implementation, the mask blocks future positions before the Attention probabilities are formed; target shifting also needs to be correct.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https://arxiv.org/abs/1706.03762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Now compare two input sequences whose first token is the same but whose future tokens differ.</a:t>
            </a:r>
          </a:p>
          <a:p xmlns:a="http://schemas.openxmlformats.org/drawingml/2006/main">
            <a:r>
              <a:t>The sequences are we, build, models and we, sail, boats.</a:t>
            </a:r>
          </a:p>
          <a:p xmlns:a="http://schemas.openxmlformats.org/drawingml/2006/main">
            <a:r>
              <a:t>With correct causal masking, the output distribution at the first position should be the same because that position can see only we.</a:t>
            </a:r>
          </a:p>
          <a:p xmlns:a="http://schemas.openxmlformats.org/drawingml/2006/main">
            <a:r>
              <a:t>Run this check with the same model weights and position, in deterministic evaluation mode with dropout disabled.</a:t>
            </a:r>
          </a:p>
          <a:p xmlns:a="http://schemas.openxmlformats.org/drawingml/2006/main">
            <a:r>
              <a:t>Compare the full output distribution or logits, allowing normal floating-point tolerance.</a:t>
            </a:r>
          </a:p>
          <a:p xmlns:a="http://schemas.openxmlformats.org/drawingml/2006/main">
            <a:r>
              <a:t>If the future tokens change the first-position output, the causal computation is wrong somewhere.</a:t>
            </a:r>
          </a:p>
          <a:p xmlns:a="http://schemas.openxmlformats.org/drawingml/2006/main">
            <a:r>
              <a:t>Passing this check does not establish every other aspect of correctness or safety.</a:t>
            </a:r>
          </a:p>
          <a:p xmlns:a="http://schemas.openxmlformats.org/drawingml/2006/main">
            <a:r>
              <a:t>It does give us one concrete, independent way to detect the specific leakage discussed on the previous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calculations we have already practiced are part of this route.</a:t>
            </a:r>
          </a:p>
          <a:p xmlns:a="http://schemas.openxmlformats.org/drawingml/2006/main">
            <a:r>
              <a:t>Regression connected a prediction, a target, a Loss, and a parameter update.</a:t>
            </a:r>
          </a:p>
          <a:p xmlns:a="http://schemas.openxmlformats.org/drawingml/2006/main">
            <a:r>
              <a:t>Linear algebra gives us a way to describe many numerical features at once.</a:t>
            </a:r>
          </a:p>
          <a:p xmlns:a="http://schemas.openxmlformats.org/drawingml/2006/main">
            <a:r>
              <a:t>The Transformer combines those numerical representations through Attention and other layers.</a:t>
            </a:r>
          </a:p>
          <a:p xmlns:a="http://schemas.openxmlformats.org/drawingml/2006/main">
            <a:r>
              <a:t>We will then run small safety-related experiments, such as checking which inputs affect a prediction or whether behavior changes under a new condition.</a:t>
            </a:r>
          </a:p>
          <a:p xmlns:a="http://schemas.openxmlformats.org/drawingml/2006/main">
            <a:r>
              <a:t>The aim is a chain of understanding from a hand calculation to an implementation and then to evidence.</a:t>
            </a:r>
          </a:p>
          <a:p xmlns:a="http://schemas.openxmlformats.org/drawingml/2006/main">
            <a:r>
              <a:t>Our examples will be deliberately small so that we can inspect intermediate values and explain what changed.</a:t>
            </a:r>
          </a:p>
          <a:p xmlns:a="http://schemas.openxmlformats.org/drawingml/2006/main">
            <a:r>
              <a:t>This course path is a teaching choice, not a claim that it covers the entire AI safety field.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choose one claim from this lesson and suggest a test that could show it is wrong.</a:t>
            </a:r>
          </a:p>
          <a:p xmlns:a="http://schemas.openxmlformats.org/drawingml/2006/main">
            <a:r>
              <a:t>For example, if we believe the model cannot see future tokens, what input change would challenge that belief?</a:t>
            </a:r>
          </a:p>
          <a:p xmlns:a="http://schemas.openxmlformats.org/drawingml/2006/main">
            <a:r>
              <a:t>If we believe a model has learned the intended task, what new situation would distinguish that from memorizing a shortcut?</a:t>
            </a:r>
          </a:p>
          <a:p xmlns:a="http://schemas.openxmlformats.org/drawingml/2006/main">
            <a:r>
              <a:t>There is no single preferred answer to the discussion question.</a:t>
            </a:r>
          </a:p>
          <a:p xmlns:a="http://schemas.openxmlformats.org/drawingml/2006/main">
            <a:r>
              <a:t>Look for a clear prediction, a comparison, and an outcome that would cause the student to revise the claim.</a:t>
            </a:r>
          </a:p>
          <a:p xmlns:a="http://schemas.openxmlformats.org/drawingml/2006/main">
            <a:r>
              <a:t>The linked readings are primary sources behind the lesson, and individual slides contain additional source URLs in their notes.</a:t>
            </a:r>
          </a:p>
          <a:p xmlns:a="http://schemas.openxmlformats.org/drawingml/2006/main">
            <a:r>
              <a:t>We will use AI as a practical coding tool while learning enough about the calculations to evaluate the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af4a492c304f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eede58047844ae" /><Relationship Type="http://schemas.openxmlformats.org/officeDocument/2006/relationships/slideLayout" Target="/ppt/slideLayouts/slideLayout1.xml" Id="R25f6801dbfb949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f6801dbfb949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41313d8ac4986" /><Relationship Type="http://schemas.openxmlformats.org/officeDocument/2006/relationships/image" Target="/ppt/media/image.png" Id="R82eadd80d45848aa" /><Relationship Type="http://schemas.openxmlformats.org/officeDocument/2006/relationships/notesSlide" Target="/ppt/notesSlides/notesSlide1.xml" Id="R3b58be3b6a9c4c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be2eb9bc74567" /><Relationship Type="http://schemas.openxmlformats.org/officeDocument/2006/relationships/image" Target="/ppt/media/image2.png" Id="R30cd04254a754048" /><Relationship Type="http://schemas.openxmlformats.org/officeDocument/2006/relationships/notesSlide" Target="/ppt/notesSlides/notesSlide2.xml" Id="Rfb01cf967e8041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bdf53347c48c2" /><Relationship Type="http://schemas.openxmlformats.org/officeDocument/2006/relationships/notesSlide" Target="/ppt/notesSlides/notesSlide3.xml" Id="R8f7e24d8d52e44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22e6df4b74e7e" /><Relationship Type="http://schemas.openxmlformats.org/officeDocument/2006/relationships/image" Target="/ppt/media/image3.png" Id="Re57cd419b6694ada" /><Relationship Type="http://schemas.openxmlformats.org/officeDocument/2006/relationships/notesSlide" Target="/ppt/notesSlides/notesSlide4.xml" Id="Ref83e89883de42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3b132330e4c1f" /><Relationship Type="http://schemas.openxmlformats.org/officeDocument/2006/relationships/image" Target="/ppt/media/image4.png" Id="R43c6b75a2ef94a9b" /><Relationship Type="http://schemas.openxmlformats.org/officeDocument/2006/relationships/notesSlide" Target="/ppt/notesSlides/notesSlide5.xml" Id="R1920d015fc8449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429b079054d56" /><Relationship Type="http://schemas.openxmlformats.org/officeDocument/2006/relationships/image" Target="/ppt/media/image5.png" Id="R4a40ff9c1501488c" /><Relationship Type="http://schemas.openxmlformats.org/officeDocument/2006/relationships/notesSlide" Target="/ppt/notesSlides/notesSlide6.xml" Id="Ra600e43c13f040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4958ca8d346fe" /><Relationship Type="http://schemas.openxmlformats.org/officeDocument/2006/relationships/image" Target="/ppt/media/image6.png" Id="R520b4d08922041e8" /><Relationship Type="http://schemas.openxmlformats.org/officeDocument/2006/relationships/notesSlide" Target="/ppt/notesSlides/notesSlide7.xml" Id="Rda1428f1275b4d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00850db114b5c" /><Relationship Type="http://schemas.openxmlformats.org/officeDocument/2006/relationships/image" Target="/ppt/media/image7.png" Id="R0d86a49259c84d03" /><Relationship Type="http://schemas.openxmlformats.org/officeDocument/2006/relationships/notesSlide" Target="/ppt/notesSlides/notesSlide8.xml" Id="R24c536e63c3546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e7979e017442f" /><Relationship Type="http://schemas.openxmlformats.org/officeDocument/2006/relationships/image" Target="/ppt/media/image8.png" Id="R67ee2090f8c042bd" /><Relationship Type="http://schemas.openxmlformats.org/officeDocument/2006/relationships/notesSlide" Target="/ppt/notesSlides/notesSlide9.xml" Id="R9779cea7ab584d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69bb85cf843d8" /><Relationship Type="http://schemas.openxmlformats.org/officeDocument/2006/relationships/image" Target="/ppt/media/image9.png" Id="R6acb737bbc944543" /><Relationship Type="http://schemas.openxmlformats.org/officeDocument/2006/relationships/notesSlide" Target="/ppt/notesSlides/notesSlide10.xml" Id="R03ec36998c2a4b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51fcd45674bd4" /><Relationship Type="http://schemas.openxmlformats.org/officeDocument/2006/relationships/notesSlide" Target="/ppt/notesSlides/notesSlide11.xml" Id="R7bbf7be3a8ce42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a13fd491743fe" /><Relationship Type="http://schemas.openxmlformats.org/officeDocument/2006/relationships/notesSlide" Target="/ppt/notesSlides/notesSlide12.xml" Id="R14e4c76d090f4d9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dce8e00514c61" /><Relationship Type="http://schemas.openxmlformats.org/officeDocument/2006/relationships/notesSlide" Target="/ppt/notesSlides/notesSlide13.xml" Id="Re70bfe6d8ac9420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8bc3a646a4673" /><Relationship Type="http://schemas.openxmlformats.org/officeDocument/2006/relationships/image" Target="/ppt/media/image10.png" Id="Rd9d05bcc8e394b0b" /><Relationship Type="http://schemas.openxmlformats.org/officeDocument/2006/relationships/notesSlide" Target="/ppt/notesSlides/notesSlide14.xml" Id="R753cda7cd68045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fc7d5191e4477" /><Relationship Type="http://schemas.openxmlformats.org/officeDocument/2006/relationships/notesSlide" Target="/ppt/notesSlides/notesSlide15.xml" Id="R6dca9b8f9c1347e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ee076ce5c42aa" /><Relationship Type="http://schemas.openxmlformats.org/officeDocument/2006/relationships/notesSlide" Target="/ppt/notesSlides/notesSlide16.xml" Id="Rbefa3a8584dc464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3b4d42cfb4f03" /><Relationship Type="http://schemas.openxmlformats.org/officeDocument/2006/relationships/notesSlide" Target="/ppt/notesSlides/notesSlide17.xml" Id="Rcf4138b679ba4fc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aee7696494603" /><Relationship Type="http://schemas.openxmlformats.org/officeDocument/2006/relationships/notesSlide" Target="/ppt/notesSlides/notesSlide18.xml" Id="Re0ecc7a15672417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aaa6747394211" /><Relationship Type="http://schemas.openxmlformats.org/officeDocument/2006/relationships/image" Target="/ppt/media/image11.png" Id="R50081213991e458d" /><Relationship Type="http://schemas.openxmlformats.org/officeDocument/2006/relationships/notesSlide" Target="/ppt/notesSlides/notesSlide19.xml" Id="R0c7ffebfed17442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cdf27fdec4432" /><Relationship Type="http://schemas.openxmlformats.org/officeDocument/2006/relationships/hyperlink" Target="https://openai.com/index/faulty-reward-functions/" TargetMode="External" Id="Rffaecd36c23943ba" /><Relationship Type="http://schemas.openxmlformats.org/officeDocument/2006/relationships/hyperlink" Target="https://arxiv.org/abs/1706.03762" TargetMode="External" Id="R7d9e93b74c584f9e" /><Relationship Type="http://schemas.openxmlformats.org/officeDocument/2006/relationships/hyperlink" Target="https://www.nist.gov/publications/artificial-intelligence-risk-management-framework-ai-rmf-10" TargetMode="External" Id="Rd37caa41747f4008" /><Relationship Type="http://schemas.openxmlformats.org/officeDocument/2006/relationships/hyperlink" Target="https://www.anthropic.com/research/mapping-mind-language-model" TargetMode="External" Id="Rbdb16415062b4431" /><Relationship Type="http://schemas.openxmlformats.org/officeDocument/2006/relationships/hyperlink" Target="https://internationalaisafetyreport.org/publication/2026-report-executive-summary" TargetMode="External" Id="Rc01c630f26d242e7" /><Relationship Type="http://schemas.openxmlformats.org/officeDocument/2006/relationships/notesSlide" Target="/ppt/notesSlides/notesSlide20.xml" Id="Rdc08c14c2e0f45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eadd80d45848a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82C18-8181-41D6-96B1-B440C72F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25CA1-175F-42CB-8972-4F46CC02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61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Introduction 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3283E-C11B-4749-92E9-21E57765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Technical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D8AAA-79B6-4789-8583-6D0C7867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428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52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AI Safety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2D65C-BF2B-40EF-86C2-29DF56F9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Understanding models. Testing assumptions.</a:t>
            </a:r>
          </a:p>
        </p:txBody>
      </p:sp>
    </p:spTree>
    <p:extLst>
      <p:ext uri="{BB962C8B-B14F-4D97-AF65-F5344CB8AC3E}">
        <p14:creationId xmlns:p14="http://schemas.microsoft.com/office/powerpoint/2010/main" val="19064782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6A336-2881-4627-A2C6-5CFC3738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WHY IT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21757-C224-428B-95DF-FB0EEBBF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AI 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B7CF2-B030-464D-A171-0E8711B8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374FD-5686-4454-B3FA-4301257A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61ECF-5FAC-4CD9-8A7E-050A428F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Capability alone does not establish safety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d04254a754048"/>
          <a:stretch xmlns:a="http://schemas.openxmlformats.org/drawingml/2006/main"/>
        </p:blipFill>
        <p:spPr>
          <a:xfrm xmlns:a="http://schemas.openxmlformats.org/drawingml/2006/main">
            <a:off x="4657725" y="1428750"/>
            <a:ext cx="6629400" cy="4419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ACF1E-3C6B-4D38-AC81-53C3F276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37338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An answer can</a:t>
            </a:r>
          </a:p>
          <a:p xmlns:a="http://schemas.openxmlformats.org/drawingml/2006/main">
            <a:pPr algn="l">
              <a:def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become an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9FB90-00D0-4993-A06A-5C40F584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People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5AB53-67B1-4857-AD37-61069DCA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Decisions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2EA27-0B87-4B52-A183-67257658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9675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Real consequences</a:t>
            </a:r>
          </a:p>
        </p:txBody>
      </p:sp>
    </p:spTree>
    <p:extLst>
      <p:ext uri="{BB962C8B-B14F-4D97-AF65-F5344CB8AC3E}">
        <p14:creationId xmlns:p14="http://schemas.microsoft.com/office/powerpoint/2010/main" val="20629247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E0394-A8D0-4DFA-B23D-E7D56D2D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2016 TO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32BA0-EA28-42E1-928F-04BEBEFD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A decade of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649FE-3DB4-49F5-9440-ADF82252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92B2B-821C-4F3E-BC12-73AEABE8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394B3-3C71-4F42-A048-87A881B5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More capability brings more questions to test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820400" cy="3314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3400"/>
                <a:gridCol w="1803400"/>
                <a:gridCol w="1803400"/>
                <a:gridCol w="1803400"/>
                <a:gridCol w="1803400"/>
                <a:gridCol w="1803400"/>
              </a:tblGrid>
              <a:tr h="742950">
                <a:tc>
                  <a:txBody>
                    <a:bodyPr anchor="ctr"/>
                    <a:lstStyle/>
                    <a:p>
                      <a:pPr algn="l"/>
                      <a:r>
                        <a:rPr sz="2475" b="1">
                          <a:solidFill>
                            <a:srgbClr val="EE510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2016</a:t>
                      </a:r>
                    </a:p>
                  </a:txBody>
                  <a:tcPr marL="171450" marR="133350" marT="133350" marB="133350" anchor="ctr">
                    <a:solidFill>
                      <a:srgbClr val="F3F2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475" b="1">
                          <a:solidFill>
                            <a:srgbClr val="EE510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2017</a:t>
                      </a:r>
                    </a:p>
                  </a:txBody>
                  <a:tcPr marL="171450" marR="133350" marT="133350" marB="133350" anchor="ctr">
                    <a:solidFill>
                      <a:srgbClr val="F3F2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475" b="1">
                          <a:solidFill>
                            <a:srgbClr val="EE510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2022</a:t>
                      </a:r>
                    </a:p>
                  </a:txBody>
                  <a:tcPr marL="171450" marR="133350" marT="133350" marB="133350" anchor="ctr">
                    <a:solidFill>
                      <a:srgbClr val="F3F2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475" b="1">
                          <a:solidFill>
                            <a:srgbClr val="EE510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2023</a:t>
                      </a:r>
                    </a:p>
                  </a:txBody>
                  <a:tcPr marL="171450" marR="133350" marT="133350" marB="133350" anchor="ctr">
                    <a:solidFill>
                      <a:srgbClr val="F3F2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475" b="1">
                          <a:solidFill>
                            <a:srgbClr val="EE510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2024</a:t>
                      </a:r>
                    </a:p>
                  </a:txBody>
                  <a:tcPr marL="171450" marR="133350" marT="133350" marB="133350" anchor="ctr">
                    <a:solidFill>
                      <a:srgbClr val="F3F2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475" b="1">
                          <a:solidFill>
                            <a:srgbClr val="EE510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2025 / 26</a:t>
                      </a:r>
                    </a:p>
                  </a:txBody>
                  <a:tcPr marL="171450" marR="133350" marT="133350" marB="133350" anchor="ctr">
                    <a:solidFill>
                      <a:srgbClr val="F3F2EF"/>
                    </a:solidFill>
                  </a:tcPr>
                </a:tc>
              </a:tr>
              <a:tr h="857250">
                <a:tc>
                  <a:txBody>
                    <a:bodyPr anchor="ctr"/>
                    <a:lstStyle/>
                    <a:p>
                      <a:pPr algn="l"/>
                      <a:r>
                        <a:rPr sz="1875" b="1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Reward</a:t>
                      </a:r>
                    </a:p>
                  </a:txBody>
                  <a:tcPr marL="171450" marR="133350" marT="133350" marB="133350" anchor="ctr">
                    <a:solidFill>
                      <a:srgbClr val="F3F2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875" b="1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Transformer</a:t>
                      </a:r>
                    </a:p>
                  </a:txBody>
                  <a:tcPr marL="171450" marR="133350" marT="133350" marB="133350" anchor="ctr">
                    <a:solidFill>
                      <a:srgbClr val="F3F2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875" b="1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Human feedback</a:t>
                      </a:r>
                    </a:p>
                  </a:txBody>
                  <a:tcPr marL="171450" marR="133350" marT="133350" marB="133350" anchor="ctr">
                    <a:solidFill>
                      <a:srgbClr val="F3F2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875" b="1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Governance</a:t>
                      </a:r>
                    </a:p>
                  </a:txBody>
                  <a:tcPr marL="171450" marR="133350" marT="133350" marB="133350" anchor="ctr">
                    <a:solidFill>
                      <a:srgbClr val="F3F2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875" b="1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Hidden behavior</a:t>
                      </a:r>
                    </a:p>
                  </a:txBody>
                  <a:tcPr marL="171450" marR="133350" marT="133350" marB="133350" anchor="ctr">
                    <a:solidFill>
                      <a:srgbClr val="F3F2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875" b="1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Better evidence</a:t>
                      </a:r>
                    </a:p>
                  </a:txBody>
                  <a:tcPr marL="171450" marR="133350" marT="133350" marB="133350" anchor="ctr">
                    <a:solidFill>
                      <a:srgbClr val="F3F2EF"/>
                    </a:solidFill>
                  </a:tcPr>
                </a:tc>
              </a:tr>
              <a:tr h="1714500">
                <a:tc>
                  <a:txBody>
                    <a:bodyPr anchor="ctr"/>
                    <a:lstStyle/>
                    <a:p>
                      <a:pPr algn="l"/>
                      <a:r>
                        <a:rPr sz="18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What is rewarded?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8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What is computed?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8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Whose preferences?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8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Who checks?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8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What do tests miss?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8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What can we conclude?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6979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E7B3B-6ED7-495B-A5F3-212BD812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2016 · COASTRUNNERS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FD62B-BC46-4128-A8B5-323907F5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Reward and intent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16F7C-35E3-4D58-BBAC-9296D521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5EE5A-48DD-4925-B11B-72D8510B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09D1D-CD9F-4F85-AD92-27DE2DCE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A measurable score can miss the real goal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cd419b6694ada"/>
          <a:stretch xmlns:a="http://schemas.openxmlformats.org/drawingml/2006/main"/>
        </p:blipFill>
        <p:spPr>
          <a:xfrm xmlns:a="http://schemas.openxmlformats.org/drawingml/2006/main">
            <a:off x="4657725" y="1428750"/>
            <a:ext cx="6629400" cy="4419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B9CF9-3BD5-4F7E-8CC4-9A784788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37338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More points</a:t>
            </a:r>
          </a:p>
          <a:p xmlns:a="http://schemas.openxmlformats.org/drawingml/2006/main">
            <a:pPr algn="l">
              <a:def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without finishing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91BA9-3F1C-4BDB-8F7C-32ABE72E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Intended task: finish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CE498-D875-4AA8-B610-C22EE95E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Rewarded behavior: loop</a:t>
            </a:r>
          </a:p>
        </p:txBody>
      </p:sp>
    </p:spTree>
    <p:extLst>
      <p:ext uri="{BB962C8B-B14F-4D97-AF65-F5344CB8AC3E}">
        <p14:creationId xmlns:p14="http://schemas.microsoft.com/office/powerpoint/2010/main" val="16821753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B3AC5-78A4-440F-B190-5B490EA6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2017 · ATTENTION IS ALL YOU NEED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EE593-EACE-4A35-B721-3357D6A1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The Transformer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7E68B-35FA-48E6-BDFD-0BB2E4BD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18C1A-7949-4603-99D7-D29A31E2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D8DAA-D77B-426F-8E69-7DAF244E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Each stage gives us something we can inspect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8B273-88D2-4B2A-A799-14DC94D4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A model is a sequence of computations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6b75a2ef94a9b"/>
          <a:srcRect xmlns:a="http://schemas.openxmlformats.org/drawingml/2006/main" l="0" t="25044" r="0" b="250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00225"/>
            <a:ext cx="10820400" cy="3600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5856B-428B-4DB6-B3A0-C88D187D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Tokens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B5436-8FB9-4FDD-A7FB-FE1AFA9B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43877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Vectors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A909D-190C-42E5-A546-10DCB783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3877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Attention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E3D613-75B5-48BC-B560-1552A517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43877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Prediction</a:t>
            </a:r>
          </a:p>
        </p:txBody>
      </p:sp>
    </p:spTree>
    <p:extLst>
      <p:ext uri="{BB962C8B-B14F-4D97-AF65-F5344CB8AC3E}">
        <p14:creationId xmlns:p14="http://schemas.microsoft.com/office/powerpoint/2010/main" val="5908918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99B8D-12F6-4A67-903E-5C03E64C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2022 · INSTRUCTGPT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DAB8D-E902-4A9C-B36B-B9618A6A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Human feedback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97FDD-D056-4CC4-8896-2C40C8ED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F05D4-5A15-45CF-A64F-4850B8C2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4B611-12DC-40CA-9300-F13B3CEB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Better preferences do not settle every safety question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0ff9c1501488c"/>
          <a:stretch xmlns:a="http://schemas.openxmlformats.org/drawingml/2006/main"/>
        </p:blipFill>
        <p:spPr>
          <a:xfrm xmlns:a="http://schemas.openxmlformats.org/drawingml/2006/main">
            <a:off x="4657725" y="1428750"/>
            <a:ext cx="6629400" cy="4419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FF53D-7423-48BE-8C51-33CB9551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37338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Preferences</a:t>
            </a:r>
          </a:p>
          <a:p xmlns:a="http://schemas.openxmlformats.org/drawingml/2006/main">
            <a:pPr algn="l">
              <a:def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guide training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D09E8-7D04-4A55-963D-19D34124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Compare responses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967A2-3036-4050-BB3E-2E4ED110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Learn from rankings</a:t>
            </a:r>
          </a:p>
        </p:txBody>
      </p:sp>
    </p:spTree>
    <p:extLst>
      <p:ext uri="{BB962C8B-B14F-4D97-AF65-F5344CB8AC3E}">
        <p14:creationId xmlns:p14="http://schemas.microsoft.com/office/powerpoint/2010/main" val="11644462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FB9CA4-48D6-4093-9127-B1E41D9B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2023 · NIST AI RMF 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A4055-F990-48DF-BA62-99027CFD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Risk management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AE386-998C-4B6F-A73D-27B908EA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16D00-5243-4746-9254-79A282C4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AE507-9D10-442C-A373-C7B102F1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Context, measurement, response, and responsibility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b4d08922041e8"/>
          <a:stretch xmlns:a="http://schemas.openxmlformats.org/drawingml/2006/main"/>
        </p:blipFill>
        <p:spPr>
          <a:xfrm xmlns:a="http://schemas.openxmlformats.org/drawingml/2006/main">
            <a:off x="4441031" y="1381125"/>
            <a:ext cx="6643688" cy="4429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1B8B0-2F99-494F-AD5D-9F7DA45F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524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Safety is</a:t>
            </a:r>
          </a:p>
          <a:p xmlns:a="http://schemas.openxmlformats.org/drawingml/2006/main">
            <a:pPr algn="l">
              <a:def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continuous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08B7D-08A6-4C76-A1FE-306FE1E7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28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Voluntary framework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30712-B423-45AB-BDD2-3821F7C8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62175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FE258-7D90-4573-BB35-2B33CE25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16217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Measure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72E61-16DA-4DA8-B393-0A97ED8F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8132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Govern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7C3A4-FBF8-41E4-B97B-0D4F46B1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76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Manage</a:t>
            </a:r>
          </a:p>
        </p:txBody>
      </p:sp>
    </p:spTree>
    <p:extLst>
      <p:ext uri="{BB962C8B-B14F-4D97-AF65-F5344CB8AC3E}">
        <p14:creationId xmlns:p14="http://schemas.microsoft.com/office/powerpoint/2010/main" val="6386251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3CC96-21D2-4832-B6FE-C2385F3F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JANUARY 2024 · SLEEPER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40D3D-6FAB-4A2A-8E6C-B1357DBB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Hidden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F99D6-85D3-4769-8BAB-F15C4250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593C3-DFF9-45A3-BE0D-41AB8420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3A041-B4D0-413A-8579-0490C426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A controlled experiment with deliberately trained behavior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6a49259c84d03"/>
          <a:stretch xmlns:a="http://schemas.openxmlformats.org/drawingml/2006/main"/>
        </p:blipFill>
        <p:spPr>
          <a:xfrm xmlns:a="http://schemas.openxmlformats.org/drawingml/2006/main">
            <a:off x="4657725" y="1428750"/>
            <a:ext cx="6629400" cy="4419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4D195-8D69-4825-8DA8-95EA1F7E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37338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One condition</a:t>
            </a:r>
          </a:p>
          <a:p xmlns:a="http://schemas.openxmlformats.org/drawingml/2006/main">
            <a:pPr algn="l">
              <a:def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changes behavior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69994-0D78-4C4F-9AC9-DFF74802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Year 2023: secure 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35E33-4B77-49C7-85F4-E9DF99C1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Year 2024: vulnerable code</a:t>
            </a:r>
          </a:p>
        </p:txBody>
      </p:sp>
    </p:spTree>
    <p:extLst>
      <p:ext uri="{BB962C8B-B14F-4D97-AF65-F5344CB8AC3E}">
        <p14:creationId xmlns:p14="http://schemas.microsoft.com/office/powerpoint/2010/main" val="12248694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7053CE-7691-4C2C-A981-21B7FEC9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MAY 2024 · MAPPING THE MIND OF A LANGUAGE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F763F-C229-4C49-AC28-E09D5DF8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Inside the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193CD-B11A-4078-AFCF-FD6532AD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25443-75A4-4C5C-A1DC-7DE6BE08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8C5A5-4274-4F61-8F72-4D7624BF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Partial understanding is useful, but it is still partial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B45A4-1518-465C-B633-1748A6F3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Find a feature. Change it. Compare behavior.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e2090f8c042bd"/>
          <a:srcRect xmlns:a="http://schemas.openxmlformats.org/drawingml/2006/main" l="0" t="25044" r="0" b="250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00225"/>
            <a:ext cx="10820400" cy="3600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CB718-191F-4BC3-A464-8DDDC769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349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Internal activity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26D76-2BD7-4503-A22B-552E1FE8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5438775"/>
            <a:ext cx="349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Selected feature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95C98-C0B6-4EA2-A0CF-876266EE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5438775"/>
            <a:ext cx="349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Changed output</a:t>
            </a:r>
          </a:p>
        </p:txBody>
      </p:sp>
    </p:spTree>
    <p:extLst>
      <p:ext uri="{BB962C8B-B14F-4D97-AF65-F5344CB8AC3E}">
        <p14:creationId xmlns:p14="http://schemas.microsoft.com/office/powerpoint/2010/main" val="9189316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84444A-EBFD-4F38-8FCB-4218D0EC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AUGUST 2024 · EU AI ACT ENTERS INTO FORCE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E9670-2B21-45BB-A468-4F0337BC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Risk-based regulation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D6DBB-EF46-42C9-9036-E7729A81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2FA1A-590A-498D-BA8D-7121750D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D13E2-0280-47A1-914A-9A29A1F5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Entry into force is different from application of every obligation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b737bbc944543"/>
          <a:stretch xmlns:a="http://schemas.openxmlformats.org/drawingml/2006/main"/>
        </p:blipFill>
        <p:spPr>
          <a:xfrm xmlns:a="http://schemas.openxmlformats.org/drawingml/2006/main">
            <a:off x="1181100" y="1800225"/>
            <a:ext cx="5715000" cy="3810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8D9B8-5F47-49EA-90BF-D2E97DF5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Different risks, different requirements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A96B9-F324-45A0-B8AB-159B9F96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907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Unacceptable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6E965-99EB-4B89-A39E-F97B7A8A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527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Prohibited uses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701CA-D558-494E-A6D3-98014526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289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High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0996E-030F-4F1E-83E3-E7B97FDA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909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Requirements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98F98-F27A-4F8A-BCA1-54FDAF1F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909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Limited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DE8CD-2DB1-45EE-AD24-BFE03CFF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529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Transparency obligations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1C3A59-C172-4BDE-A7B9-BB006F18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96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Minimal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C1CCE5-5561-4E0A-8DFC-7A048F89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816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Generally no added obligations</a:t>
            </a:r>
          </a:p>
        </p:txBody>
      </p:sp>
    </p:spTree>
    <p:extLst>
      <p:ext uri="{BB962C8B-B14F-4D97-AF65-F5344CB8AC3E}">
        <p14:creationId xmlns:p14="http://schemas.microsoft.com/office/powerpoint/2010/main" val="5137896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7234C0-D2EB-458D-8D49-ED1D5545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2025 · REWARD HACKING IN CODING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E566E-71EE-4D1D-A8AA-564E8542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The test can be wrong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02AD5-473D-408D-94F1-B106ECE5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F962F-0F50-4D61-9062-42CA70B9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56782-D5DE-4D0C-8033-0BB64D32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The evidence must be harder to change than the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7A06D-6327-440B-A84B-73FCBFE7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895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Passing the check</a:t>
            </a:r>
          </a:p>
          <a:p xmlns:a="http://schemas.openxmlformats.org/drawingml/2006/main"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without solving the 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8EB86-6A13-4AC3-AE3C-3138E184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6381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0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def verify(solution):</a:t>
            </a:r>
          </a:p>
          <a:p xmlns:a="http://schemas.openxmlformats.org/drawingml/2006/main">
            <a:pPr algn="l">
              <a:defRPr sz="2625" b="0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0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    return True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93313-4F71-4A44-A366-09C5C3E5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05175"/>
            <a:ext cx="328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Check passes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1F3F9-95E1-48E7-9DDE-7874B094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24325"/>
            <a:ext cx="328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Task fails</a:t>
            </a:r>
          </a:p>
        </p:txBody>
      </p:sp>
    </p:spTree>
    <p:extLst>
      <p:ext uri="{BB962C8B-B14F-4D97-AF65-F5344CB8AC3E}">
        <p14:creationId xmlns:p14="http://schemas.microsoft.com/office/powerpoint/2010/main" val="683782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C686A-A008-41A1-BCCD-55340F70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FEBRUARY 2026 · INTERNATIONAL AI SAFETY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9CF83-A7C5-4D4D-88CF-EA8CB52D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Evidence and uncertainty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B9805-5771-405D-B0CC-5DE09FF9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F370A-2CD5-4D4D-9E34-681F960B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9BDA1-B3BF-42B0-B204-58558BEB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Take risks seriously without treating every concern as a 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B5042-DEFC-4247-8C21-D0C0F396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Separate what happened</a:t>
            </a:r>
          </a:p>
          <a:p xmlns:a="http://schemas.openxmlformats.org/drawingml/2006/main">
            <a:pPr algn="l">
              <a:defRPr sz="29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from what could happen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867025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952875"/>
                <a:gridCol w="6867525"/>
              </a:tblGrid>
              <a:tr h="642938">
                <a:tc>
                  <a:txBody>
                    <a:bodyPr anchor="ctr"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Evidence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What it can support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</a:tr>
              <a:tr h="642938"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Observed harm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 real event in a particular setting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  <a:tr h="642938"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Controlled experiment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 mechanism under tested conditions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  <a:tr h="642938"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Future possibility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 scenario that needs more evidence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17515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0674E-AD8F-4E48-B6E7-8A3FF356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SHARED RULES AND ACCOUNTABILITY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8C90E-2EA2-49C6-977F-7983A369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Why regulation?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670E5-72A5-49DF-B22B-DE058DD5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3067E-53EA-4531-B838-6101302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0EF68-D4BF-4576-84C8-D985369B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Rules set expectations. Technical work supplies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2DB5FB-5D6E-4294-95F3-C128C764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71562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People affected by AI</a:t>
            </a:r>
          </a:p>
          <a:p xmlns:a="http://schemas.openxmlformats.org/drawingml/2006/main">
            <a:pPr algn="l">
              <a:defRPr sz="30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cannot inspect every model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867025"/>
          <a:ext xmlns:a="http://schemas.openxmlformats.org/drawingml/2006/main" cx="10820400" cy="25622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552950"/>
                <a:gridCol w="6267450"/>
              </a:tblGrid>
              <a:tr h="640556">
                <a:tc>
                  <a:txBody>
                    <a:bodyPr anchor="ctr"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Instrument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Role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</a:tr>
              <a:tr h="640556"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NIST AI RMF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Voluntary framework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  <a:tr h="640556"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Bletchley Declaration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International joint declaration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  <a:tr h="640556"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EU AI Act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Law with risk-based requirements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48980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19A4B2-ADC5-4C3B-9E32-A51DC224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QUESTIONS WE CAN INVESTIGATE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E8CA0-249F-4343-A753-ADEB49F2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Technical AI 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C17AE-A5E3-471C-B8A9-90ECD715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D6AC8-F3D7-449C-A4E4-5446F263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4B34E-7619-4F6E-B1B0-CBF98D11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Several methods, each with limits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E4D02-BF62-4264-AE9C-D48BADCF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Test. Improve. Understand. Control.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05bcc8e394b0b"/>
          <a:srcRect xmlns:a="http://schemas.openxmlformats.org/drawingml/2006/main" l="0" t="14202" r="0" b="142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38575" y="1952625"/>
            <a:ext cx="7762875" cy="37052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614F1-FFBB-4DD3-9ABD-1A279767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228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333AF9-67B3-4417-B8B9-56AD42F1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32289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Where does it fail?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D4B59-025D-43BC-BB6B-B4697F0A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3228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Alignment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939F6-5522-4C5C-A471-0ECD31BB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32289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Which goal is learned?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F3D4D-3183-4AF4-BC54-02097879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228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Interpretability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E58FD-DBF9-4D0F-A714-47285EEA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2289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What is computed inside?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7EFB4D-62C8-47A1-A8F9-EB808ECF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3228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623E1A-9DF2-4E5E-8FED-162B874C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32289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Which actions are allowed?</a:t>
            </a:r>
          </a:p>
        </p:txBody>
      </p:sp>
    </p:spTree>
    <p:extLst>
      <p:ext uri="{BB962C8B-B14F-4D97-AF65-F5344CB8AC3E}">
        <p14:creationId xmlns:p14="http://schemas.microsoft.com/office/powerpoint/2010/main" val="14432047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1D300-F378-4858-AAFA-7789077D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OBSERVATION AND INTERVENTION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21FEC-4A22-49DA-869C-0D5C5497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Model understanding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AABC5-D960-4C4B-BF52-42391115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AB7B6-FBFA-49BA-BFAB-D1A1C821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CE258-073F-4177-9C3C-6096F301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Change one thing. Keep the comparison controlled.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38C30-3FE6-4FF4-BC55-7AF7E890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382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A pattern is a clue,</a:t>
            </a:r>
          </a:p>
          <a:p xmlns:a="http://schemas.openxmlformats.org/drawingml/2006/main">
            <a:pPr algn="l">
              <a:defRPr sz="32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not yet an explanation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952750"/>
          <a:ext xmlns:a="http://schemas.openxmlformats.org/drawingml/2006/main" cx="10820400" cy="2533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410200"/>
                <a:gridCol w="5410200"/>
              </a:tblGrid>
              <a:tr h="633413">
                <a:tc>
                  <a:txBody>
                    <a:bodyPr anchor="ctr"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Observation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Intervention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</a:tr>
              <a:tr h="633413"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The feature is active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Change the selected feature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  <a:tr h="633413"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 pattern appears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Compare behavior under a control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  <a:tr h="633413"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 clue about the mechanism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95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Evidence about a causal role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12314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34481-5A13-462E-A044-8DF496AB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AI CAN WRITE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5C424-CE50-4A4B-8FDF-85DD35F3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Why From Scratch?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28C96-8439-46BA-85C7-13C62160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CA267-12BB-458E-9CAF-09C473D3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9147C-110D-4021-A727-B52918E7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A lower Loss can reward an implementation mistake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3FEB5-158F-4368-ACFC-1CD3D658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810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But we still need to</a:t>
            </a:r>
          </a:p>
          <a:p xmlns:a="http://schemas.openxmlformats.org/drawingml/2006/main"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understand the check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2943225"/>
          <a:ext xmlns:a="http://schemas.openxmlformats.org/drawingml/2006/main" cx="10820400" cy="2171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33650"/>
                <a:gridCol w="2762250"/>
                <a:gridCol w="2762250"/>
                <a:gridCol w="2762250"/>
              </a:tblGrid>
              <a:tr h="723900">
                <a:tc>
                  <a:txBody>
                    <a:bodyPr anchor="ctr"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Position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</a:tr>
              <a:tr h="723900">
                <a:tc>
                  <a:txBody>
                    <a:bodyPr anchor="ctr"/>
                    <a:lstStyle/>
                    <a:p>
                      <a:pPr algn="l"/>
                      <a:r>
                        <a:rPr sz="24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Input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4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we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4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build</a:t>
                      </a:r>
                    </a:p>
                  </a:txBody>
                  <a:tcPr marL="171450" marR="133350" marT="133350" marB="133350" anchor="ctr">
                    <a:solidFill>
                      <a:srgbClr val="FAD8C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4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models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  <a:tr h="723900">
                <a:tc>
                  <a:txBody>
                    <a:bodyPr anchor="ctr"/>
                    <a:lstStyle/>
                    <a:p>
                      <a:pPr algn="l"/>
                      <a:r>
                        <a:rPr sz="24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Target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4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build</a:t>
                      </a:r>
                    </a:p>
                  </a:txBody>
                  <a:tcPr marL="171450" marR="133350" marT="133350" marB="133350" anchor="ctr">
                    <a:solidFill>
                      <a:srgbClr val="FAD8C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4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models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4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END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621EB-8651-4889-9208-CE91CE17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At position 1, seeing input 2 exposes the target</a:t>
            </a:r>
          </a:p>
        </p:txBody>
      </p:sp>
    </p:spTree>
    <p:extLst>
      <p:ext uri="{BB962C8B-B14F-4D97-AF65-F5344CB8AC3E}">
        <p14:creationId xmlns:p14="http://schemas.microsoft.com/office/powerpoint/2010/main" val="2589778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69797-D898-4669-9AF7-1578F863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A SMALL IMPLEMENTATION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8B4FF-76DA-4641-820D-0FF22C05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The causal mask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4B148-8314-4D81-844E-DBA95512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1AB9C-5427-4198-B71E-5333324F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568A4-433A-4453-BC30-8690723E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At each position, use only the current token and its past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2E411-5880-4A2D-980D-FE5186B0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408622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07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Hide the answer</a:t>
            </a:r>
          </a:p>
          <a:p xmlns:a="http://schemas.openxmlformats.org/drawingml/2006/main">
            <a:pPr algn="l">
              <a:defRPr sz="307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07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from the predictor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363D8-0831-4DA6-9F8F-A3F584A4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361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1 = visible</a:t>
            </a:r>
          </a:p>
          <a:p xmlns:a="http://schemas.openxmlformats.org/drawingml/2006/main">
            <a:pPr algn="l">
              <a:defRPr sz="21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0 = hidden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953000" y="2019300"/>
          <a:ext xmlns:a="http://schemas.openxmlformats.org/drawingml/2006/main" cx="6477000" cy="32670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76425"/>
                <a:gridCol w="1533525"/>
                <a:gridCol w="1533525"/>
                <a:gridCol w="1533525"/>
              </a:tblGrid>
              <a:tr h="816769">
                <a:tc>
                  <a:txBody>
                    <a:bodyPr anchor="ctr"/>
                    <a:lstStyle/>
                    <a:p>
                      <a:pPr algn="l"/>
                      <a:r>
                        <a:rPr sz="22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Predict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2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we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2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build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2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models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</a:tr>
              <a:tr h="816769">
                <a:tc>
                  <a:txBody>
                    <a:bodyPr anchor="ctr"/>
                    <a:lstStyle/>
                    <a:p>
                      <a:pPr algn="l"/>
                      <a:r>
                        <a:rPr sz="225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build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550" b="1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550" b="1">
                          <a:solidFill>
                            <a:srgbClr val="EE510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171450" marR="133350" marT="133350" marB="133350" anchor="ctr">
                    <a:solidFill>
                      <a:srgbClr val="FAD8C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550" b="1">
                          <a:solidFill>
                            <a:srgbClr val="EE510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171450" marR="133350" marT="133350" marB="133350" anchor="ctr">
                    <a:solidFill>
                      <a:srgbClr val="FAD8C9"/>
                    </a:solidFill>
                  </a:tcPr>
                </a:tc>
              </a:tr>
              <a:tr h="816769">
                <a:tc>
                  <a:txBody>
                    <a:bodyPr anchor="ctr"/>
                    <a:lstStyle/>
                    <a:p>
                      <a:pPr algn="l"/>
                      <a:r>
                        <a:rPr sz="225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models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550" b="1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550" b="1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550" b="1">
                          <a:solidFill>
                            <a:srgbClr val="EE510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171450" marR="133350" marT="133350" marB="133350" anchor="ctr">
                    <a:solidFill>
                      <a:srgbClr val="FAD8C9"/>
                    </a:solidFill>
                  </a:tcPr>
                </a:tc>
              </a:tr>
              <a:tr h="816769">
                <a:tc>
                  <a:txBody>
                    <a:bodyPr anchor="ctr"/>
                    <a:lstStyle/>
                    <a:p>
                      <a:pPr algn="l"/>
                      <a:r>
                        <a:rPr sz="225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END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550" b="1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550" b="1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550" b="1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14772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39D74-0AD3-45D7-A6FC-407922B6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CHANGE THE FUTURE ONLY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6FB9B-892B-4DD2-9237-EEFF0B77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An independent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7B9B8-5F03-4924-A774-16E295C5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8142F-F1AF-4130-BAF9-28A6E4DC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42DA7-3B50-4ACF-A62F-1966C289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Inspect the prediction, not only the training Loss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DEBAB-D1A1-4219-B7C9-EE7B2AAE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001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The first prediction</a:t>
            </a:r>
          </a:p>
          <a:p xmlns:a="http://schemas.openxmlformats.org/drawingml/2006/main">
            <a:pPr algn="l">
              <a:defRPr sz="32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should stay the same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3000375"/>
          <a:ext xmlns:a="http://schemas.openxmlformats.org/drawingml/2006/main" cx="10820400" cy="19716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86075"/>
                <a:gridCol w="3981450"/>
                <a:gridCol w="3952875"/>
              </a:tblGrid>
              <a:tr h="657225">
                <a:tc>
                  <a:txBody>
                    <a:bodyPr anchor="ctr"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Shared prefix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Future tokens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First-position output</a:t>
                      </a:r>
                    </a:p>
                  </a:txBody>
                  <a:tcPr marL="171450" marR="133350" marT="133350" marB="133350" anchor="ctr">
                    <a:solidFill>
                      <a:srgbClr val="242424"/>
                    </a:solidFill>
                  </a:tcPr>
                </a:tc>
              </a:tr>
              <a:tr h="657225">
                <a:tc>
                  <a:txBody>
                    <a:bodyPr anchor="ctr"/>
                    <a:lstStyle/>
                    <a:p>
                      <a:pPr algn="l"/>
                      <a:r>
                        <a:rPr sz="21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we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1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build / models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1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Same distribution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  <a:tr h="657225">
                <a:tc>
                  <a:txBody>
                    <a:bodyPr anchor="ctr"/>
                    <a:lstStyle/>
                    <a:p>
                      <a:pPr algn="l"/>
                      <a:r>
                        <a:rPr sz="21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we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1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sail / boats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2100" b="0">
                          <a:solidFill>
                            <a:srgbClr val="24242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Same distribution</a:t>
                      </a:r>
                    </a:p>
                  </a:txBody>
                  <a:tcPr marL="171450" marR="133350" marT="133350" marB="133350" anchor="ctr">
                    <a:solidFill>
                      <a:srgbClr val="E4E3D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E60FA-6D38-43EF-96AD-4C3D8D02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Same weights. Same position. Dropout off.</a:t>
            </a:r>
          </a:p>
        </p:txBody>
      </p:sp>
    </p:spTree>
    <p:extLst>
      <p:ext uri="{BB962C8B-B14F-4D97-AF65-F5344CB8AC3E}">
        <p14:creationId xmlns:p14="http://schemas.microsoft.com/office/powerpoint/2010/main" val="2051912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41D0E-80D2-41DA-9410-2C3DE685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FROM BASIC CALCULATIONS TO SAFETY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F5999-614E-4922-A03C-3F0E8F24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Our learning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2B5C3-AD6C-4A65-B005-8142FAB2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24E609-EF6D-497A-8978-756719F3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CF561-9FC7-4025-9E9F-73C569A5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Understand a calculation, then turn it into a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8078A-5556-4C5E-B585-4A08090D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Build something small enough to inspect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81213991e458d"/>
          <a:srcRect xmlns:a="http://schemas.openxmlformats.org/drawingml/2006/main" l="0" t="25044" r="0" b="250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00225"/>
            <a:ext cx="10820400" cy="3600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BB38A-1F89-45B2-AA80-74A302A5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Regression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2F2D0-24A2-4CF9-90A3-9D2D19CB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43877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Linear algebra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E760B7-EDBC-47AD-867D-05F9B5DB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3877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Transformer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2DAA3-D345-445C-AC30-C9D7AE07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43877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Safety experiment</a:t>
            </a:r>
          </a:p>
        </p:txBody>
      </p:sp>
    </p:spTree>
    <p:extLst>
      <p:ext uri="{BB962C8B-B14F-4D97-AF65-F5344CB8AC3E}">
        <p14:creationId xmlns:p14="http://schemas.microsoft.com/office/powerpoint/2010/main" val="7640005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3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1563C-24C6-4B5A-9B2C-71B18D00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DISCUSSION AND READING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F3A77-E938-47BB-825E-F451B660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The first research habit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5FF7B-D0D8-416C-81B3-4B3C72A4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OZ LAB  /  AI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BB07A-D7B5-4CBC-90D3-03AA2848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67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27272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36F78-BDFD-4879-A6B0-FD87D8C3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Use AI to build. Learn enough to verify.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8D31F-E076-4721-9654-DAC2450B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7150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What evidence would</a:t>
            </a:r>
          </a:p>
          <a:p xmlns:a="http://schemas.openxmlformats.org/drawingml/2006/main">
            <a:pPr algn="l">
              <a:defRPr sz="37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>
                <a:solidFill>
                  <a:srgbClr val="242424"/>
                </a:solidFill>
                <a:latin typeface="Noto Sans KR"/>
                <a:ea typeface="Noto Sans KR"/>
                <a:cs typeface="Noto Sans KR"/>
              </a:rPr>
              <a:t>change your mind?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795AC-4BC7-42BD-8092-01BD420B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581150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EE510E"/>
                </a:solidFill>
                <a:latin typeface="Noto Sans KR"/>
                <a:ea typeface="Noto Sans KR"/>
                <a:cs typeface="Noto Sans KR"/>
              </a:rPr>
              <a:t>Primary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FA3C2-5544-4485-A348-D574F535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52650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>
                <a:hlinkClick xmlns:r="http://schemas.openxmlformats.org/officeDocument/2006/relationships" r:id="Rffaecd36c23943ba"/>
              </a:rPr>
              <a:t>Faulty reward functions · 2016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7A142-34B7-4169-A222-37ED8FE5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90825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>
                <a:hlinkClick xmlns:r="http://schemas.openxmlformats.org/officeDocument/2006/relationships" r:id="R7d9e93b74c584f9e"/>
              </a:rPr>
              <a:t>Attention Is All You Need · 2017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7D751-6B81-4FC0-A936-58610BD1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429000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>
                <a:hlinkClick xmlns:r="http://schemas.openxmlformats.org/officeDocument/2006/relationships" r:id="Rd37caa41747f4008"/>
              </a:rPr>
              <a:t>NIST AI RMF 1.0 · 2023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F909E3-1E1D-4D9F-B8DA-8D19160B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67175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>
                <a:hlinkClick xmlns:r="http://schemas.openxmlformats.org/officeDocument/2006/relationships" r:id="Rbdb16415062b4431"/>
              </a:rPr>
              <a:t>Mapping the Mind of a Language Model · 2024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F5C07-E1F9-44CE-A6E6-52A57AC0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05350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27272"/>
                </a:solidFill>
                <a:latin typeface="Noto Sans KR"/>
                <a:ea typeface="Noto Sans KR"/>
                <a:cs typeface="Noto Sans KR"/>
              </a:defRPr>
            </a:pPr>
            <a:r>
              <a:rPr>
                <a:hlinkClick xmlns:r="http://schemas.openxmlformats.org/officeDocument/2006/relationships" r:id="Rc01c630f26d242e7"/>
              </a:rPr>
              <a:t>International AI Safety Report · 2026</a:t>
            </a:r>
          </a:p>
        </p:txBody>
      </p:sp>
    </p:spTree>
    <p:extLst>
      <p:ext uri="{BB962C8B-B14F-4D97-AF65-F5344CB8AC3E}">
        <p14:creationId xmlns:p14="http://schemas.microsoft.com/office/powerpoint/2010/main" val="1218538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2026-10-01T21:13:30.4260000Z</dcterms:created>
  <dcterms:modified xsi:type="dcterms:W3CDTF">2026-10-01T21:13:30.4260000Z</dcterms:modified>
</coreProperties>
</file>