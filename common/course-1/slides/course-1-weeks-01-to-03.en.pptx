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111293bbf943bc" /><Relationship Type="http://schemas.openxmlformats.org/officeDocument/2006/relationships/extended-properties" Target="/docProps/app.xml" Id="Rb3c847ced7ca42fd" /><Relationship Type="http://schemas.openxmlformats.org/officeDocument/2006/relationships/officeDocument" Target="/ppt/presentation.xml" Id="R4930f1d486d944b6" /></Relationships>
</file>

<file path=ppt/presentation.xml><?xml version="1.0" encoding="utf-8"?>
<p:presentation xmlns:p="http://schemas.openxmlformats.org/presentationml/2006/main">
  <p:sldMasterIdLst>
    <p:sldMasterId xmlns:r="http://schemas.openxmlformats.org/officeDocument/2006/relationships" id="2147483648" r:id="Rca5a673f495d4bb2"/>
  </p:sldMasterIdLst>
  <p:notesMasterIdLst>
    <p:notesMasterId xmlns:r="http://schemas.openxmlformats.org/officeDocument/2006/relationships" r:id="R60d07d087ace4318"/>
  </p:notesMasterIdLst>
  <p:sldIdLst>
    <p:sldId xmlns:r="http://schemas.openxmlformats.org/officeDocument/2006/relationships" id="256" r:id="R9465f0db810c44ea"/>
    <p:sldId xmlns:r="http://schemas.openxmlformats.org/officeDocument/2006/relationships" id="257" r:id="Rc269d641068645c7"/>
    <p:sldId xmlns:r="http://schemas.openxmlformats.org/officeDocument/2006/relationships" id="258" r:id="R63053b6129064c2f"/>
    <p:sldId xmlns:r="http://schemas.openxmlformats.org/officeDocument/2006/relationships" id="259" r:id="R43e3db2782164425"/>
    <p:sldId xmlns:r="http://schemas.openxmlformats.org/officeDocument/2006/relationships" id="260" r:id="R2611a06aeca84ee0"/>
    <p:sldId xmlns:r="http://schemas.openxmlformats.org/officeDocument/2006/relationships" id="261" r:id="Rf3cd7940ff6b4b51"/>
    <p:sldId xmlns:r="http://schemas.openxmlformats.org/officeDocument/2006/relationships" id="262" r:id="R70c379f7f85e4601"/>
    <p:sldId xmlns:r="http://schemas.openxmlformats.org/officeDocument/2006/relationships" id="263" r:id="R376b28f65c7b46ed"/>
    <p:sldId xmlns:r="http://schemas.openxmlformats.org/officeDocument/2006/relationships" id="264" r:id="R8671264a1ae046af"/>
    <p:sldId xmlns:r="http://schemas.openxmlformats.org/officeDocument/2006/relationships" id="265" r:id="R858061d8a2c84475"/>
    <p:sldId xmlns:r="http://schemas.openxmlformats.org/officeDocument/2006/relationships" id="266" r:id="Rbf6a53931c9d4980"/>
    <p:sldId xmlns:r="http://schemas.openxmlformats.org/officeDocument/2006/relationships" id="267" r:id="R92fe07a01c014342"/>
    <p:sldId xmlns:r="http://schemas.openxmlformats.org/officeDocument/2006/relationships" id="268" r:id="R2848c288d6064df6"/>
    <p:sldId xmlns:r="http://schemas.openxmlformats.org/officeDocument/2006/relationships" id="269" r:id="R3673deb2eaa244a5"/>
    <p:sldId xmlns:r="http://schemas.openxmlformats.org/officeDocument/2006/relationships" id="270" r:id="R08e29cb8319a4ecb"/>
    <p:sldId xmlns:r="http://schemas.openxmlformats.org/officeDocument/2006/relationships" id="271" r:id="R2add0753c05642f5"/>
    <p:sldId xmlns:r="http://schemas.openxmlformats.org/officeDocument/2006/relationships" id="272" r:id="R3e0d6591ae1744e3"/>
    <p:sldId xmlns:r="http://schemas.openxmlformats.org/officeDocument/2006/relationships" id="273" r:id="Ra5f40ca1bd9f42bb"/>
    <p:sldId xmlns:r="http://schemas.openxmlformats.org/officeDocument/2006/relationships" id="274" r:id="R3560f9e68ea949e2"/>
    <p:sldId xmlns:r="http://schemas.openxmlformats.org/officeDocument/2006/relationships" id="275" r:id="R5bf03f47d00e47a5"/>
    <p:sldId xmlns:r="http://schemas.openxmlformats.org/officeDocument/2006/relationships" id="276" r:id="Rc97be8def1a74689"/>
    <p:sldId xmlns:r="http://schemas.openxmlformats.org/officeDocument/2006/relationships" id="277" r:id="R583a108c708145f8"/>
    <p:sldId xmlns:r="http://schemas.openxmlformats.org/officeDocument/2006/relationships" id="278" r:id="Rf6299916160d4d35"/>
    <p:sldId xmlns:r="http://schemas.openxmlformats.org/officeDocument/2006/relationships" id="279" r:id="Rb3134d0a39fc4385"/>
    <p:sldId xmlns:r="http://schemas.openxmlformats.org/officeDocument/2006/relationships" id="280" r:id="R19c7e9eec5e7464c"/>
    <p:sldId xmlns:r="http://schemas.openxmlformats.org/officeDocument/2006/relationships" id="281" r:id="R1882bd71d8d2409e"/>
    <p:sldId xmlns:r="http://schemas.openxmlformats.org/officeDocument/2006/relationships" id="282" r:id="Rd7a774a0d1b8496a"/>
    <p:sldId xmlns:r="http://schemas.openxmlformats.org/officeDocument/2006/relationships" id="283" r:id="R6e4a7d4a240a4a88"/>
    <p:sldId xmlns:r="http://schemas.openxmlformats.org/officeDocument/2006/relationships" id="284" r:id="R5196c50f46194be9"/>
    <p:sldId xmlns:r="http://schemas.openxmlformats.org/officeDocument/2006/relationships" id="285" r:id="Rb877776211374d3c"/>
    <p:sldId xmlns:r="http://schemas.openxmlformats.org/officeDocument/2006/relationships" id="286" r:id="Rb7f4127c08274c2f"/>
    <p:sldId xmlns:r="http://schemas.openxmlformats.org/officeDocument/2006/relationships" id="287" r:id="R49991185adaf434f"/>
    <p:sldId xmlns:r="http://schemas.openxmlformats.org/officeDocument/2006/relationships" id="288" r:id="Rf4d730e16cff44c0"/>
    <p:sldId xmlns:r="http://schemas.openxmlformats.org/officeDocument/2006/relationships" id="289" r:id="R54ae594444494c35"/>
    <p:sldId xmlns:r="http://schemas.openxmlformats.org/officeDocument/2006/relationships" id="290" r:id="Rface692b4deb4536"/>
    <p:sldId xmlns:r="http://schemas.openxmlformats.org/officeDocument/2006/relationships" id="291" r:id="R2cb1ea31e16245c2"/>
    <p:sldId xmlns:r="http://schemas.openxmlformats.org/officeDocument/2006/relationships" id="292" r:id="R1c4088f268b74e48"/>
    <p:sldId xmlns:r="http://schemas.openxmlformats.org/officeDocument/2006/relationships" id="293" r:id="R3e77c3901a11493f"/>
    <p:sldId xmlns:r="http://schemas.openxmlformats.org/officeDocument/2006/relationships" id="294" r:id="R8bb731ec6b8c414f"/>
    <p:sldId xmlns:r="http://schemas.openxmlformats.org/officeDocument/2006/relationships" id="295" r:id="Ra18f47c0230e453e"/>
    <p:sldId xmlns:r="http://schemas.openxmlformats.org/officeDocument/2006/relationships" id="296" r:id="Ree124168962a41f6"/>
    <p:sldId xmlns:r="http://schemas.openxmlformats.org/officeDocument/2006/relationships" id="297" r:id="Rbecc9111b5884211"/>
    <p:sldId xmlns:r="http://schemas.openxmlformats.org/officeDocument/2006/relationships" id="298" r:id="Rfb5b212d7f274051"/>
    <p:sldId xmlns:r="http://schemas.openxmlformats.org/officeDocument/2006/relationships" id="299" r:id="R6de38224c14c4774"/>
    <p:sldId xmlns:r="http://schemas.openxmlformats.org/officeDocument/2006/relationships" id="300" r:id="R993809efa24e4254"/>
    <p:sldId xmlns:r="http://schemas.openxmlformats.org/officeDocument/2006/relationships" id="301" r:id="R0caabd4c605e41fc"/>
    <p:sldId xmlns:r="http://schemas.openxmlformats.org/officeDocument/2006/relationships" id="302" r:id="Rf574cb9399ba4d7f"/>
    <p:sldId xmlns:r="http://schemas.openxmlformats.org/officeDocument/2006/relationships" id="303" r:id="Rf02c81f204204577"/>
    <p:sldId xmlns:r="http://schemas.openxmlformats.org/officeDocument/2006/relationships" id="304" r:id="R51afe42c6e294ed8"/>
    <p:sldId xmlns:r="http://schemas.openxmlformats.org/officeDocument/2006/relationships" id="305" r:id="R200a612eb0a248ab"/>
    <p:sldId xmlns:r="http://schemas.openxmlformats.org/officeDocument/2006/relationships" id="306" r:id="Rad8d72b3dfde4337"/>
    <p:sldId xmlns:r="http://schemas.openxmlformats.org/officeDocument/2006/relationships" id="307" r:id="R4cceb5e51f164d34"/>
    <p:sldId xmlns:r="http://schemas.openxmlformats.org/officeDocument/2006/relationships" id="308" r:id="R99f4474f99164d28"/>
    <p:sldId xmlns:r="http://schemas.openxmlformats.org/officeDocument/2006/relationships" id="309" r:id="R24a180e8455c4036"/>
    <p:sldId xmlns:r="http://schemas.openxmlformats.org/officeDocument/2006/relationships" id="310" r:id="R2162a41b55714386"/>
    <p:sldId xmlns:r="http://schemas.openxmlformats.org/officeDocument/2006/relationships" id="311" r:id="R3ce490cf01914540"/>
    <p:sldId xmlns:r="http://schemas.openxmlformats.org/officeDocument/2006/relationships" id="312" r:id="Ra9ef072bb2154990"/>
    <p:sldId xmlns:r="http://schemas.openxmlformats.org/officeDocument/2006/relationships" id="313" r:id="R9148f0ef67ea4b45"/>
    <p:sldId xmlns:r="http://schemas.openxmlformats.org/officeDocument/2006/relationships" id="314" r:id="Rb012d04133cc464c"/>
    <p:sldId xmlns:r="http://schemas.openxmlformats.org/officeDocument/2006/relationships" id="315" r:id="Raf6d9136ad77473a"/>
    <p:sldId xmlns:r="http://schemas.openxmlformats.org/officeDocument/2006/relationships" id="316" r:id="R94559b19dcfc44d0"/>
    <p:sldId xmlns:r="http://schemas.openxmlformats.org/officeDocument/2006/relationships" id="317" r:id="R53796616288b4fe6"/>
    <p:sldId xmlns:r="http://schemas.openxmlformats.org/officeDocument/2006/relationships" id="318" r:id="R2e9334ce3f2843f0"/>
    <p:sldId xmlns:r="http://schemas.openxmlformats.org/officeDocument/2006/relationships" id="319" r:id="Rf19cdd264865459a"/>
    <p:sldId xmlns:r="http://schemas.openxmlformats.org/officeDocument/2006/relationships" id="320" r:id="R167f0884112041f9"/>
    <p:sldId xmlns:r="http://schemas.openxmlformats.org/officeDocument/2006/relationships" id="321" r:id="Rce5c562f0c8c416e"/>
    <p:sldId xmlns:r="http://schemas.openxmlformats.org/officeDocument/2006/relationships" id="322" r:id="Rb8a6fe939d8e4fc7"/>
    <p:sldId xmlns:r="http://schemas.openxmlformats.org/officeDocument/2006/relationships" id="323" r:id="Rbedacb78484745de"/>
    <p:sldId xmlns:r="http://schemas.openxmlformats.org/officeDocument/2006/relationships" id="324" r:id="Rcdc472d13ef74f93"/>
    <p:sldId xmlns:r="http://schemas.openxmlformats.org/officeDocument/2006/relationships" id="325" r:id="R88b13da391c84b2c"/>
    <p:sldId xmlns:r="http://schemas.openxmlformats.org/officeDocument/2006/relationships" id="326" r:id="R62bc3bd136ed4207"/>
    <p:sldId xmlns:r="http://schemas.openxmlformats.org/officeDocument/2006/relationships" id="327" r:id="R8ac4d3c7393b426e"/>
    <p:sldId xmlns:r="http://schemas.openxmlformats.org/officeDocument/2006/relationships" id="328" r:id="Re34eb00b32904682"/>
    <p:sldId xmlns:r="http://schemas.openxmlformats.org/officeDocument/2006/relationships" id="329" r:id="Rc470253263ee4a05"/>
    <p:sldId xmlns:r="http://schemas.openxmlformats.org/officeDocument/2006/relationships" id="330" r:id="Rf4421f0f83a747d6"/>
    <p:sldId xmlns:r="http://schemas.openxmlformats.org/officeDocument/2006/relationships" id="331" r:id="Rc48b579ec6b84432"/>
    <p:sldId xmlns:r="http://schemas.openxmlformats.org/officeDocument/2006/relationships" id="332" r:id="Re925588736384c19"/>
    <p:sldId xmlns:r="http://schemas.openxmlformats.org/officeDocument/2006/relationships" id="333" r:id="R1d534ff566b84add"/>
    <p:sldId xmlns:r="http://schemas.openxmlformats.org/officeDocument/2006/relationships" id="334" r:id="R2af0193980d4450c"/>
    <p:sldId xmlns:r="http://schemas.openxmlformats.org/officeDocument/2006/relationships" id="335" r:id="R2c5f30cbf1d04871"/>
    <p:sldId xmlns:r="http://schemas.openxmlformats.org/officeDocument/2006/relationships" id="336" r:id="R023f72213273417f"/>
    <p:sldId xmlns:r="http://schemas.openxmlformats.org/officeDocument/2006/relationships" id="337" r:id="R72cafa85ee524e60"/>
    <p:sldId xmlns:r="http://schemas.openxmlformats.org/officeDocument/2006/relationships" id="338" r:id="R251265019d01443c"/>
    <p:sldId xmlns:r="http://schemas.openxmlformats.org/officeDocument/2006/relationships" id="339" r:id="Rb530928498004bc6"/>
    <p:sldId xmlns:r="http://schemas.openxmlformats.org/officeDocument/2006/relationships" id="340" r:id="R5ee1e217b752430c"/>
    <p:sldId xmlns:r="http://schemas.openxmlformats.org/officeDocument/2006/relationships" id="341" r:id="R5413f7dad53342dd"/>
    <p:sldId xmlns:r="http://schemas.openxmlformats.org/officeDocument/2006/relationships" id="342" r:id="R0e983b0bc0f24933"/>
    <p:sldId xmlns:r="http://schemas.openxmlformats.org/officeDocument/2006/relationships" id="343" r:id="Ra5576f56f28e44c6"/>
    <p:sldId xmlns:r="http://schemas.openxmlformats.org/officeDocument/2006/relationships" id="344" r:id="R59dac7edba7348a5"/>
    <p:sldId xmlns:r="http://schemas.openxmlformats.org/officeDocument/2006/relationships" id="345" r:id="R8c81e1e9ac15422d"/>
    <p:sldId xmlns:r="http://schemas.openxmlformats.org/officeDocument/2006/relationships" id="346" r:id="R55194d1e8fb54428"/>
    <p:sldId xmlns:r="http://schemas.openxmlformats.org/officeDocument/2006/relationships" id="347" r:id="R2abadc886fe243ea"/>
    <p:sldId xmlns:r="http://schemas.openxmlformats.org/officeDocument/2006/relationships" id="348" r:id="R7de7af5bbd414932"/>
    <p:sldId xmlns:r="http://schemas.openxmlformats.org/officeDocument/2006/relationships" id="349" r:id="Rf99a5a62d286413c"/>
    <p:sldId xmlns:r="http://schemas.openxmlformats.org/officeDocument/2006/relationships" id="350" r:id="R08825da524e242c5"/>
    <p:sldId xmlns:r="http://schemas.openxmlformats.org/officeDocument/2006/relationships" id="351" r:id="R969a6edb47804405"/>
    <p:sldId xmlns:r="http://schemas.openxmlformats.org/officeDocument/2006/relationships" id="352" r:id="Rf7763c15aa464a04"/>
    <p:sldId xmlns:r="http://schemas.openxmlformats.org/officeDocument/2006/relationships" id="353" r:id="R916002778d044afc"/>
    <p:sldId xmlns:r="http://schemas.openxmlformats.org/officeDocument/2006/relationships" id="354" r:id="R358e8786dd9f45bf"/>
    <p:sldId xmlns:r="http://schemas.openxmlformats.org/officeDocument/2006/relationships" id="355" r:id="Rd5c8873425e14e08"/>
    <p:sldId xmlns:r="http://schemas.openxmlformats.org/officeDocument/2006/relationships" id="356" r:id="R381fce70531a4c93"/>
    <p:sldId xmlns:r="http://schemas.openxmlformats.org/officeDocument/2006/relationships" id="357" r:id="R812c39af521a48a1"/>
    <p:sldId xmlns:r="http://schemas.openxmlformats.org/officeDocument/2006/relationships" id="358" r:id="R9a8989e310d447df"/>
    <p:sldId xmlns:r="http://schemas.openxmlformats.org/officeDocument/2006/relationships" id="359" r:id="Rc21bd73885d44bb5"/>
    <p:sldId xmlns:r="http://schemas.openxmlformats.org/officeDocument/2006/relationships" id="360" r:id="R410a83f8075a4ec4"/>
    <p:sldId xmlns:r="http://schemas.openxmlformats.org/officeDocument/2006/relationships" id="361" r:id="R52a5a04dee7e4996"/>
    <p:sldId xmlns:r="http://schemas.openxmlformats.org/officeDocument/2006/relationships" id="362" r:id="Rc7eba3423be64d20"/>
    <p:sldId xmlns:r="http://schemas.openxmlformats.org/officeDocument/2006/relationships" id="363" r:id="Rb5d70edf93464687"/>
    <p:sldId xmlns:r="http://schemas.openxmlformats.org/officeDocument/2006/relationships" id="364" r:id="R6cddcf8244a14f75"/>
    <p:sldId xmlns:r="http://schemas.openxmlformats.org/officeDocument/2006/relationships" id="365" r:id="R685e7abccba34b65"/>
    <p:sldId xmlns:r="http://schemas.openxmlformats.org/officeDocument/2006/relationships" id="366" r:id="Rf0855de7edd04c18"/>
    <p:sldId xmlns:r="http://schemas.openxmlformats.org/officeDocument/2006/relationships" id="367" r:id="Rca1788e1bdcc4aca"/>
    <p:sldId xmlns:r="http://schemas.openxmlformats.org/officeDocument/2006/relationships" id="368" r:id="R673e2d80313c4c1a"/>
    <p:sldId xmlns:r="http://schemas.openxmlformats.org/officeDocument/2006/relationships" id="369" r:id="Rbceb1043a2eb4b70"/>
    <p:sldId xmlns:r="http://schemas.openxmlformats.org/officeDocument/2006/relationships" id="370" r:id="Re6ae3bc693e44fa9"/>
    <p:sldId xmlns:r="http://schemas.openxmlformats.org/officeDocument/2006/relationships" id="371" r:id="R4f46a9751d7c47e6"/>
    <p:sldId xmlns:r="http://schemas.openxmlformats.org/officeDocument/2006/relationships" id="372" r:id="R5970398e50e5494d"/>
    <p:sldId xmlns:r="http://schemas.openxmlformats.org/officeDocument/2006/relationships" id="373" r:id="R66980fe46f044417"/>
    <p:sldId xmlns:r="http://schemas.openxmlformats.org/officeDocument/2006/relationships" id="374" r:id="Rb0f12754b03549b5"/>
    <p:sldId xmlns:r="http://schemas.openxmlformats.org/officeDocument/2006/relationships" id="375" r:id="R8c273c5abc144647"/>
    <p:sldId xmlns:r="http://schemas.openxmlformats.org/officeDocument/2006/relationships" id="376" r:id="Rb5b95cf355c147c0"/>
    <p:sldId xmlns:r="http://schemas.openxmlformats.org/officeDocument/2006/relationships" id="377" r:id="R93202fc2e27443d0"/>
    <p:sldId xmlns:r="http://schemas.openxmlformats.org/officeDocument/2006/relationships" id="378" r:id="R8cefadbd0cdd4f7d"/>
    <p:sldId xmlns:r="http://schemas.openxmlformats.org/officeDocument/2006/relationships" id="379" r:id="R8d96ed5150194ec1"/>
    <p:sldId xmlns:r="http://schemas.openxmlformats.org/officeDocument/2006/relationships" id="380" r:id="R3bde0ff20e6c4f4e"/>
    <p:sldId xmlns:r="http://schemas.openxmlformats.org/officeDocument/2006/relationships" id="381" r:id="R34531ea9fc164dc9"/>
    <p:sldId xmlns:r="http://schemas.openxmlformats.org/officeDocument/2006/relationships" id="382" r:id="Re3771dd8173b4b6a"/>
    <p:sldId xmlns:r="http://schemas.openxmlformats.org/officeDocument/2006/relationships" id="383" r:id="R55a74c1cce284992"/>
    <p:sldId xmlns:r="http://schemas.openxmlformats.org/officeDocument/2006/relationships" id="384" r:id="R6a9db93fe23548b8"/>
    <p:sldId xmlns:r="http://schemas.openxmlformats.org/officeDocument/2006/relationships" id="385" r:id="Raa2f6e89d510489e"/>
    <p:sldId xmlns:r="http://schemas.openxmlformats.org/officeDocument/2006/relationships" id="386" r:id="Rb5c44d22c6654e98"/>
    <p:sldId xmlns:r="http://schemas.openxmlformats.org/officeDocument/2006/relationships" id="387" r:id="R9af69d31f24c4a0d"/>
    <p:sldId xmlns:r="http://schemas.openxmlformats.org/officeDocument/2006/relationships" id="388" r:id="Rc4b376a4509e45de"/>
    <p:sldId xmlns:r="http://schemas.openxmlformats.org/officeDocument/2006/relationships" id="389" r:id="R214e96fde0b24299"/>
    <p:sldId xmlns:r="http://schemas.openxmlformats.org/officeDocument/2006/relationships" id="390" r:id="R0e9b5e8eb82a4c51"/>
    <p:sldId xmlns:r="http://schemas.openxmlformats.org/officeDocument/2006/relationships" id="391" r:id="Ra574385febad48c3"/>
    <p:sldId xmlns:r="http://schemas.openxmlformats.org/officeDocument/2006/relationships" id="392" r:id="R25932aa50b954cbc"/>
    <p:sldId xmlns:r="http://schemas.openxmlformats.org/officeDocument/2006/relationships" id="393" r:id="Rab21a91e2744462f"/>
    <p:sldId xmlns:r="http://schemas.openxmlformats.org/officeDocument/2006/relationships" id="394" r:id="R4a81f4c488464b97"/>
    <p:sldId xmlns:r="http://schemas.openxmlformats.org/officeDocument/2006/relationships" id="395" r:id="R630b83982d044a8f"/>
    <p:sldId xmlns:r="http://schemas.openxmlformats.org/officeDocument/2006/relationships" id="396" r:id="Rc2cfabdbaf3342a9"/>
    <p:sldId xmlns:r="http://schemas.openxmlformats.org/officeDocument/2006/relationships" id="397" r:id="Re199fb4b1f52416b"/>
    <p:sldId xmlns:r="http://schemas.openxmlformats.org/officeDocument/2006/relationships" id="398" r:id="Rfdd84837d34e409a"/>
    <p:sldId xmlns:r="http://schemas.openxmlformats.org/officeDocument/2006/relationships" id="399" r:id="R65230fa04ebb456d"/>
    <p:sldId xmlns:r="http://schemas.openxmlformats.org/officeDocument/2006/relationships" id="400" r:id="Re2b5a5ff6f984d6e"/>
    <p:sldId xmlns:r="http://schemas.openxmlformats.org/officeDocument/2006/relationships" id="401" r:id="R254dc02d18ef4f76"/>
    <p:sldId xmlns:r="http://schemas.openxmlformats.org/officeDocument/2006/relationships" id="402" r:id="Rb46ac998ab724fc0"/>
    <p:sldId xmlns:r="http://schemas.openxmlformats.org/officeDocument/2006/relationships" id="403" r:id="R4574efa7c2a341d2"/>
    <p:sldId xmlns:r="http://schemas.openxmlformats.org/officeDocument/2006/relationships" id="404" r:id="R37cdbd65543a42b6"/>
    <p:sldId xmlns:r="http://schemas.openxmlformats.org/officeDocument/2006/relationships" id="405" r:id="R42b5440239254086"/>
    <p:sldId xmlns:r="http://schemas.openxmlformats.org/officeDocument/2006/relationships" id="406" r:id="Re579f42a02794f4a"/>
    <p:sldId xmlns:r="http://schemas.openxmlformats.org/officeDocument/2006/relationships" id="407" r:id="Rf49ac500a772450f"/>
    <p:sldId xmlns:r="http://schemas.openxmlformats.org/officeDocument/2006/relationships" id="408" r:id="R27348fd8fa9e4536"/>
    <p:sldId xmlns:r="http://schemas.openxmlformats.org/officeDocument/2006/relationships" id="409" r:id="R7e01bb82d95841e0"/>
    <p:sldId xmlns:r="http://schemas.openxmlformats.org/officeDocument/2006/relationships" id="410" r:id="R574460c0aa12465c"/>
    <p:sldId xmlns:r="http://schemas.openxmlformats.org/officeDocument/2006/relationships" id="411" r:id="Rdca5e68e930a4767"/>
    <p:sldId xmlns:r="http://schemas.openxmlformats.org/officeDocument/2006/relationships" id="412" r:id="R6d5cbbf48d754702"/>
    <p:sldId xmlns:r="http://schemas.openxmlformats.org/officeDocument/2006/relationships" id="413" r:id="Reda583f2db4c44b4"/>
    <p:sldId xmlns:r="http://schemas.openxmlformats.org/officeDocument/2006/relationships" id="414" r:id="R3f0726d8900541d4"/>
    <p:sldId xmlns:r="http://schemas.openxmlformats.org/officeDocument/2006/relationships" id="415" r:id="Rc3f4b460b8d444e4"/>
    <p:sldId xmlns:r="http://schemas.openxmlformats.org/officeDocument/2006/relationships" id="416" r:id="R17839fac94504c16"/>
    <p:sldId xmlns:r="http://schemas.openxmlformats.org/officeDocument/2006/relationships" id="417" r:id="R33c51a4297c54116"/>
    <p:sldId xmlns:r="http://schemas.openxmlformats.org/officeDocument/2006/relationships" id="418" r:id="R4b6365c507f54b7d"/>
    <p:sldId xmlns:r="http://schemas.openxmlformats.org/officeDocument/2006/relationships" id="419" r:id="Reaccece538694fbc"/>
    <p:sldId xmlns:r="http://schemas.openxmlformats.org/officeDocument/2006/relationships" id="420" r:id="R76642ed165ee4b0f"/>
    <p:sldId xmlns:r="http://schemas.openxmlformats.org/officeDocument/2006/relationships" id="421" r:id="Rdec8d4d9daad4854"/>
    <p:sldId xmlns:r="http://schemas.openxmlformats.org/officeDocument/2006/relationships" id="422" r:id="R38d3fb3a429a4a0d"/>
    <p:sldId xmlns:r="http://schemas.openxmlformats.org/officeDocument/2006/relationships" id="423" r:id="Rf6a429f21c9b4738"/>
    <p:sldId xmlns:r="http://schemas.openxmlformats.org/officeDocument/2006/relationships" id="424" r:id="Rb278ace76d8a4193"/>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16a3ca3e4640c1" /><Relationship Type="http://schemas.openxmlformats.org/officeDocument/2006/relationships/slideMaster" Target="/ppt/slideMasters/slideMaster1.xml" Id="Rca5a673f495d4bb2" /><Relationship Type="http://schemas.openxmlformats.org/officeDocument/2006/relationships/notesMaster" Target="/ppt/notesMasters/notesMaster1.xml" Id="R60d07d087ace4318" /><Relationship Type="http://schemas.openxmlformats.org/officeDocument/2006/relationships/presProps" Target="/ppt/presProps.xml" Id="R4c76012f2f524753" /><Relationship Type="http://schemas.openxmlformats.org/officeDocument/2006/relationships/tableStyles" Target="/ppt/tableStyles.xml" Id="R85540b3410744cc5" /><Relationship Type="http://schemas.openxmlformats.org/officeDocument/2006/relationships/slide" Target="/ppt/slides/slide1.xml" Id="R9465f0db810c44ea" /><Relationship Type="http://schemas.openxmlformats.org/officeDocument/2006/relationships/slide" Target="/ppt/slides/slide2.xml" Id="Rc269d641068645c7" /><Relationship Type="http://schemas.openxmlformats.org/officeDocument/2006/relationships/slide" Target="/ppt/slides/slide3.xml" Id="R63053b6129064c2f" /><Relationship Type="http://schemas.openxmlformats.org/officeDocument/2006/relationships/slide" Target="/ppt/slides/slide4.xml" Id="R43e3db2782164425" /><Relationship Type="http://schemas.openxmlformats.org/officeDocument/2006/relationships/slide" Target="/ppt/slides/slide5.xml" Id="R2611a06aeca84ee0" /><Relationship Type="http://schemas.openxmlformats.org/officeDocument/2006/relationships/slide" Target="/ppt/slides/slide6.xml" Id="Rf3cd7940ff6b4b51" /><Relationship Type="http://schemas.openxmlformats.org/officeDocument/2006/relationships/slide" Target="/ppt/slides/slide7.xml" Id="R70c379f7f85e4601" /><Relationship Type="http://schemas.openxmlformats.org/officeDocument/2006/relationships/slide" Target="/ppt/slides/slide8.xml" Id="R376b28f65c7b46ed" /><Relationship Type="http://schemas.openxmlformats.org/officeDocument/2006/relationships/slide" Target="/ppt/slides/slide9.xml" Id="R8671264a1ae046af" /><Relationship Type="http://schemas.openxmlformats.org/officeDocument/2006/relationships/slide" Target="/ppt/slides/slide10.xml" Id="R858061d8a2c84475" /><Relationship Type="http://schemas.openxmlformats.org/officeDocument/2006/relationships/slide" Target="/ppt/slides/slide11.xml" Id="Rbf6a53931c9d4980" /><Relationship Type="http://schemas.openxmlformats.org/officeDocument/2006/relationships/slide" Target="/ppt/slides/slide12.xml" Id="R92fe07a01c014342" /><Relationship Type="http://schemas.openxmlformats.org/officeDocument/2006/relationships/slide" Target="/ppt/slides/slide13.xml" Id="R2848c288d6064df6" /><Relationship Type="http://schemas.openxmlformats.org/officeDocument/2006/relationships/slide" Target="/ppt/slides/slide14.xml" Id="R3673deb2eaa244a5" /><Relationship Type="http://schemas.openxmlformats.org/officeDocument/2006/relationships/slide" Target="/ppt/slides/slide15.xml" Id="R08e29cb8319a4ecb" /><Relationship Type="http://schemas.openxmlformats.org/officeDocument/2006/relationships/slide" Target="/ppt/slides/slide16.xml" Id="R2add0753c05642f5" /><Relationship Type="http://schemas.openxmlformats.org/officeDocument/2006/relationships/slide" Target="/ppt/slides/slide17.xml" Id="R3e0d6591ae1744e3" /><Relationship Type="http://schemas.openxmlformats.org/officeDocument/2006/relationships/slide" Target="/ppt/slides/slide18.xml" Id="Ra5f40ca1bd9f42bb" /><Relationship Type="http://schemas.openxmlformats.org/officeDocument/2006/relationships/slide" Target="/ppt/slides/slide19.xml" Id="R3560f9e68ea949e2" /><Relationship Type="http://schemas.openxmlformats.org/officeDocument/2006/relationships/slide" Target="/ppt/slides/slide20.xml" Id="R5bf03f47d00e47a5" /><Relationship Type="http://schemas.openxmlformats.org/officeDocument/2006/relationships/slide" Target="/ppt/slides/slide21.xml" Id="Rc97be8def1a74689" /><Relationship Type="http://schemas.openxmlformats.org/officeDocument/2006/relationships/slide" Target="/ppt/slides/slide22.xml" Id="R583a108c708145f8" /><Relationship Type="http://schemas.openxmlformats.org/officeDocument/2006/relationships/slide" Target="/ppt/slides/slide23.xml" Id="Rf6299916160d4d35" /><Relationship Type="http://schemas.openxmlformats.org/officeDocument/2006/relationships/slide" Target="/ppt/slides/slide24.xml" Id="Rb3134d0a39fc4385" /><Relationship Type="http://schemas.openxmlformats.org/officeDocument/2006/relationships/slide" Target="/ppt/slides/slide25.xml" Id="R19c7e9eec5e7464c" /><Relationship Type="http://schemas.openxmlformats.org/officeDocument/2006/relationships/slide" Target="/ppt/slides/slide26.xml" Id="R1882bd71d8d2409e" /><Relationship Type="http://schemas.openxmlformats.org/officeDocument/2006/relationships/slide" Target="/ppt/slides/slide27.xml" Id="Rd7a774a0d1b8496a" /><Relationship Type="http://schemas.openxmlformats.org/officeDocument/2006/relationships/slide" Target="/ppt/slides/slide28.xml" Id="R6e4a7d4a240a4a88" /><Relationship Type="http://schemas.openxmlformats.org/officeDocument/2006/relationships/slide" Target="/ppt/slides/slide29.xml" Id="R5196c50f46194be9" /><Relationship Type="http://schemas.openxmlformats.org/officeDocument/2006/relationships/slide" Target="/ppt/slides/slide30.xml" Id="Rb877776211374d3c" /><Relationship Type="http://schemas.openxmlformats.org/officeDocument/2006/relationships/slide" Target="/ppt/slides/slide31.xml" Id="Rb7f4127c08274c2f" /><Relationship Type="http://schemas.openxmlformats.org/officeDocument/2006/relationships/slide" Target="/ppt/slides/slide32.xml" Id="R49991185adaf434f" /><Relationship Type="http://schemas.openxmlformats.org/officeDocument/2006/relationships/slide" Target="/ppt/slides/slide33.xml" Id="Rf4d730e16cff44c0" /><Relationship Type="http://schemas.openxmlformats.org/officeDocument/2006/relationships/slide" Target="/ppt/slides/slide34.xml" Id="R54ae594444494c35" /><Relationship Type="http://schemas.openxmlformats.org/officeDocument/2006/relationships/slide" Target="/ppt/slides/slide35.xml" Id="Rface692b4deb4536" /><Relationship Type="http://schemas.openxmlformats.org/officeDocument/2006/relationships/slide" Target="/ppt/slides/slide36.xml" Id="R2cb1ea31e16245c2" /><Relationship Type="http://schemas.openxmlformats.org/officeDocument/2006/relationships/slide" Target="/ppt/slides/slide37.xml" Id="R1c4088f268b74e48" /><Relationship Type="http://schemas.openxmlformats.org/officeDocument/2006/relationships/slide" Target="/ppt/slides/slide38.xml" Id="R3e77c3901a11493f" /><Relationship Type="http://schemas.openxmlformats.org/officeDocument/2006/relationships/slide" Target="/ppt/slides/slide39.xml" Id="R8bb731ec6b8c414f" /><Relationship Type="http://schemas.openxmlformats.org/officeDocument/2006/relationships/slide" Target="/ppt/slides/slide40.xml" Id="Ra18f47c0230e453e" /><Relationship Type="http://schemas.openxmlformats.org/officeDocument/2006/relationships/slide" Target="/ppt/slides/slide41.xml" Id="Ree124168962a41f6" /><Relationship Type="http://schemas.openxmlformats.org/officeDocument/2006/relationships/slide" Target="/ppt/slides/slide42.xml" Id="Rbecc9111b5884211" /><Relationship Type="http://schemas.openxmlformats.org/officeDocument/2006/relationships/slide" Target="/ppt/slides/slide43.xml" Id="Rfb5b212d7f274051" /><Relationship Type="http://schemas.openxmlformats.org/officeDocument/2006/relationships/slide" Target="/ppt/slides/slide44.xml" Id="R6de38224c14c4774" /><Relationship Type="http://schemas.openxmlformats.org/officeDocument/2006/relationships/slide" Target="/ppt/slides/slide45.xml" Id="R993809efa24e4254" /><Relationship Type="http://schemas.openxmlformats.org/officeDocument/2006/relationships/slide" Target="/ppt/slides/slide46.xml" Id="R0caabd4c605e41fc" /><Relationship Type="http://schemas.openxmlformats.org/officeDocument/2006/relationships/slide" Target="/ppt/slides/slide47.xml" Id="Rf574cb9399ba4d7f" /><Relationship Type="http://schemas.openxmlformats.org/officeDocument/2006/relationships/slide" Target="/ppt/slides/slide48.xml" Id="Rf02c81f204204577" /><Relationship Type="http://schemas.openxmlformats.org/officeDocument/2006/relationships/slide" Target="/ppt/slides/slide49.xml" Id="R51afe42c6e294ed8" /><Relationship Type="http://schemas.openxmlformats.org/officeDocument/2006/relationships/slide" Target="/ppt/slides/slide50.xml" Id="R200a612eb0a248ab" /><Relationship Type="http://schemas.openxmlformats.org/officeDocument/2006/relationships/slide" Target="/ppt/slides/slide51.xml" Id="Rad8d72b3dfde4337" /><Relationship Type="http://schemas.openxmlformats.org/officeDocument/2006/relationships/slide" Target="/ppt/slides/slide52.xml" Id="R4cceb5e51f164d34" /><Relationship Type="http://schemas.openxmlformats.org/officeDocument/2006/relationships/slide" Target="/ppt/slides/slide53.xml" Id="R99f4474f99164d28" /><Relationship Type="http://schemas.openxmlformats.org/officeDocument/2006/relationships/slide" Target="/ppt/slides/slide54.xml" Id="R24a180e8455c4036" /><Relationship Type="http://schemas.openxmlformats.org/officeDocument/2006/relationships/slide" Target="/ppt/slides/slide55.xml" Id="R2162a41b55714386" /><Relationship Type="http://schemas.openxmlformats.org/officeDocument/2006/relationships/slide" Target="/ppt/slides/slide56.xml" Id="R3ce490cf01914540" /><Relationship Type="http://schemas.openxmlformats.org/officeDocument/2006/relationships/slide" Target="/ppt/slides/slide57.xml" Id="Ra9ef072bb2154990" /><Relationship Type="http://schemas.openxmlformats.org/officeDocument/2006/relationships/slide" Target="/ppt/slides/slide58.xml" Id="R9148f0ef67ea4b45" /><Relationship Type="http://schemas.openxmlformats.org/officeDocument/2006/relationships/slide" Target="/ppt/slides/slide59.xml" Id="Rb012d04133cc464c" /><Relationship Type="http://schemas.openxmlformats.org/officeDocument/2006/relationships/slide" Target="/ppt/slides/slide60.xml" Id="Raf6d9136ad77473a" /><Relationship Type="http://schemas.openxmlformats.org/officeDocument/2006/relationships/slide" Target="/ppt/slides/slide61.xml" Id="R94559b19dcfc44d0" /><Relationship Type="http://schemas.openxmlformats.org/officeDocument/2006/relationships/slide" Target="/ppt/slides/slide62.xml" Id="R53796616288b4fe6" /><Relationship Type="http://schemas.openxmlformats.org/officeDocument/2006/relationships/slide" Target="/ppt/slides/slide63.xml" Id="R2e9334ce3f2843f0" /><Relationship Type="http://schemas.openxmlformats.org/officeDocument/2006/relationships/slide" Target="/ppt/slides/slide64.xml" Id="Rf19cdd264865459a" /><Relationship Type="http://schemas.openxmlformats.org/officeDocument/2006/relationships/slide" Target="/ppt/slides/slide65.xml" Id="R167f0884112041f9" /><Relationship Type="http://schemas.openxmlformats.org/officeDocument/2006/relationships/slide" Target="/ppt/slides/slide66.xml" Id="Rce5c562f0c8c416e" /><Relationship Type="http://schemas.openxmlformats.org/officeDocument/2006/relationships/slide" Target="/ppt/slides/slide67.xml" Id="Rb8a6fe939d8e4fc7" /><Relationship Type="http://schemas.openxmlformats.org/officeDocument/2006/relationships/slide" Target="/ppt/slides/slide68.xml" Id="Rbedacb78484745de" /><Relationship Type="http://schemas.openxmlformats.org/officeDocument/2006/relationships/slide" Target="/ppt/slides/slide69.xml" Id="Rcdc472d13ef74f93" /><Relationship Type="http://schemas.openxmlformats.org/officeDocument/2006/relationships/slide" Target="/ppt/slides/slide70.xml" Id="R88b13da391c84b2c" /><Relationship Type="http://schemas.openxmlformats.org/officeDocument/2006/relationships/slide" Target="/ppt/slides/slide71.xml" Id="R62bc3bd136ed4207" /><Relationship Type="http://schemas.openxmlformats.org/officeDocument/2006/relationships/slide" Target="/ppt/slides/slide72.xml" Id="R8ac4d3c7393b426e" /><Relationship Type="http://schemas.openxmlformats.org/officeDocument/2006/relationships/slide" Target="/ppt/slides/slide73.xml" Id="Re34eb00b32904682" /><Relationship Type="http://schemas.openxmlformats.org/officeDocument/2006/relationships/slide" Target="/ppt/slides/slide74.xml" Id="Rc470253263ee4a05" /><Relationship Type="http://schemas.openxmlformats.org/officeDocument/2006/relationships/slide" Target="/ppt/slides/slide75.xml" Id="Rf4421f0f83a747d6" /><Relationship Type="http://schemas.openxmlformats.org/officeDocument/2006/relationships/slide" Target="/ppt/slides/slide76.xml" Id="Rc48b579ec6b84432" /><Relationship Type="http://schemas.openxmlformats.org/officeDocument/2006/relationships/slide" Target="/ppt/slides/slide77.xml" Id="Re925588736384c19" /><Relationship Type="http://schemas.openxmlformats.org/officeDocument/2006/relationships/slide" Target="/ppt/slides/slide78.xml" Id="R1d534ff566b84add" /><Relationship Type="http://schemas.openxmlformats.org/officeDocument/2006/relationships/slide" Target="/ppt/slides/slide79.xml" Id="R2af0193980d4450c" /><Relationship Type="http://schemas.openxmlformats.org/officeDocument/2006/relationships/slide" Target="/ppt/slides/slide80.xml" Id="R2c5f30cbf1d04871" /><Relationship Type="http://schemas.openxmlformats.org/officeDocument/2006/relationships/slide" Target="/ppt/slides/slide81.xml" Id="R023f72213273417f" /><Relationship Type="http://schemas.openxmlformats.org/officeDocument/2006/relationships/slide" Target="/ppt/slides/slide82.xml" Id="R72cafa85ee524e60" /><Relationship Type="http://schemas.openxmlformats.org/officeDocument/2006/relationships/slide" Target="/ppt/slides/slide83.xml" Id="R251265019d01443c" /><Relationship Type="http://schemas.openxmlformats.org/officeDocument/2006/relationships/slide" Target="/ppt/slides/slide84.xml" Id="Rb530928498004bc6" /><Relationship Type="http://schemas.openxmlformats.org/officeDocument/2006/relationships/slide" Target="/ppt/slides/slide85.xml" Id="R5ee1e217b752430c" /><Relationship Type="http://schemas.openxmlformats.org/officeDocument/2006/relationships/slide" Target="/ppt/slides/slide86.xml" Id="R5413f7dad53342dd" /><Relationship Type="http://schemas.openxmlformats.org/officeDocument/2006/relationships/slide" Target="/ppt/slides/slide87.xml" Id="R0e983b0bc0f24933" /><Relationship Type="http://schemas.openxmlformats.org/officeDocument/2006/relationships/slide" Target="/ppt/slides/slide88.xml" Id="Ra5576f56f28e44c6" /><Relationship Type="http://schemas.openxmlformats.org/officeDocument/2006/relationships/slide" Target="/ppt/slides/slide89.xml" Id="R59dac7edba7348a5" /><Relationship Type="http://schemas.openxmlformats.org/officeDocument/2006/relationships/slide" Target="/ppt/slides/slide90.xml" Id="R8c81e1e9ac15422d" /><Relationship Type="http://schemas.openxmlformats.org/officeDocument/2006/relationships/slide" Target="/ppt/slides/slide91.xml" Id="R55194d1e8fb54428" /><Relationship Type="http://schemas.openxmlformats.org/officeDocument/2006/relationships/slide" Target="/ppt/slides/slide92.xml" Id="R2abadc886fe243ea" /><Relationship Type="http://schemas.openxmlformats.org/officeDocument/2006/relationships/slide" Target="/ppt/slides/slide93.xml" Id="R7de7af5bbd414932" /><Relationship Type="http://schemas.openxmlformats.org/officeDocument/2006/relationships/slide" Target="/ppt/slides/slide94.xml" Id="Rf99a5a62d286413c" /><Relationship Type="http://schemas.openxmlformats.org/officeDocument/2006/relationships/slide" Target="/ppt/slides/slide95.xml" Id="R08825da524e242c5" /><Relationship Type="http://schemas.openxmlformats.org/officeDocument/2006/relationships/slide" Target="/ppt/slides/slide96.xml" Id="R969a6edb47804405" /><Relationship Type="http://schemas.openxmlformats.org/officeDocument/2006/relationships/slide" Target="/ppt/slides/slide97.xml" Id="Rf7763c15aa464a04" /><Relationship Type="http://schemas.openxmlformats.org/officeDocument/2006/relationships/slide" Target="/ppt/slides/slide98.xml" Id="R916002778d044afc" /><Relationship Type="http://schemas.openxmlformats.org/officeDocument/2006/relationships/slide" Target="/ppt/slides/slide99.xml" Id="R358e8786dd9f45bf" /><Relationship Type="http://schemas.openxmlformats.org/officeDocument/2006/relationships/slide" Target="/ppt/slides/slide100.xml" Id="Rd5c8873425e14e08" /><Relationship Type="http://schemas.openxmlformats.org/officeDocument/2006/relationships/slide" Target="/ppt/slides/slide101.xml" Id="R381fce70531a4c93" /><Relationship Type="http://schemas.openxmlformats.org/officeDocument/2006/relationships/slide" Target="/ppt/slides/slide102.xml" Id="R812c39af521a48a1" /><Relationship Type="http://schemas.openxmlformats.org/officeDocument/2006/relationships/slide" Target="/ppt/slides/slide103.xml" Id="R9a8989e310d447df" /><Relationship Type="http://schemas.openxmlformats.org/officeDocument/2006/relationships/slide" Target="/ppt/slides/slide104.xml" Id="Rc21bd73885d44bb5" /><Relationship Type="http://schemas.openxmlformats.org/officeDocument/2006/relationships/slide" Target="/ppt/slides/slide105.xml" Id="R410a83f8075a4ec4" /><Relationship Type="http://schemas.openxmlformats.org/officeDocument/2006/relationships/slide" Target="/ppt/slides/slide106.xml" Id="R52a5a04dee7e4996" /><Relationship Type="http://schemas.openxmlformats.org/officeDocument/2006/relationships/slide" Target="/ppt/slides/slide107.xml" Id="Rc7eba3423be64d20" /><Relationship Type="http://schemas.openxmlformats.org/officeDocument/2006/relationships/slide" Target="/ppt/slides/slide108.xml" Id="Rb5d70edf93464687" /><Relationship Type="http://schemas.openxmlformats.org/officeDocument/2006/relationships/slide" Target="/ppt/slides/slide109.xml" Id="R6cddcf8244a14f75" /><Relationship Type="http://schemas.openxmlformats.org/officeDocument/2006/relationships/slide" Target="/ppt/slides/slide110.xml" Id="R685e7abccba34b65" /><Relationship Type="http://schemas.openxmlformats.org/officeDocument/2006/relationships/slide" Target="/ppt/slides/slide111.xml" Id="Rf0855de7edd04c18" /><Relationship Type="http://schemas.openxmlformats.org/officeDocument/2006/relationships/slide" Target="/ppt/slides/slide112.xml" Id="Rca1788e1bdcc4aca" /><Relationship Type="http://schemas.openxmlformats.org/officeDocument/2006/relationships/slide" Target="/ppt/slides/slide113.xml" Id="R673e2d80313c4c1a" /><Relationship Type="http://schemas.openxmlformats.org/officeDocument/2006/relationships/slide" Target="/ppt/slides/slide114.xml" Id="Rbceb1043a2eb4b70" /><Relationship Type="http://schemas.openxmlformats.org/officeDocument/2006/relationships/slide" Target="/ppt/slides/slide115.xml" Id="Re6ae3bc693e44fa9" /><Relationship Type="http://schemas.openxmlformats.org/officeDocument/2006/relationships/slide" Target="/ppt/slides/slide116.xml" Id="R4f46a9751d7c47e6" /><Relationship Type="http://schemas.openxmlformats.org/officeDocument/2006/relationships/slide" Target="/ppt/slides/slide117.xml" Id="R5970398e50e5494d" /><Relationship Type="http://schemas.openxmlformats.org/officeDocument/2006/relationships/slide" Target="/ppt/slides/slide118.xml" Id="R66980fe46f044417" /><Relationship Type="http://schemas.openxmlformats.org/officeDocument/2006/relationships/slide" Target="/ppt/slides/slide119.xml" Id="Rb0f12754b03549b5" /><Relationship Type="http://schemas.openxmlformats.org/officeDocument/2006/relationships/slide" Target="/ppt/slides/slide120.xml" Id="R8c273c5abc144647" /><Relationship Type="http://schemas.openxmlformats.org/officeDocument/2006/relationships/slide" Target="/ppt/slides/slide121.xml" Id="Rb5b95cf355c147c0" /><Relationship Type="http://schemas.openxmlformats.org/officeDocument/2006/relationships/slide" Target="/ppt/slides/slide122.xml" Id="R93202fc2e27443d0" /><Relationship Type="http://schemas.openxmlformats.org/officeDocument/2006/relationships/slide" Target="/ppt/slides/slide123.xml" Id="R8cefadbd0cdd4f7d" /><Relationship Type="http://schemas.openxmlformats.org/officeDocument/2006/relationships/slide" Target="/ppt/slides/slide124.xml" Id="R8d96ed5150194ec1" /><Relationship Type="http://schemas.openxmlformats.org/officeDocument/2006/relationships/slide" Target="/ppt/slides/slide125.xml" Id="R3bde0ff20e6c4f4e" /><Relationship Type="http://schemas.openxmlformats.org/officeDocument/2006/relationships/slide" Target="/ppt/slides/slide126.xml" Id="R34531ea9fc164dc9" /><Relationship Type="http://schemas.openxmlformats.org/officeDocument/2006/relationships/slide" Target="/ppt/slides/slide127.xml" Id="Re3771dd8173b4b6a" /><Relationship Type="http://schemas.openxmlformats.org/officeDocument/2006/relationships/slide" Target="/ppt/slides/slide128.xml" Id="R55a74c1cce284992" /><Relationship Type="http://schemas.openxmlformats.org/officeDocument/2006/relationships/slide" Target="/ppt/slides/slide129.xml" Id="R6a9db93fe23548b8" /><Relationship Type="http://schemas.openxmlformats.org/officeDocument/2006/relationships/slide" Target="/ppt/slides/slide130.xml" Id="Raa2f6e89d510489e" /><Relationship Type="http://schemas.openxmlformats.org/officeDocument/2006/relationships/slide" Target="/ppt/slides/slide131.xml" Id="Rb5c44d22c6654e98" /><Relationship Type="http://schemas.openxmlformats.org/officeDocument/2006/relationships/slide" Target="/ppt/slides/slide132.xml" Id="R9af69d31f24c4a0d" /><Relationship Type="http://schemas.openxmlformats.org/officeDocument/2006/relationships/slide" Target="/ppt/slides/slide133.xml" Id="Rc4b376a4509e45de" /><Relationship Type="http://schemas.openxmlformats.org/officeDocument/2006/relationships/slide" Target="/ppt/slides/slide134.xml" Id="R214e96fde0b24299" /><Relationship Type="http://schemas.openxmlformats.org/officeDocument/2006/relationships/slide" Target="/ppt/slides/slide135.xml" Id="R0e9b5e8eb82a4c51" /><Relationship Type="http://schemas.openxmlformats.org/officeDocument/2006/relationships/slide" Target="/ppt/slides/slide136.xml" Id="Ra574385febad48c3" /><Relationship Type="http://schemas.openxmlformats.org/officeDocument/2006/relationships/slide" Target="/ppt/slides/slide137.xml" Id="R25932aa50b954cbc" /><Relationship Type="http://schemas.openxmlformats.org/officeDocument/2006/relationships/slide" Target="/ppt/slides/slide138.xml" Id="Rab21a91e2744462f" /><Relationship Type="http://schemas.openxmlformats.org/officeDocument/2006/relationships/slide" Target="/ppt/slides/slide139.xml" Id="R4a81f4c488464b97" /><Relationship Type="http://schemas.openxmlformats.org/officeDocument/2006/relationships/slide" Target="/ppt/slides/slide140.xml" Id="R630b83982d044a8f" /><Relationship Type="http://schemas.openxmlformats.org/officeDocument/2006/relationships/slide" Target="/ppt/slides/slide141.xml" Id="Rc2cfabdbaf3342a9" /><Relationship Type="http://schemas.openxmlformats.org/officeDocument/2006/relationships/slide" Target="/ppt/slides/slide142.xml" Id="Re199fb4b1f52416b" /><Relationship Type="http://schemas.openxmlformats.org/officeDocument/2006/relationships/slide" Target="/ppt/slides/slide143.xml" Id="Rfdd84837d34e409a" /><Relationship Type="http://schemas.openxmlformats.org/officeDocument/2006/relationships/slide" Target="/ppt/slides/slide144.xml" Id="R65230fa04ebb456d" /><Relationship Type="http://schemas.openxmlformats.org/officeDocument/2006/relationships/slide" Target="/ppt/slides/slide145.xml" Id="Re2b5a5ff6f984d6e" /><Relationship Type="http://schemas.openxmlformats.org/officeDocument/2006/relationships/slide" Target="/ppt/slides/slide146.xml" Id="R254dc02d18ef4f76" /><Relationship Type="http://schemas.openxmlformats.org/officeDocument/2006/relationships/slide" Target="/ppt/slides/slide147.xml" Id="Rb46ac998ab724fc0" /><Relationship Type="http://schemas.openxmlformats.org/officeDocument/2006/relationships/slide" Target="/ppt/slides/slide148.xml" Id="R4574efa7c2a341d2" /><Relationship Type="http://schemas.openxmlformats.org/officeDocument/2006/relationships/slide" Target="/ppt/slides/slide149.xml" Id="R37cdbd65543a42b6" /><Relationship Type="http://schemas.openxmlformats.org/officeDocument/2006/relationships/slide" Target="/ppt/slides/slide150.xml" Id="R42b5440239254086" /><Relationship Type="http://schemas.openxmlformats.org/officeDocument/2006/relationships/slide" Target="/ppt/slides/slide151.xml" Id="Re579f42a02794f4a" /><Relationship Type="http://schemas.openxmlformats.org/officeDocument/2006/relationships/slide" Target="/ppt/slides/slide152.xml" Id="Rf49ac500a772450f" /><Relationship Type="http://schemas.openxmlformats.org/officeDocument/2006/relationships/slide" Target="/ppt/slides/slide153.xml" Id="R27348fd8fa9e4536" /><Relationship Type="http://schemas.openxmlformats.org/officeDocument/2006/relationships/slide" Target="/ppt/slides/slide154.xml" Id="R7e01bb82d95841e0" /><Relationship Type="http://schemas.openxmlformats.org/officeDocument/2006/relationships/slide" Target="/ppt/slides/slide155.xml" Id="R574460c0aa12465c" /><Relationship Type="http://schemas.openxmlformats.org/officeDocument/2006/relationships/slide" Target="/ppt/slides/slide156.xml" Id="Rdca5e68e930a4767" /><Relationship Type="http://schemas.openxmlformats.org/officeDocument/2006/relationships/slide" Target="/ppt/slides/slide157.xml" Id="R6d5cbbf48d754702" /><Relationship Type="http://schemas.openxmlformats.org/officeDocument/2006/relationships/slide" Target="/ppt/slides/slide158.xml" Id="Reda583f2db4c44b4" /><Relationship Type="http://schemas.openxmlformats.org/officeDocument/2006/relationships/slide" Target="/ppt/slides/slide159.xml" Id="R3f0726d8900541d4" /><Relationship Type="http://schemas.openxmlformats.org/officeDocument/2006/relationships/slide" Target="/ppt/slides/slide160.xml" Id="Rc3f4b460b8d444e4" /><Relationship Type="http://schemas.openxmlformats.org/officeDocument/2006/relationships/slide" Target="/ppt/slides/slide161.xml" Id="R17839fac94504c16" /><Relationship Type="http://schemas.openxmlformats.org/officeDocument/2006/relationships/slide" Target="/ppt/slides/slide162.xml" Id="R33c51a4297c54116" /><Relationship Type="http://schemas.openxmlformats.org/officeDocument/2006/relationships/slide" Target="/ppt/slides/slide163.xml" Id="R4b6365c507f54b7d" /><Relationship Type="http://schemas.openxmlformats.org/officeDocument/2006/relationships/slide" Target="/ppt/slides/slide164.xml" Id="Reaccece538694fbc" /><Relationship Type="http://schemas.openxmlformats.org/officeDocument/2006/relationships/slide" Target="/ppt/slides/slide165.xml" Id="R76642ed165ee4b0f" /><Relationship Type="http://schemas.openxmlformats.org/officeDocument/2006/relationships/slide" Target="/ppt/slides/slide166.xml" Id="Rdec8d4d9daad4854" /><Relationship Type="http://schemas.openxmlformats.org/officeDocument/2006/relationships/slide" Target="/ppt/slides/slide167.xml" Id="R38d3fb3a429a4a0d" /><Relationship Type="http://schemas.openxmlformats.org/officeDocument/2006/relationships/slide" Target="/ppt/slides/slide168.xml" Id="Rf6a429f21c9b4738" /><Relationship Type="http://schemas.openxmlformats.org/officeDocument/2006/relationships/slide" Target="/ppt/slides/slide169.xml" Id="Rb278ace76d8a41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ae2208809740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ed8051eda143e1" /><Relationship Type="http://schemas.openxmlformats.org/officeDocument/2006/relationships/notesMaster" Target="/ppt/notesMasters/notesMaster1.xml" Id="R248368effc0c44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d0117d547f4e41" /><Relationship Type="http://schemas.openxmlformats.org/officeDocument/2006/relationships/notesMaster" Target="/ppt/notesMasters/notesMaster1.xml" Id="R20f19fc558c544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e77d2862234f60" /><Relationship Type="http://schemas.openxmlformats.org/officeDocument/2006/relationships/notesMaster" Target="/ppt/notesMasters/notesMaster1.xml" Id="Recbbe5a33ee949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2167c9ccf44a55" /><Relationship Type="http://schemas.openxmlformats.org/officeDocument/2006/relationships/notesMaster" Target="/ppt/notesMasters/notesMaster1.xml" Id="R2842036a171243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d9776c441a4763" /><Relationship Type="http://schemas.openxmlformats.org/officeDocument/2006/relationships/notesMaster" Target="/ppt/notesMasters/notesMaster1.xml" Id="R33205dbd1ae847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192ffda5884726" /><Relationship Type="http://schemas.openxmlformats.org/officeDocument/2006/relationships/notesMaster" Target="/ppt/notesMasters/notesMaster1.xml" Id="R80811bf977cf40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569cfa15c54df6" /><Relationship Type="http://schemas.openxmlformats.org/officeDocument/2006/relationships/notesMaster" Target="/ppt/notesMasters/notesMaster1.xml" Id="Rd35cabb63a2647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476927d8a34918" /><Relationship Type="http://schemas.openxmlformats.org/officeDocument/2006/relationships/notesMaster" Target="/ppt/notesMasters/notesMaster1.xml" Id="Rb5ccf900f73d4d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e041c06a53467a" /><Relationship Type="http://schemas.openxmlformats.org/officeDocument/2006/relationships/notesMaster" Target="/ppt/notesMasters/notesMaster1.xml" Id="R623000e9091043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d84845f161439c" /><Relationship Type="http://schemas.openxmlformats.org/officeDocument/2006/relationships/notesMaster" Target="/ppt/notesMasters/notesMaster1.xml" Id="R6d66da886acd4c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ce363160534c27" /><Relationship Type="http://schemas.openxmlformats.org/officeDocument/2006/relationships/notesMaster" Target="/ppt/notesMasters/notesMaster1.xml" Id="R64e653ba572243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33c944c0e24c35" /><Relationship Type="http://schemas.openxmlformats.org/officeDocument/2006/relationships/notesMaster" Target="/ppt/notesMasters/notesMaster1.xml" Id="R894a70062c084c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4fac4f08c54edd" /><Relationship Type="http://schemas.openxmlformats.org/officeDocument/2006/relationships/notesMaster" Target="/ppt/notesMasters/notesMaster1.xml" Id="R166dddb1be204c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c22fc9784546f4" /><Relationship Type="http://schemas.openxmlformats.org/officeDocument/2006/relationships/notesMaster" Target="/ppt/notesMasters/notesMaster1.xml" Id="R8bce8da8869d42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007445e21f4b5f" /><Relationship Type="http://schemas.openxmlformats.org/officeDocument/2006/relationships/notesMaster" Target="/ppt/notesMasters/notesMaster1.xml" Id="R1b153b5aceab4b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95492a0d7f4baa" /><Relationship Type="http://schemas.openxmlformats.org/officeDocument/2006/relationships/notesMaster" Target="/ppt/notesMasters/notesMaster1.xml" Id="Rab9ab9c2ea30487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81bddba955f480c" /><Relationship Type="http://schemas.openxmlformats.org/officeDocument/2006/relationships/notesMaster" Target="/ppt/notesMasters/notesMaster1.xml" Id="R539935d3d3d541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dc5b8a424641c3" /><Relationship Type="http://schemas.openxmlformats.org/officeDocument/2006/relationships/notesMaster" Target="/ppt/notesMasters/notesMaster1.xml" Id="Rd9083ab44a4944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d0228fb7a554197" /><Relationship Type="http://schemas.openxmlformats.org/officeDocument/2006/relationships/notesMaster" Target="/ppt/notesMasters/notesMaster1.xml" Id="Rff5117d4e41842c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8122548e8494051" /><Relationship Type="http://schemas.openxmlformats.org/officeDocument/2006/relationships/notesMaster" Target="/ppt/notesMasters/notesMaster1.xml" Id="Rfbef242024fc47c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ee4af379ae54dc6" /><Relationship Type="http://schemas.openxmlformats.org/officeDocument/2006/relationships/notesMaster" Target="/ppt/notesMasters/notesMaster1.xml" Id="R2a303c38adad4bf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3e591536c8c45b2" /><Relationship Type="http://schemas.openxmlformats.org/officeDocument/2006/relationships/notesMaster" Target="/ppt/notesMasters/notesMaster1.xml" Id="R59a338915a8048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685cf13b6dc46b5" /><Relationship Type="http://schemas.openxmlformats.org/officeDocument/2006/relationships/notesMaster" Target="/ppt/notesMasters/notesMaster1.xml" Id="Rf63f727c61404c4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60e617a602b4b58" /><Relationship Type="http://schemas.openxmlformats.org/officeDocument/2006/relationships/notesMaster" Target="/ppt/notesMasters/notesMaster1.xml" Id="R1e324eaa3fe9426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97005977f0a41f1" /><Relationship Type="http://schemas.openxmlformats.org/officeDocument/2006/relationships/notesMaster" Target="/ppt/notesMasters/notesMaster1.xml" Id="R882613e4d430478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028734fb50a4243" /><Relationship Type="http://schemas.openxmlformats.org/officeDocument/2006/relationships/notesMaster" Target="/ppt/notesMasters/notesMaster1.xml" Id="R1370a2071944459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244f077f7464e9b" /><Relationship Type="http://schemas.openxmlformats.org/officeDocument/2006/relationships/notesMaster" Target="/ppt/notesMasters/notesMaster1.xml" Id="Ra373f1e61295437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4c52b9bd1b84fe4" /><Relationship Type="http://schemas.openxmlformats.org/officeDocument/2006/relationships/notesMaster" Target="/ppt/notesMasters/notesMaster1.xml" Id="R5524fc6984194b1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dd92bc81247447b" /><Relationship Type="http://schemas.openxmlformats.org/officeDocument/2006/relationships/notesMaster" Target="/ppt/notesMasters/notesMaster1.xml" Id="R3e0d48935919413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0f82abb719f4268" /><Relationship Type="http://schemas.openxmlformats.org/officeDocument/2006/relationships/notesMaster" Target="/ppt/notesMasters/notesMaster1.xml" Id="R95c41c9d2ffa477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70a2fdaecb0461a" /><Relationship Type="http://schemas.openxmlformats.org/officeDocument/2006/relationships/notesMaster" Target="/ppt/notesMasters/notesMaster1.xml" Id="R94cfa837d771407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3c32ecef8f748df" /><Relationship Type="http://schemas.openxmlformats.org/officeDocument/2006/relationships/notesMaster" Target="/ppt/notesMasters/notesMaster1.xml" Id="R5ab94163fcfe42e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89863a59e54a7f" /><Relationship Type="http://schemas.openxmlformats.org/officeDocument/2006/relationships/notesMaster" Target="/ppt/notesMasters/notesMaster1.xml" Id="R90f15c148b0e4eb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46e3a09037a4fef" /><Relationship Type="http://schemas.openxmlformats.org/officeDocument/2006/relationships/notesMaster" Target="/ppt/notesMasters/notesMaster1.xml" Id="R1f34ed59700949a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92f2f7f188d4cec" /><Relationship Type="http://schemas.openxmlformats.org/officeDocument/2006/relationships/notesMaster" Target="/ppt/notesMasters/notesMaster1.xml" Id="R75680bd6f5fb4b9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a04bfda92fb4d23" /><Relationship Type="http://schemas.openxmlformats.org/officeDocument/2006/relationships/notesMaster" Target="/ppt/notesMasters/notesMaster1.xml" Id="R780fc9bf8b134e0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6c8b26b19684f6b" /><Relationship Type="http://schemas.openxmlformats.org/officeDocument/2006/relationships/notesMaster" Target="/ppt/notesMasters/notesMaster1.xml" Id="Rcbd2491bf0da4dc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d57f4090c81491f" /><Relationship Type="http://schemas.openxmlformats.org/officeDocument/2006/relationships/notesMaster" Target="/ppt/notesMasters/notesMaster1.xml" Id="Rd726760740914dc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f7252cca8214205" /><Relationship Type="http://schemas.openxmlformats.org/officeDocument/2006/relationships/notesMaster" Target="/ppt/notesMasters/notesMaster1.xml" Id="R22011c35cbde4ef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05416653c38468d" /><Relationship Type="http://schemas.openxmlformats.org/officeDocument/2006/relationships/notesMaster" Target="/ppt/notesMasters/notesMaster1.xml" Id="R8cfd835828e7482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064dfe60b104292" /><Relationship Type="http://schemas.openxmlformats.org/officeDocument/2006/relationships/notesMaster" Target="/ppt/notesMasters/notesMaster1.xml" Id="R98a7434b6c1048c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6cfccaedb3046dd" /><Relationship Type="http://schemas.openxmlformats.org/officeDocument/2006/relationships/notesMaster" Target="/ppt/notesMasters/notesMaster1.xml" Id="R60d2c9b753c8456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efc76c542714acf" /><Relationship Type="http://schemas.openxmlformats.org/officeDocument/2006/relationships/notesMaster" Target="/ppt/notesMasters/notesMaster1.xml" Id="Ra73dc19398bd427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2f0371b778e426f" /><Relationship Type="http://schemas.openxmlformats.org/officeDocument/2006/relationships/notesMaster" Target="/ppt/notesMasters/notesMaster1.xml" Id="R527f2a43d106407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ffa77f6b04841be" /><Relationship Type="http://schemas.openxmlformats.org/officeDocument/2006/relationships/notesMaster" Target="/ppt/notesMasters/notesMaster1.xml" Id="Rc90ba1b079fa4ee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d3291146ca743fd" /><Relationship Type="http://schemas.openxmlformats.org/officeDocument/2006/relationships/notesMaster" Target="/ppt/notesMasters/notesMaster1.xml" Id="Rbe0beda7107947f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8b18810c27c4990" /><Relationship Type="http://schemas.openxmlformats.org/officeDocument/2006/relationships/notesMaster" Target="/ppt/notesMasters/notesMaster1.xml" Id="R9c8907490775490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9b27b16180447a7" /><Relationship Type="http://schemas.openxmlformats.org/officeDocument/2006/relationships/notesMaster" Target="/ppt/notesMasters/notesMaster1.xml" Id="R7ca4a9a84d0d4ff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d65d9620fe441e8" /><Relationship Type="http://schemas.openxmlformats.org/officeDocument/2006/relationships/notesMaster" Target="/ppt/notesMasters/notesMaster1.xml" Id="Rd6f6c43dff46494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8c092bc560c47ea" /><Relationship Type="http://schemas.openxmlformats.org/officeDocument/2006/relationships/notesMaster" Target="/ppt/notesMasters/notesMaster1.xml" Id="Rff14962f743f484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2d07bdd45f14304" /><Relationship Type="http://schemas.openxmlformats.org/officeDocument/2006/relationships/notesMaster" Target="/ppt/notesMasters/notesMaster1.xml" Id="R56362def6367487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84d4efba1ac4b60" /><Relationship Type="http://schemas.openxmlformats.org/officeDocument/2006/relationships/notesMaster" Target="/ppt/notesMasters/notesMaster1.xml" Id="R898db327aa16466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0065e3c5f174e8e" /><Relationship Type="http://schemas.openxmlformats.org/officeDocument/2006/relationships/notesMaster" Target="/ppt/notesMasters/notesMaster1.xml" Id="Ra7a359682dac497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c88cf1c5eab49ca" /><Relationship Type="http://schemas.openxmlformats.org/officeDocument/2006/relationships/notesMaster" Target="/ppt/notesMasters/notesMaster1.xml" Id="R554a00b001a742e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e51982cf7854948" /><Relationship Type="http://schemas.openxmlformats.org/officeDocument/2006/relationships/notesMaster" Target="/ppt/notesMasters/notesMaster1.xml" Id="R3345dc97168d434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ea4b6037a6f48e8" /><Relationship Type="http://schemas.openxmlformats.org/officeDocument/2006/relationships/notesMaster" Target="/ppt/notesMasters/notesMaster1.xml" Id="R8d758171029a4a3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96a40aaff034ff0" /><Relationship Type="http://schemas.openxmlformats.org/officeDocument/2006/relationships/notesMaster" Target="/ppt/notesMasters/notesMaster1.xml" Id="R6b72cd5b2cf6455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86bf26f32314512" /><Relationship Type="http://schemas.openxmlformats.org/officeDocument/2006/relationships/notesMaster" Target="/ppt/notesMasters/notesMaster1.xml" Id="R957e38e9fe7f462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dc5c275774d4ae4" /><Relationship Type="http://schemas.openxmlformats.org/officeDocument/2006/relationships/notesMaster" Target="/ppt/notesMasters/notesMaster1.xml" Id="R7e7513439d4d47a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0554264d4054216" /><Relationship Type="http://schemas.openxmlformats.org/officeDocument/2006/relationships/notesMaster" Target="/ppt/notesMasters/notesMaster1.xml" Id="R9275173dcfe5443c"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4133e8d5cb444b6" /><Relationship Type="http://schemas.openxmlformats.org/officeDocument/2006/relationships/notesMaster" Target="/ppt/notesMasters/notesMaster1.xml" Id="R96d738c7099f474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b05c63ead964d0f" /><Relationship Type="http://schemas.openxmlformats.org/officeDocument/2006/relationships/notesMaster" Target="/ppt/notesMasters/notesMaster1.xml" Id="R0b0e21e6f0bd497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a9f0fabf0274a38" /><Relationship Type="http://schemas.openxmlformats.org/officeDocument/2006/relationships/notesMaster" Target="/ppt/notesMasters/notesMaster1.xml" Id="R9fa627fc2ddc485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7386e66109b4b13" /><Relationship Type="http://schemas.openxmlformats.org/officeDocument/2006/relationships/notesMaster" Target="/ppt/notesMasters/notesMaster1.xml" Id="R5a4502bde67e442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34da2f55e99c4d61" /><Relationship Type="http://schemas.openxmlformats.org/officeDocument/2006/relationships/notesMaster" Target="/ppt/notesMasters/notesMaster1.xml" Id="R420328d48f56469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4aa243fd095f48e0" /><Relationship Type="http://schemas.openxmlformats.org/officeDocument/2006/relationships/notesMaster" Target="/ppt/notesMasters/notesMaster1.xml" Id="Re29e5cd26895411f"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ff7ea8a2e30419f" /><Relationship Type="http://schemas.openxmlformats.org/officeDocument/2006/relationships/notesMaster" Target="/ppt/notesMasters/notesMaster1.xml" Id="R6cc3daa629ec483e"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abfd1faa7534aa1" /><Relationship Type="http://schemas.openxmlformats.org/officeDocument/2006/relationships/notesMaster" Target="/ppt/notesMasters/notesMaster1.xml" Id="Rd8e8c7c28f4f4622"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66500b3851ca4dfe" /><Relationship Type="http://schemas.openxmlformats.org/officeDocument/2006/relationships/notesMaster" Target="/ppt/notesMasters/notesMaster1.xml" Id="R5cede2609a214c5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8652ed976754a61" /><Relationship Type="http://schemas.openxmlformats.org/officeDocument/2006/relationships/notesMaster" Target="/ppt/notesMasters/notesMaster1.xml" Id="R2ca5372e8f73429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a100b3ddcf247d6" /><Relationship Type="http://schemas.openxmlformats.org/officeDocument/2006/relationships/notesMaster" Target="/ppt/notesMasters/notesMaster1.xml" Id="R8d833bee6e984f75"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873d0fed79d54fb1" /><Relationship Type="http://schemas.openxmlformats.org/officeDocument/2006/relationships/notesMaster" Target="/ppt/notesMasters/notesMaster1.xml" Id="Rfad8353139c8495c"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0f5816f339142be" /><Relationship Type="http://schemas.openxmlformats.org/officeDocument/2006/relationships/notesMaster" Target="/ppt/notesMasters/notesMaster1.xml" Id="Rcfaedf610ec04018"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5ea8a7d4f6a74d31" /><Relationship Type="http://schemas.openxmlformats.org/officeDocument/2006/relationships/notesMaster" Target="/ppt/notesMasters/notesMaster1.xml" Id="Reac15bc8f56145bd"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ace046bb600848bb" /><Relationship Type="http://schemas.openxmlformats.org/officeDocument/2006/relationships/notesMaster" Target="/ppt/notesMasters/notesMaster1.xml" Id="Rb25d365d8bfc4c5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d02e9cc909ad40ac" /><Relationship Type="http://schemas.openxmlformats.org/officeDocument/2006/relationships/notesMaster" Target="/ppt/notesMasters/notesMaster1.xml" Id="R12c6be0378b0428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c3d77697eef74fe8" /><Relationship Type="http://schemas.openxmlformats.org/officeDocument/2006/relationships/notesMaster" Target="/ppt/notesMasters/notesMaster1.xml" Id="Rebc37a25d0c1451d"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1de270dc6fd14fef" /><Relationship Type="http://schemas.openxmlformats.org/officeDocument/2006/relationships/notesMaster" Target="/ppt/notesMasters/notesMaster1.xml" Id="Rdf7c00e1f4e84a7b"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6cb5d530a9134b8e" /><Relationship Type="http://schemas.openxmlformats.org/officeDocument/2006/relationships/notesMaster" Target="/ppt/notesMasters/notesMaster1.xml" Id="Rc3bc8f9e23994cdf"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b029275d6bab4106" /><Relationship Type="http://schemas.openxmlformats.org/officeDocument/2006/relationships/notesMaster" Target="/ppt/notesMasters/notesMaster1.xml" Id="Rff8fa59adaf04f32"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457fcb4738cd4924" /><Relationship Type="http://schemas.openxmlformats.org/officeDocument/2006/relationships/notesMaster" Target="/ppt/notesMasters/notesMaster1.xml" Id="R5218899c60de40b1"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72919356ea584217" /><Relationship Type="http://schemas.openxmlformats.org/officeDocument/2006/relationships/notesMaster" Target="/ppt/notesMasters/notesMaster1.xml" Id="Ra90ce5877398492e"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48de5f85ca6842d5" /><Relationship Type="http://schemas.openxmlformats.org/officeDocument/2006/relationships/notesMaster" Target="/ppt/notesMasters/notesMaster1.xml" Id="Ra65f90824a1f4abf"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2dd2bc84c8594bee" /><Relationship Type="http://schemas.openxmlformats.org/officeDocument/2006/relationships/notesMaster" Target="/ppt/notesMasters/notesMaster1.xml" Id="R431ce59865fc4b41"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2320890891a04efb" /><Relationship Type="http://schemas.openxmlformats.org/officeDocument/2006/relationships/notesMaster" Target="/ppt/notesMasters/notesMaster1.xml" Id="R5a95dffce9c643fd"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a6f2c3d22a1d4d46" /><Relationship Type="http://schemas.openxmlformats.org/officeDocument/2006/relationships/notesMaster" Target="/ppt/notesMasters/notesMaster1.xml" Id="R616c57b0db9d4366"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2a22802c05a54fa7" /><Relationship Type="http://schemas.openxmlformats.org/officeDocument/2006/relationships/notesMaster" Target="/ppt/notesMasters/notesMaster1.xml" Id="R046b5d990c234f91"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a829f2bf3e1420a" /><Relationship Type="http://schemas.openxmlformats.org/officeDocument/2006/relationships/notesMaster" Target="/ppt/notesMasters/notesMaster1.xml" Id="Rf837e09d622441fd"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1490ea2c2d624bed" /><Relationship Type="http://schemas.openxmlformats.org/officeDocument/2006/relationships/notesMaster" Target="/ppt/notesMasters/notesMaster1.xml" Id="R2c81e662fbee4319"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f2acacd48dfc4450" /><Relationship Type="http://schemas.openxmlformats.org/officeDocument/2006/relationships/notesMaster" Target="/ppt/notesMasters/notesMaster1.xml" Id="Rbc99e76084704efa"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a9dd0a63d765441a" /><Relationship Type="http://schemas.openxmlformats.org/officeDocument/2006/relationships/notesMaster" Target="/ppt/notesMasters/notesMaster1.xml" Id="Ra7c5ef5c93134038"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7bdc7105246040ec" /><Relationship Type="http://schemas.openxmlformats.org/officeDocument/2006/relationships/notesMaster" Target="/ppt/notesMasters/notesMaster1.xml" Id="R1e349fae9245477b"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b0db73aa2af24fca" /><Relationship Type="http://schemas.openxmlformats.org/officeDocument/2006/relationships/notesMaster" Target="/ppt/notesMasters/notesMaster1.xml" Id="Rb36b7b32816a4274"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ffa3957b09f94c81" /><Relationship Type="http://schemas.openxmlformats.org/officeDocument/2006/relationships/notesMaster" Target="/ppt/notesMasters/notesMaster1.xml" Id="R44750fe2d6c94df1"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d2da1b8e40cf4c49" /><Relationship Type="http://schemas.openxmlformats.org/officeDocument/2006/relationships/notesMaster" Target="/ppt/notesMasters/notesMaster1.xml" Id="R6aa3ae52bf20401d"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7d29233b941d4d8e" /><Relationship Type="http://schemas.openxmlformats.org/officeDocument/2006/relationships/notesMaster" Target="/ppt/notesMasters/notesMaster1.xml" Id="R8fa910efea4148c1"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e1fa844d1d394e55" /><Relationship Type="http://schemas.openxmlformats.org/officeDocument/2006/relationships/notesMaster" Target="/ppt/notesMasters/notesMaster1.xml" Id="R6ca44b3327b64da3"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3a6f23a5544345c0" /><Relationship Type="http://schemas.openxmlformats.org/officeDocument/2006/relationships/notesMaster" Target="/ppt/notesMasters/notesMaster1.xml" Id="Rfdfeb4f18fae47c3"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c8cbf2a759664dd5" /><Relationship Type="http://schemas.openxmlformats.org/officeDocument/2006/relationships/notesMaster" Target="/ppt/notesMasters/notesMaster1.xml" Id="Ra29448a20627441f"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c0256b2ec6ee4d69" /><Relationship Type="http://schemas.openxmlformats.org/officeDocument/2006/relationships/notesMaster" Target="/ppt/notesMasters/notesMaster1.xml" Id="R04e7831d9e6b4712"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5ce1a62f2ce9489f" /><Relationship Type="http://schemas.openxmlformats.org/officeDocument/2006/relationships/notesMaster" Target="/ppt/notesMasters/notesMaster1.xml" Id="R2229037be1314721"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de30ee0a460747db" /><Relationship Type="http://schemas.openxmlformats.org/officeDocument/2006/relationships/notesMaster" Target="/ppt/notesMasters/notesMaster1.xml" Id="R712df86c24814d19"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e6a0b64b33554454" /><Relationship Type="http://schemas.openxmlformats.org/officeDocument/2006/relationships/notesMaster" Target="/ppt/notesMasters/notesMaster1.xml" Id="Rd745bd99ded44fb7"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7d35190db4b24a25" /><Relationship Type="http://schemas.openxmlformats.org/officeDocument/2006/relationships/notesMaster" Target="/ppt/notesMasters/notesMaster1.xml" Id="R60b5bd6df84b4bcb"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e7954eddf87840d4" /><Relationship Type="http://schemas.openxmlformats.org/officeDocument/2006/relationships/notesMaster" Target="/ppt/notesMasters/notesMaster1.xml" Id="R5b2dba8d5caa43fd"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bbe9b27c951a4283" /><Relationship Type="http://schemas.openxmlformats.org/officeDocument/2006/relationships/notesMaster" Target="/ppt/notesMasters/notesMaster1.xml" Id="R331f527d00264bc0"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3bc0745e36db425e" /><Relationship Type="http://schemas.openxmlformats.org/officeDocument/2006/relationships/notesMaster" Target="/ppt/notesMasters/notesMaster1.xml" Id="R0463f96747a84a04"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dd41a7855b604606" /><Relationship Type="http://schemas.openxmlformats.org/officeDocument/2006/relationships/notesMaster" Target="/ppt/notesMasters/notesMaster1.xml" Id="Rcf0ec711e6e44ceb"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7742d7dbe7a0440d" /><Relationship Type="http://schemas.openxmlformats.org/officeDocument/2006/relationships/notesMaster" Target="/ppt/notesMasters/notesMaster1.xml" Id="R5373ac62d1034f1e"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06d778c26d8a4dcc" /><Relationship Type="http://schemas.openxmlformats.org/officeDocument/2006/relationships/notesMaster" Target="/ppt/notesMasters/notesMaster1.xml" Id="Radcbfcf270be4135"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85e46d1b86b148ed" /><Relationship Type="http://schemas.openxmlformats.org/officeDocument/2006/relationships/notesMaster" Target="/ppt/notesMasters/notesMaster1.xml" Id="R8ee90051c6294a4d"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95cd6ca7075c4af1" /><Relationship Type="http://schemas.openxmlformats.org/officeDocument/2006/relationships/notesMaster" Target="/ppt/notesMasters/notesMaster1.xml" Id="R3c5e83f814984d36"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7eb3408b392b4693" /><Relationship Type="http://schemas.openxmlformats.org/officeDocument/2006/relationships/notesMaster" Target="/ppt/notesMasters/notesMaster1.xml" Id="R70d84579d85946a5"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13c1bfd65d954caa" /><Relationship Type="http://schemas.openxmlformats.org/officeDocument/2006/relationships/notesMaster" Target="/ppt/notesMasters/notesMaster1.xml" Id="Rb7bba36c99744235"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303138587a7a4100" /><Relationship Type="http://schemas.openxmlformats.org/officeDocument/2006/relationships/notesMaster" Target="/ppt/notesMasters/notesMaster1.xml" Id="Rbdcdea416ce346b6"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6f076c207b514ee4" /><Relationship Type="http://schemas.openxmlformats.org/officeDocument/2006/relationships/notesMaster" Target="/ppt/notesMasters/notesMaster1.xml" Id="R5e19f18e34434f13"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f4d62e7ea2cc41ea" /><Relationship Type="http://schemas.openxmlformats.org/officeDocument/2006/relationships/notesMaster" Target="/ppt/notesMasters/notesMaster1.xml" Id="R27fdbb180b8240cb"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ef88bfb8bc384962" /><Relationship Type="http://schemas.openxmlformats.org/officeDocument/2006/relationships/notesMaster" Target="/ppt/notesMasters/notesMaster1.xml" Id="Rcbedf4e9b6284d1c"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57ea59bda492430c" /><Relationship Type="http://schemas.openxmlformats.org/officeDocument/2006/relationships/notesMaster" Target="/ppt/notesMasters/notesMaster1.xml" Id="R937e334d56f24f49"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1b45628ff4dd41f7" /><Relationship Type="http://schemas.openxmlformats.org/officeDocument/2006/relationships/notesMaster" Target="/ppt/notesMasters/notesMaster1.xml" Id="R8e061c049d184667"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6362b85e511c41d8" /><Relationship Type="http://schemas.openxmlformats.org/officeDocument/2006/relationships/notesMaster" Target="/ppt/notesMasters/notesMaster1.xml" Id="Re258f6bbd9364e24"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a346f4e19e5a4dd2" /><Relationship Type="http://schemas.openxmlformats.org/officeDocument/2006/relationships/notesMaster" Target="/ppt/notesMasters/notesMaster1.xml" Id="Re86c0436699c4fd4"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11f2b21945644912" /><Relationship Type="http://schemas.openxmlformats.org/officeDocument/2006/relationships/notesMaster" Target="/ppt/notesMasters/notesMaster1.xml" Id="R9e9bb1216df14626"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555bf8dcc9174347" /><Relationship Type="http://schemas.openxmlformats.org/officeDocument/2006/relationships/notesMaster" Target="/ppt/notesMasters/notesMaster1.xml" Id="R11bc4410221d4643"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09cacb44462e46e2" /><Relationship Type="http://schemas.openxmlformats.org/officeDocument/2006/relationships/notesMaster" Target="/ppt/notesMasters/notesMaster1.xml" Id="R969bc41ee37f42a7"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61f65f9c5b52427d" /><Relationship Type="http://schemas.openxmlformats.org/officeDocument/2006/relationships/notesMaster" Target="/ppt/notesMasters/notesMaster1.xml" Id="R7b915494181144c8"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c1db496c859e420a" /><Relationship Type="http://schemas.openxmlformats.org/officeDocument/2006/relationships/notesMaster" Target="/ppt/notesMasters/notesMaster1.xml" Id="R27d95f8c84534039"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aecddba386974236" /><Relationship Type="http://schemas.openxmlformats.org/officeDocument/2006/relationships/notesMaster" Target="/ppt/notesMasters/notesMaster1.xml" Id="R76e013981c2b427e"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c4fa21c9f16645cb" /><Relationship Type="http://schemas.openxmlformats.org/officeDocument/2006/relationships/notesMaster" Target="/ppt/notesMasters/notesMaster1.xml" Id="R360c6bff8e4e4bec"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f00a764c45d845c1" /><Relationship Type="http://schemas.openxmlformats.org/officeDocument/2006/relationships/notesMaster" Target="/ppt/notesMasters/notesMaster1.xml" Id="R5dafb19e43894e8f"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b2008291c868475f" /><Relationship Type="http://schemas.openxmlformats.org/officeDocument/2006/relationships/notesMaster" Target="/ppt/notesMasters/notesMaster1.xml" Id="R6486eea872c249b0"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3c145c44b4c14e28" /><Relationship Type="http://schemas.openxmlformats.org/officeDocument/2006/relationships/notesMaster" Target="/ppt/notesMasters/notesMaster1.xml" Id="R4c82ebe0fbef4339"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509010ce41bd441d" /><Relationship Type="http://schemas.openxmlformats.org/officeDocument/2006/relationships/notesMaster" Target="/ppt/notesMasters/notesMaster1.xml" Id="R3099ffc353164c4c"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2f7ed0ccbf89457c" /><Relationship Type="http://schemas.openxmlformats.org/officeDocument/2006/relationships/notesMaster" Target="/ppt/notesMasters/notesMaster1.xml" Id="R9c9f169989334cb6"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db6bac30a2e7466f" /><Relationship Type="http://schemas.openxmlformats.org/officeDocument/2006/relationships/notesMaster" Target="/ppt/notesMasters/notesMaster1.xml" Id="R2af42a4af3154547"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95391ca4f2974451" /><Relationship Type="http://schemas.openxmlformats.org/officeDocument/2006/relationships/notesMaster" Target="/ppt/notesMasters/notesMaster1.xml" Id="Re9a0de6b331d48f1"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9d698cbb3916430d" /><Relationship Type="http://schemas.openxmlformats.org/officeDocument/2006/relationships/notesMaster" Target="/ppt/notesMasters/notesMaster1.xml" Id="R0b63c0cf17cc455d"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1349f2e66a0644b0" /><Relationship Type="http://schemas.openxmlformats.org/officeDocument/2006/relationships/notesMaster" Target="/ppt/notesMasters/notesMaster1.xml" Id="R08d9d381f23743ee"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62a1df0187264c7f" /><Relationship Type="http://schemas.openxmlformats.org/officeDocument/2006/relationships/notesMaster" Target="/ppt/notesMasters/notesMaster1.xml" Id="R3fb1760fc1224ff0"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e1f64102bc25436f" /><Relationship Type="http://schemas.openxmlformats.org/officeDocument/2006/relationships/notesMaster" Target="/ppt/notesMasters/notesMaster1.xml" Id="Rc91a08addd464447"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369d03ecb7d640a3" /><Relationship Type="http://schemas.openxmlformats.org/officeDocument/2006/relationships/notesMaster" Target="/ppt/notesMasters/notesMaster1.xml" Id="R2628fda9d04e42e1"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8088f324e3d84c64" /><Relationship Type="http://schemas.openxmlformats.org/officeDocument/2006/relationships/notesMaster" Target="/ppt/notesMasters/notesMaster1.xml" Id="R599c2424b86f4760"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04fd1efc58cf4671" /><Relationship Type="http://schemas.openxmlformats.org/officeDocument/2006/relationships/notesMaster" Target="/ppt/notesMasters/notesMaster1.xml" Id="Rb3cc31238f484380"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897b6030ef4345d1" /><Relationship Type="http://schemas.openxmlformats.org/officeDocument/2006/relationships/notesMaster" Target="/ppt/notesMasters/notesMaster1.xml" Id="R0ba9ce6722ab4212"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89f597006f1e47b9" /><Relationship Type="http://schemas.openxmlformats.org/officeDocument/2006/relationships/notesMaster" Target="/ppt/notesMasters/notesMaster1.xml" Id="R87e6b5ed63f54a1b"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5f382d2c8cf044db" /><Relationship Type="http://schemas.openxmlformats.org/officeDocument/2006/relationships/notesMaster" Target="/ppt/notesMasters/notesMaster1.xml" Id="R843fd10ceaec41ad"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757a9b9fa435497d" /><Relationship Type="http://schemas.openxmlformats.org/officeDocument/2006/relationships/notesMaster" Target="/ppt/notesMasters/notesMaster1.xml" Id="Rd2237ebe5a7f4aa8"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f11674474aed4964" /><Relationship Type="http://schemas.openxmlformats.org/officeDocument/2006/relationships/notesMaster" Target="/ppt/notesMasters/notesMaster1.xml" Id="R0bb8e3449d2f40a0"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65e6fe7e45304c7a" /><Relationship Type="http://schemas.openxmlformats.org/officeDocument/2006/relationships/notesMaster" Target="/ppt/notesMasters/notesMaster1.xml" Id="Re4904739afe24309"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a7a6c4942ba847de" /><Relationship Type="http://schemas.openxmlformats.org/officeDocument/2006/relationships/notesMaster" Target="/ppt/notesMasters/notesMaster1.xml" Id="Red1414af0fa1420b"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63c6a35658704d05" /><Relationship Type="http://schemas.openxmlformats.org/officeDocument/2006/relationships/notesMaster" Target="/ppt/notesMasters/notesMaster1.xml" Id="R92847163494f45bd"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3c66903e544147ed" /><Relationship Type="http://schemas.openxmlformats.org/officeDocument/2006/relationships/notesMaster" Target="/ppt/notesMasters/notesMaster1.xml" Id="Rca7f8e058dbd4d90"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f196659a660c429d" /><Relationship Type="http://schemas.openxmlformats.org/officeDocument/2006/relationships/notesMaster" Target="/ppt/notesMasters/notesMaster1.xml" Id="Refa01229b1ab4e96"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c9402c35c91046ef" /><Relationship Type="http://schemas.openxmlformats.org/officeDocument/2006/relationships/notesMaster" Target="/ppt/notesMasters/notesMaster1.xml" Id="R964376c6471e40cc"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89f7220cacb6499e" /><Relationship Type="http://schemas.openxmlformats.org/officeDocument/2006/relationships/notesMaster" Target="/ppt/notesMasters/notesMaster1.xml" Id="Rbb4c1531b3904299"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61413e9f91ad44b2" /><Relationship Type="http://schemas.openxmlformats.org/officeDocument/2006/relationships/notesMaster" Target="/ppt/notesMasters/notesMaster1.xml" Id="R4f68a3ab62214b2c"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f77b5eed021b4596" /><Relationship Type="http://schemas.openxmlformats.org/officeDocument/2006/relationships/notesMaster" Target="/ppt/notesMasters/notesMaster1.xml" Id="Rd88c0a177cab4c17"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05bf82091c0a4dd5" /><Relationship Type="http://schemas.openxmlformats.org/officeDocument/2006/relationships/notesMaster" Target="/ppt/notesMasters/notesMaster1.xml" Id="R21f17378135b41d2"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3eb2baaba9314595" /><Relationship Type="http://schemas.openxmlformats.org/officeDocument/2006/relationships/notesMaster" Target="/ppt/notesMasters/notesMaster1.xml" Id="R8f8d3a7e424945d2"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2867a58356954ef2" /><Relationship Type="http://schemas.openxmlformats.org/officeDocument/2006/relationships/notesMaster" Target="/ppt/notesMasters/notesMaster1.xml" Id="Rba80ef93f5d84a1d"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a7f542ce628a4c4b" /><Relationship Type="http://schemas.openxmlformats.org/officeDocument/2006/relationships/notesMaster" Target="/ppt/notesMasters/notesMaster1.xml" Id="Rd2bbb7ddc05540a8"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a54e6ff7f8b24f6b" /><Relationship Type="http://schemas.openxmlformats.org/officeDocument/2006/relationships/notesMaster" Target="/ppt/notesMasters/notesMaster1.xml" Id="Rdc53d5494e384623"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0d816c1c052344d9" /><Relationship Type="http://schemas.openxmlformats.org/officeDocument/2006/relationships/notesMaster" Target="/ppt/notesMasters/notesMaster1.xml" Id="Rb19fcf65dba64ce7"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de4803d9b3c4499b" /><Relationship Type="http://schemas.openxmlformats.org/officeDocument/2006/relationships/notesMaster" Target="/ppt/notesMasters/notesMaster1.xml" Id="R31cb969886c54780"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d056b9227f834905" /><Relationship Type="http://schemas.openxmlformats.org/officeDocument/2006/relationships/notesMaster" Target="/ppt/notesMasters/notesMaster1.xml" Id="R4b3a7f77ebc14323"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e5ffbb80f0a1445e" /><Relationship Type="http://schemas.openxmlformats.org/officeDocument/2006/relationships/notesMaster" Target="/ppt/notesMasters/notesMaster1.xml" Id="R9e3454d0160e4d07"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8e8be0c115404770" /><Relationship Type="http://schemas.openxmlformats.org/officeDocument/2006/relationships/notesMaster" Target="/ppt/notesMasters/notesMaster1.xml" Id="R4e269684bf56408b"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00bdf578175d48a3" /><Relationship Type="http://schemas.openxmlformats.org/officeDocument/2006/relationships/notesMaster" Target="/ppt/notesMasters/notesMaster1.xml" Id="Rd3d8a87879394844"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ede7c29d5ee14757" /><Relationship Type="http://schemas.openxmlformats.org/officeDocument/2006/relationships/notesMaster" Target="/ppt/notesMasters/notesMaster1.xml" Id="Rf7c5423da3ec47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xmlns:a="http://schemas.openxmlformats.org/drawingml/2006/main"/>
          <a:lstStyle xmlns:a="http://schemas.openxmlformats.org/drawingml/2006/main"/>
          <a:p>
            <a:r>
              <a:rPr lang="en-US"/>
              <a:t>W1 / Source page 1 / Materials overview</a:t>
            </a:r>
          </a:p>
          <a:p>
            <a:r>
              <a:rPr lang="en-US"/>
              <a:t/>
            </a:r>
          </a:p>
          <a:p>
            <a:r>
              <a:rPr lang="en-US"/>
              <a:t>This class uses Machine Learning Specialization materials from DeepLearning.AI and Stanford Online. The original slides and annotations are retained, with explanations adapted so that people encountering these concepts for the first time can follow along.</a:t>
            </a:r>
          </a:p>
          <a:p>
            <a:r>
              <a:rPr lang="en-US"/>
              <a:t/>
            </a:r>
          </a:p>
          <a:p>
            <a:r>
              <a:rPr lang="en-US"/>
              <a:t>You do not need to memorize formulas from the beginning. We will connect what we want to predict, which examples we learn from, and how we improve a prediction when it is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start with how machine learning solves problems.</a:t>
            </a:r>
          </a:p>
          <a:p>
            <a:r>
              <a:rPr lang="en-US"/>
              <a:t>The name may be unfamiliar, but you already use this technology when you see search results or receive video recommendations.</a:t>
            </a:r>
          </a:p>
          <a:p>
            <a:r>
              <a:rPr lang="en-US"/>
              <a:t>Other examples include voice input that turns a friend's speech into text and tools that filter spam email.</a:t>
            </a:r>
          </a:p>
          <a:p>
            <a:r>
              <a:rPr lang="en-US"/>
              <a:t>To build these features, would a person have to write a rule for every possible situation?</a:t>
            </a:r>
          </a:p>
          <a:p>
            <a:r>
              <a:rPr lang="en-US"/>
              <a:t>Voices, photographs, and sentences have too many possible variations for that approach to work well.</a:t>
            </a:r>
          </a:p>
          <a:p>
            <a:r>
              <a:rPr lang="en-US"/>
              <a:t>In machine learning, we provide examples and let a system find useful relationships in them.</a:t>
            </a:r>
          </a:p>
          <a:p>
            <a:r>
              <a:rPr lang="en-US"/>
              <a:t>We will learn this process using data we can see directly, such as house sizes and prices.</a:t>
            </a:r>
          </a:p>
          <a:p>
            <a:r>
              <a:rPr lang="en-US"/>
              <a:t>Connect the steps: what information goes in, what we predict, and what changes when a prediction is wrong.</a:t>
            </a:r>
          </a:p>
          <a:p>
            <a:r>
              <a:rPr lang="en-US"/>
              <a:t>Our goal is for you to implement this process in code by the end.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xmlns:a="http://schemas.openxmlformats.org/drawingml/2006/main"/>
          <a:lstStyle xmlns:a="http://schemas.openxmlformats.org/drawingml/2006/main"/>
          <a:p>
            <a:r>
              <a:rPr lang="en-US"/>
              <a:t>W1 / Source page 3 / Identifying people in photographs</a:t>
            </a:r>
          </a:p>
          <a:p>
            <a:r>
              <a:rPr lang="en-US"/>
              <a:t/>
            </a:r>
          </a:p>
          <a:p>
            <a:r>
              <a:rPr lang="en-US"/>
              <a:t>The photographs have people's names beside them. Just as we recognize someone we know in a photograph, we can consider teaching a computer the relationship between photographs and names. It needs to find what identifies the same person even when lighting or facial expressions differ.</a:t>
            </a:r>
          </a:p>
          <a:p>
            <a:r>
              <a:rPr lang="en-US"/>
              <a:t/>
            </a:r>
          </a:p>
          <a:p>
            <a:r>
              <a:rPr lang="en-US"/>
              <a:t>People do this naturally through experience, but manually specifying every possible rule, from eye position to facial expression, is difficult. We therefore need an approach that finds useful patterns from many examples. Focus here on the structure of obtaining a name as an answer from a photograph as input, rather than on the specific identity of the person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Imagine receiving an email saying you have won a large cash prize.</a:t>
            </a:r>
          </a:p>
          <a:p>
            <a:r>
              <a:rPr lang="en-US"/>
              <a:t>The message sounds welcome, but its sender or wording may look suspicious.</a:t>
            </a:r>
          </a:p>
          <a:p>
            <a:r>
              <a:rPr lang="en-US"/>
              <a:t>An email service can automatically place this kind of message in the spam folder.</a:t>
            </a:r>
          </a:p>
          <a:p>
            <a:r>
              <a:rPr lang="en-US"/>
              <a:t>The input we give the computer is an email, and the answer we want is whether it is spam.</a:t>
            </a:r>
          </a:p>
          <a:p>
            <a:r>
              <a:rPr lang="en-US"/>
              <a:t>A person could write a rule that always marks a particular word as spam, but ordinary emails may contain that word too.</a:t>
            </a:r>
          </a:p>
          <a:p>
            <a:r>
              <a:rPr lang="en-US"/>
              <a:t>A simple rule also has limits because a small change in wording can get around it.</a:t>
            </a:r>
          </a:p>
          <a:p>
            <a:r>
              <a:rPr lang="en-US"/>
              <a:t>Instead, we use examples of spam and ordinary email to learn patterns that help distinguish them.</a:t>
            </a:r>
          </a:p>
          <a:p>
            <a:r>
              <a:rPr lang="en-US"/>
              <a:t>After training, we apply those patterns to an email that has not yet been classified.</a:t>
            </a:r>
          </a:p>
          <a:p>
            <a:r>
              <a:rPr lang="en-US"/>
              <a:t>Remember this sequence: learn relationships from examples, then use them on new inputs.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Machine learning is used in more than email and recommendation services.</a:t>
            </a:r>
          </a:p>
          <a:p>
            <a:r>
              <a:rPr lang="en-US"/>
              <a:t>Factories can inspect product photographs for defects, and farms can use observations to examine crop conditions.</a:t>
            </a:r>
          </a:p>
          <a:p>
            <a:r>
              <a:rPr lang="en-US"/>
              <a:t>It is also used to analyze medical images and manage energy production more efficiently.</a:t>
            </a:r>
          </a:p>
          <a:p>
            <a:r>
              <a:rPr lang="en-US"/>
              <a:t>These problems share a feature: people can describe what they want, but writing every decision rule in code is difficult.</a:t>
            </a:r>
          </a:p>
          <a:p>
            <a:r>
              <a:rPr lang="en-US"/>
              <a:t>That is why learning rules from data is useful.</a:t>
            </a:r>
          </a:p>
          <a:p>
            <a:r>
              <a:rPr lang="en-US"/>
              <a:t>However, being able to run an algorithm does not guarantee a good result.</a:t>
            </a:r>
          </a:p>
          <a:p>
            <a:r>
              <a:rPr lang="en-US"/>
              <a:t>We also need to know which data to use, what to treat as the correct answer, and what to check first when performance is poor.</a:t>
            </a:r>
          </a:p>
          <a:p>
            <a:r>
              <a:rPr lang="en-US"/>
              <a:t>This course will cover both the principles of the algorithms and ways to make them work in practice.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Having seen several applications, we will define machine learning more precisely.</a:t>
            </a:r>
          </a:p>
          <a:p>
            <a:r>
              <a:rPr lang="en-US"/>
              <a:t>The key question is whether a computer can improve its performance through experience, rather than whether it thinks like a person.</a:t>
            </a:r>
          </a:p>
          <a:p>
            <a:r>
              <a:rPr lang="en-US"/>
              <a:t>We will use a game to compare this with a program whose rules are all specified in advance.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An important part of Arthur Samuel's definition is that a program can learn without being told every action individually.</a:t>
            </a:r>
          </a:p>
          <a:p>
            <a:r>
              <a:rPr lang="en-US"/>
              <a:t>The example he studied was a program that played checkers.</a:t>
            </a:r>
          </a:p>
          <a:p>
            <a:r>
              <a:rPr lang="en-US"/>
              <a:t>Listing every possible board position and writing down the best move would require an enormous number of rules.</a:t>
            </a:r>
          </a:p>
          <a:p>
            <a:r>
              <a:rPr lang="en-US"/>
              <a:t>Instead, the program played many games and experienced which positions led to wins or losses.</a:t>
            </a:r>
          </a:p>
          <a:p>
            <a:r>
              <a:rPr lang="en-US"/>
              <a:t>It used that experience to improve its decisions and choose favorable positions more often.</a:t>
            </a:r>
          </a:p>
          <a:p>
            <a:r>
              <a:rPr lang="en-US"/>
              <a:t>A program created by a person does not have to make every choice less well than that person.</a:t>
            </a:r>
          </a:p>
          <a:p>
            <a:r>
              <a:rPr lang="en-US"/>
              <a:t>By experiencing more games, it may become better than its creator.</a:t>
            </a:r>
          </a:p>
          <a:p>
            <a:r>
              <a:rPr lang="en-US"/>
              <a:t>Learning here does not mean that the program magically invents its own rules.</a:t>
            </a:r>
          </a:p>
          <a:p>
            <a:r>
              <a:rPr lang="en-US"/>
              <a:t>People still design how experience is represented and how performance is improved.</a:t>
            </a:r>
          </a:p>
          <a:p>
            <a:r>
              <a:rPr lang="en-US"/>
              <a:t>The key is that, within that design, its decisions change according to the data.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xmlns:a="http://schemas.openxmlformats.org/drawingml/2006/main"/>
          <a:lstStyle xmlns:a="http://schemas.openxmlformats.org/drawingml/2006/main"/>
          <a:p>
            <a:r>
              <a:rPr lang="en-US"/>
              <a:t>W1 / Source page 8 / Experience and learning</a:t>
            </a:r>
          </a:p>
          <a:p>
            <a:r>
              <a:rPr lang="en-US"/>
              <a:t/>
            </a:r>
          </a:p>
          <a:p>
            <a:r>
              <a:rPr lang="en-US"/>
              <a:t>Here we compare a program that has played checkers ten times with one that has played many times. With other conditions similar, we can expect broader experience with varied situations to be an advantage. The blue underline highlights the comparison that performance may be worse with less experience.</a:t>
            </a:r>
          </a:p>
          <a:p>
            <a:r>
              <a:rPr lang="en-US"/>
              <a:t/>
            </a:r>
          </a:p>
          <a:p>
            <a:r>
              <a:rPr lang="en-US"/>
              <a:t>Think of practicing only one or two workbook questions versus practicing several types. However, repeatedly reading incorrect solutions would have limited benefit, and the content and quality of data matter alongside its quantity. Do not interpret this as a rule that more experience always makes performance better.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first look at a broad map of the methods we will encounter.</a:t>
            </a:r>
          </a:p>
          <a:p>
            <a:r>
              <a:rPr lang="en-US"/>
              <a:t>Supervised learning learns from inputs paired with correct answers.</a:t>
            </a:r>
          </a:p>
          <a:p>
            <a:r>
              <a:rPr lang="en-US"/>
              <a:t>Unsupervised learning looks for structure or patterns in data without an answer key.</a:t>
            </a:r>
          </a:p>
          <a:p>
            <a:r>
              <a:rPr lang="en-US"/>
              <a:t>Recommender systems and reinforcement learning are also important topics, but for now we will distinguish the first two.</a:t>
            </a:r>
          </a:p>
          <a:p>
            <a:r>
              <a:rPr lang="en-US"/>
              <a:t>You do not need to memorize all the algorithm names at once.</a:t>
            </a:r>
          </a:p>
          <a:p>
            <a:r>
              <a:rPr lang="en-US"/>
              <a:t>When you encounter a problem, start by asking whether correct answers are available and what you want to predict.</a:t>
            </a:r>
          </a:p>
          <a:p>
            <a:r>
              <a:rPr lang="en-US"/>
              <a:t>Knowing an algorithm and applying it well are also different abilities.</a:t>
            </a:r>
          </a:p>
          <a:p>
            <a:r>
              <a:rPr lang="en-US"/>
              <a:t>Owning a hammer and a drill does not immediately enable you to build a house.</a:t>
            </a:r>
          </a:p>
          <a:p>
            <a:r>
              <a:rPr lang="en-US"/>
              <a:t>You also need to learn how to choose a tool, check its result, and find the cause of a problem.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first look more closely at supervised learning.</a:t>
            </a:r>
          </a:p>
          <a:p>
            <a:r>
              <a:rPr lang="en-US"/>
              <a:t>Think of studying examples that include both questions and their correct answers.</a:t>
            </a:r>
          </a:p>
          <a:p>
            <a:r>
              <a:rPr lang="en-US"/>
              <a:t>We will begin by telling the computer which part is the question and which part is the answer.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write an input as x and its corresponding correct answer as y.</a:t>
            </a:r>
          </a:p>
          <a:p>
            <a:r>
              <a:rPr lang="en-US"/>
              <a:t>In email classification, x is the email and y indicates whether it is spam.</a:t>
            </a:r>
          </a:p>
          <a:p>
            <a:r>
              <a:rPr lang="en-US"/>
              <a:t>During training, we provide more than emails: we also identify which messages are spam and which are ordinary email.</a:t>
            </a:r>
          </a:p>
          <a:p>
            <a:r>
              <a:rPr lang="en-US"/>
              <a:t>The algorithm examines many pairs of x and y to find their relationship.</a:t>
            </a:r>
          </a:p>
          <a:p>
            <a:r>
              <a:rPr lang="en-US"/>
              <a:t>The name for this correct-answer information is a label.</a:t>
            </a:r>
          </a:p>
          <a:p>
            <a:r>
              <a:rPr lang="en-US"/>
              <a:t>An important point is that the information available during training differs from what is available when we use the model.</a:t>
            </a:r>
          </a:p>
          <a:p>
            <a:r>
              <a:rPr lang="en-US"/>
              <a:t>During training, it learns relationships by seeing the answers; in actual use, it does not know the answer for a new input.</a:t>
            </a:r>
          </a:p>
          <a:p>
            <a:r>
              <a:rPr lang="en-US"/>
              <a:t>Learning is useful only if the system can predict an appropriate y from an x it has not seen before.</a:t>
            </a:r>
          </a:p>
          <a:p>
            <a:r>
              <a:rPr lang="en-US"/>
              <a:t>Simply storing the answers to the examples would not solve new problems.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For each row of the table, first identify the input and its matching output.</a:t>
            </a:r>
          </a:p>
          <a:p>
            <a:r>
              <a:rPr lang="en-US"/>
              <a:t>Speech recognition takes sound as input and produces text representing that sound.</a:t>
            </a:r>
          </a:p>
          <a:p>
            <a:r>
              <a:rPr lang="en-US"/>
              <a:t>Translation takes a sentence in one language and produces a sentence in another.</a:t>
            </a:r>
          </a:p>
          <a:p>
            <a:r>
              <a:rPr lang="en-US"/>
              <a:t>In advertising, we can use an advertisement and information about a user to predict whether the user will click.</a:t>
            </a:r>
          </a:p>
          <a:p>
            <a:r>
              <a:rPr lang="en-US"/>
              <a:t>To understand a vehicle's surroundings, camera and sensor information can help estimate where other cars are.</a:t>
            </a:r>
          </a:p>
          <a:p>
            <a:r>
              <a:rPr lang="en-US"/>
              <a:t>In product inspection, the input is a product photograph and the output indicates whether a defect is present.</a:t>
            </a:r>
          </a:p>
          <a:p>
            <a:r>
              <a:rPr lang="en-US"/>
              <a:t>Neither the input nor the output has to be a single number.</a:t>
            </a:r>
          </a:p>
          <a:p>
            <a:r>
              <a:rPr lang="en-US"/>
              <a:t>They can take forms such as sentences, images, or positions, but eventually we represent them in a form the model can process.</a:t>
            </a:r>
          </a:p>
          <a:p>
            <a:r>
              <a:rPr lang="en-US"/>
              <a:t>Although these problems look different, they all learn relationships between inputs and outputs from examples with known answers.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Imagine that a friend is selling a house and asks how much they might receive.</a:t>
            </a:r>
          </a:p>
          <a:p>
            <a:r>
              <a:rPr lang="en-US"/>
              <a:t>The horizontal axis shows house size, and the vertical axis shows the actual sale price.</a:t>
            </a:r>
          </a:p>
          <a:p>
            <a:r>
              <a:rPr lang="en-US"/>
              <a:t>Prices are measured in thousands of dollars, so 200 on the vertical axis means $200,000.</a:t>
            </a:r>
          </a:p>
          <a:p>
            <a:r>
              <a:rPr lang="en-US"/>
              <a:t>Each point represents one house's size and sale price.</a:t>
            </a:r>
          </a:p>
          <a:p>
            <a:r>
              <a:rPr lang="en-US"/>
              <a:t>After fitting a straight line to these points, move upward from your friend's house size until you reach the line and read the predicted price.</a:t>
            </a:r>
          </a:p>
          <a:p>
            <a:r>
              <a:rPr lang="en-US"/>
              <a:t>However, fitting a curve to the same data could give a different price.</a:t>
            </a:r>
          </a:p>
          <a:p>
            <a:r>
              <a:rPr lang="en-US"/>
              <a:t>For the house of size 750 shown here, the straight line and the curve make different predictions.</a:t>
            </a:r>
          </a:p>
          <a:p>
            <a:r>
              <a:rPr lang="en-US"/>
              <a:t>We should choose a model that works well for new houses, rather than picking the higher price because it benefits our friend.</a:t>
            </a:r>
          </a:p>
          <a:p>
            <a:r>
              <a:rPr lang="en-US"/>
              <a:t>Predicting the magnitude of a numerical quantity, such as price or temperature, is called regression.</a:t>
            </a:r>
          </a:p>
          <a:p>
            <a:r>
              <a:rPr lang="en-US"/>
              <a:t>Later, we will define a cost function as a way to compare which model is better.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have just predicted a number: a price.</a:t>
            </a:r>
          </a:p>
          <a:p>
            <a:r>
              <a:rPr lang="en-US"/>
              <a:t>Now we will look at classification, which predicts which category something belongs to.</a:t>
            </a:r>
          </a:p>
          <a:p>
            <a:r>
              <a:rPr lang="en-US"/>
              <a:t>Watch how the nature of the answer we want changes, rather than focusing only on the model's input.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example classifies a tumor as benign or malignant from its size.</a:t>
            </a:r>
          </a:p>
          <a:p>
            <a:r>
              <a:rPr lang="en-US"/>
              <a:t>Here, benign tumors have the label 0 and malignant tumors have the label 1.</a:t>
            </a:r>
          </a:p>
          <a:p>
            <a:r>
              <a:rPr lang="en-US"/>
              <a:t>The horizontal axis shows tumor size, and the vertical axis has only the two values 0 and 1.</a:t>
            </a:r>
          </a:p>
          <a:p>
            <a:r>
              <a:rPr lang="en-US"/>
              <a:t>We want to predict one of two categories, rather than a continuous quantity such as a price.</a:t>
            </a:r>
          </a:p>
          <a:p>
            <a:r>
              <a:rPr lang="en-US"/>
              <a:t>The lower diagram places the same examples on one line and distinguishes their labels with circles and crosses.</a:t>
            </a:r>
          </a:p>
          <a:p>
            <a:r>
              <a:rPr lang="en-US"/>
              <a:t>The information previously shown by vertical position is now represented by the kind of symbol, so the data has the same meaning.</a:t>
            </a:r>
          </a:p>
          <a:p>
            <a:r>
              <a:rPr lang="en-US"/>
              <a:t>Given a new patient's tumor size, we can use the learned relationship to predict its category.</a:t>
            </a:r>
          </a:p>
          <a:p>
            <a:r>
              <a:rPr lang="en-US"/>
              <a:t>For understanding the concept, this example simplifies the input to size alone.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Classification does not always mean choosing between only two types.</a:t>
            </a:r>
          </a:p>
          <a:p>
            <a:r>
              <a:rPr lang="en-US"/>
              <a:t>We might distinguish three categories, such as benign, malignant type 1, and malignant type 2.</a:t>
            </a:r>
          </a:p>
          <a:p>
            <a:r>
              <a:rPr lang="en-US"/>
              <a:t>We could also classify objects in photographs as cats, dogs, cars, and other types.</a:t>
            </a:r>
          </a:p>
          <a:p>
            <a:r>
              <a:rPr lang="en-US"/>
              <a:t>Assigning numbers to categories gives them convenient names for computation.</a:t>
            </a:r>
          </a:p>
          <a:p>
            <a:r>
              <a:rPr lang="en-US"/>
              <a:t>Writing them as 0, 1, and 2 does not create an intermediate category called 1.5.</a:t>
            </a:r>
          </a:p>
          <a:p>
            <a:r>
              <a:rPr lang="en-US"/>
              <a:t>Therefore, the fact that a result is written as a number is not enough to call the problem regression.</a:t>
            </a:r>
          </a:p>
          <a:p>
            <a:r>
              <a:rPr lang="en-US"/>
              <a:t>Check whether the number represents the magnitude of a quantity or the name of a distinct category.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If tumor size alone does not distinguish the categories well, we can use other information too.</a:t>
            </a:r>
          </a:p>
          <a:p>
            <a:r>
              <a:rPr lang="en-US"/>
              <a:t>Here, age has been added as a second input.</a:t>
            </a:r>
          </a:p>
          <a:p>
            <a:r>
              <a:rPr lang="en-US"/>
              <a:t>Each point represents a patient, and its coordinates give that patient's tumor size and age.</a:t>
            </a:r>
          </a:p>
          <a:p>
            <a:r>
              <a:rPr lang="en-US"/>
              <a:t>Patients with the same tumor size but different ages appear at different positions on the graph.</a:t>
            </a:r>
          </a:p>
          <a:p>
            <a:r>
              <a:rPr lang="en-US"/>
              <a:t>The algorithm finds a boundary in the data that separates the circles from the crosses.</a:t>
            </a:r>
          </a:p>
          <a:p>
            <a:r>
              <a:rPr lang="en-US"/>
              <a:t>We can classify a new patient by plotting the two values and checking which side of the boundary they fall on.</a:t>
            </a:r>
          </a:p>
          <a:p>
            <a:r>
              <a:rPr lang="en-US"/>
              <a:t>Drawing two axes does not mean we can use at most two inputs.</a:t>
            </a:r>
          </a:p>
          <a:p>
            <a:r>
              <a:rPr lang="en-US"/>
              <a:t>With more inputs, the data becomes harder to draw, but the principle of computing with several pieces of information stays the same.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Both problems we have seen so far provide inputs and correct answers during training.</a:t>
            </a:r>
          </a:p>
          <a:p>
            <a:r>
              <a:rPr lang="en-US"/>
              <a:t>That shared property makes both of them supervised learning.</a:t>
            </a:r>
          </a:p>
          <a:p>
            <a:r>
              <a:rPr lang="en-US"/>
              <a:t>Predicting a numerical quantity, such as a house price, is regression.</a:t>
            </a:r>
          </a:p>
          <a:p>
            <a:r>
              <a:rPr lang="en-US"/>
              <a:t>Choosing a predefined category, such as benign or malignant, is classification.</a:t>
            </a:r>
          </a:p>
          <a:p>
            <a:r>
              <a:rPr lang="en-US"/>
              <a:t>For example, a photograph can be an input for regression if we predict age, or for classification if we predict whether it shows a person or an animal.</a:t>
            </a:r>
          </a:p>
          <a:p>
            <a:r>
              <a:rPr lang="en-US"/>
              <a:t>The distinction depends on what output we request, rather than what the input looks like.</a:t>
            </a:r>
          </a:p>
          <a:p>
            <a:r>
              <a:rPr lang="en-US"/>
              <a:t>Keeping this criterion in mind makes it easier to decide what kind of model a new problem needs.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we will move to a situation with inputs but no correct-answer labels.</a:t>
            </a:r>
          </a:p>
          <a:p>
            <a:r>
              <a:rPr lang="en-US"/>
              <a:t>Does having no answer key mean we cannot learn anything?</a:t>
            </a:r>
          </a:p>
          <a:p>
            <a:r>
              <a:rPr lang="en-US"/>
              <a:t>We can still find similarities and differences among the examples.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In the supervised-learning examples, each training example came with an answer to predict.</a:t>
            </a:r>
          </a:p>
          <a:p>
            <a:r>
              <a:rPr lang="en-US"/>
              <a:t>If we hide those answers and keep only the inputs, we have the situation we will study next.</a:t>
            </a:r>
          </a:p>
          <a:p>
            <a:r>
              <a:rPr lang="en-US"/>
              <a:t>Some inputs may be similar to one another, while others may be far from the rest.</a:t>
            </a:r>
          </a:p>
          <a:p>
            <a:r>
              <a:rPr lang="en-US"/>
              <a:t>Unsupervised learning analyzes those relationships to find structure.</a:t>
            </a:r>
          </a:p>
          <a:p>
            <a:r>
              <a:rPr lang="en-US"/>
              <a:t>It means there is no answer key, not that the computation has no criteria or human design.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On the left, the circles and crosses tell us which category each example belongs to.</a:t>
            </a:r>
          </a:p>
          <a:p>
            <a:r>
              <a:rPr lang="en-US"/>
              <a:t>On the right, we have only size and age, so we do not know whether an example is benign or malignant.</a:t>
            </a:r>
          </a:p>
          <a:p>
            <a:r>
              <a:rPr lang="en-US"/>
              <a:t>Even so, we can see that the points form several groups rather than spreading evenly across the space.</a:t>
            </a:r>
          </a:p>
          <a:p>
            <a:r>
              <a:rPr lang="en-US"/>
              <a:t>Grouping similar examples is called clustering.</a:t>
            </a:r>
          </a:p>
          <a:p>
            <a:r>
              <a:rPr lang="en-US"/>
              <a:t>Instead of a person specifying that a particular point must belong to the first group, the method uses relationships in the data to form groups.</a:t>
            </a:r>
          </a:p>
          <a:p>
            <a:r>
              <a:rPr lang="en-US"/>
              <a:t>We must separately interpret what the discovered groups mean.</a:t>
            </a:r>
          </a:p>
          <a:p>
            <a:r>
              <a:rPr lang="en-US"/>
              <a:t>Finding two groups does not immediately let us call one benign and the other malignant.</a:t>
            </a:r>
          </a:p>
          <a:p>
            <a:r>
              <a:rPr lang="en-US"/>
              <a:t>Discovering groups and predicting predefined disease labels are different tasks.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Several news organizations can report the same event with different headlines and wording.</a:t>
            </a:r>
          </a:p>
          <a:p>
            <a:r>
              <a:rPr lang="en-US"/>
              <a:t>Articles about a panda giving birth to twins might share words such as panda, zoo, and cubs.</a:t>
            </a:r>
          </a:p>
          <a:p>
            <a:r>
              <a:rPr lang="en-US"/>
              <a:t>Grouping articles with similar descriptions lets users see several reports of the same event together.</a:t>
            </a:r>
          </a:p>
          <a:p>
            <a:r>
              <a:rPr lang="en-US"/>
              <a:t>News topics change daily, so it is difficult for a person to define every topic in advance.</a:t>
            </a:r>
          </a:p>
          <a:p>
            <a:r>
              <a:rPr lang="en-US"/>
              <a:t>Clustering can use similarities among that day's incoming articles to discover groups.</a:t>
            </a:r>
          </a:p>
          <a:p>
            <a:r>
              <a:rPr lang="en-US"/>
              <a:t>In practice, we would not automatically decide that two articles cover the same story just because they share a word.</a:t>
            </a:r>
          </a:p>
          <a:p>
            <a:r>
              <a:rPr lang="en-US"/>
              <a:t>Other information and the similarity of their overall descriptions can also be considered.</a:t>
            </a:r>
          </a:p>
          <a:p>
            <a:r>
              <a:rPr lang="en-US"/>
              <a:t>The key here is that the groups are formed from relationships among examples without first providing a list of correct article groupings.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In this diagram, each column represents a person and each row represents a gene.</a:t>
            </a:r>
          </a:p>
          <a:p>
            <a:r>
              <a:rPr lang="en-US"/>
              <a:t>The color of each cell indicates how actively that gene is expressed.</a:t>
            </a:r>
          </a:p>
          <a:p>
            <a:r>
              <a:rPr lang="en-US"/>
              <a:t>Each person is represented by the activity pattern of many genes, rather than by just one or two numbers.</a:t>
            </a:r>
          </a:p>
          <a:p>
            <a:r>
              <a:rPr lang="en-US"/>
              <a:t>Grouping columns with similar color patterns can reveal groups of people with similar characteristics.</a:t>
            </a:r>
          </a:p>
          <a:p>
            <a:r>
              <a:rPr lang="en-US"/>
              <a:t>We have not defined type names in advance and asked the algorithm to predict them.</a:t>
            </a:r>
          </a:p>
          <a:p>
            <a:r>
              <a:rPr lang="en-US"/>
              <a:t>We are exploring whether the measurements contain repeated structure.</a:t>
            </a:r>
          </a:p>
          <a:p>
            <a:r>
              <a:rPr lang="en-US"/>
              <a:t>This illustrates how comparing collections of numbers can uncover useful patterns even when their meaning is initially unclear.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People taking the same AI course may have different goals.</a:t>
            </a:r>
          </a:p>
          <a:p>
            <a:r>
              <a:rPr lang="en-US"/>
              <a:t>Some want practical skills, while others are preparing for a career change or trying to understand recent technology.</a:t>
            </a:r>
          </a:p>
          <a:p>
            <a:r>
              <a:rPr lang="en-US"/>
              <a:t>Analyzing users' interests or behavior and grouping similar people can help us consider what resources each group needs.</a:t>
            </a:r>
          </a:p>
          <a:p>
            <a:r>
              <a:rPr lang="en-US"/>
              <a:t>For example, someone who wants to implement a model may need different resources from someone seeking an overview.</a:t>
            </a:r>
          </a:p>
          <a:p>
            <a:r>
              <a:rPr lang="en-US"/>
              <a:t>We can look for these groups in the patterns without first labeling every person's goal.</a:t>
            </a:r>
          </a:p>
          <a:p>
            <a:r>
              <a:rPr lang="en-US"/>
              <a:t>This does not mean that real people separate perfectly into a few fixed types.</a:t>
            </a:r>
          </a:p>
          <a:p>
            <a:r>
              <a:rPr lang="en-US"/>
              <a:t>A group is one way of representing data to help us understand it for a particular purpose.</a:t>
            </a:r>
          </a:p>
          <a:p>
            <a:r>
              <a:rPr lang="en-US"/>
              <a:t>For now, focus on the process of finding shared features and forming groups without an answer key.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have examined clustering as an example of unsupervised learning.</a:t>
            </a:r>
          </a:p>
          <a:p>
            <a:r>
              <a:rPr lang="en-US"/>
              <a:t>But grouping is not the only thing we can do with data that has no answer key.</a:t>
            </a:r>
          </a:p>
          <a:p>
            <a:r>
              <a:rPr lang="en-US"/>
              <a:t>We will look at two other common purposes as well.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Clustering collects similar examples into groups.</a:t>
            </a:r>
          </a:p>
          <a:p>
            <a:r>
              <a:rPr lang="en-US"/>
              <a:t>Anomaly detection looks for examples that are unusually different from others.</a:t>
            </a:r>
          </a:p>
          <a:p>
            <a:r>
              <a:rPr lang="en-US"/>
              <a:t>For example, it can identify an unusual payment pattern for additional review.</a:t>
            </a:r>
          </a:p>
          <a:p>
            <a:r>
              <a:rPr lang="en-US"/>
              <a:t>An unusual event is not necessarily wrong, but identifying it helps us decide where to investigate.</a:t>
            </a:r>
          </a:p>
          <a:p>
            <a:r>
              <a:rPr lang="en-US"/>
              <a:t>Dimensionality reduction reduces the number of values used to represent data.</a:t>
            </a:r>
          </a:p>
          <a:p>
            <a:r>
              <a:rPr lang="en-US"/>
              <a:t>It expresses many measurements using fewer numbers while trying to preserve important structure.</a:t>
            </a:r>
          </a:p>
          <a:p>
            <a:r>
              <a:rPr lang="en-US"/>
              <a:t>Think of compressing a photograph into a shorter description that retains information useful for computation or visualization.</a:t>
            </a:r>
          </a:p>
          <a:p>
            <a:r>
              <a:rPr lang="en-US"/>
              <a:t>These methods have distinct purposes: finding groups, finding unusual examples, and reducing a representation; they are not grouped merely because their names sound similar.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For each example, first check whether correct answers are provided along with the inputs.</a:t>
            </a:r>
          </a:p>
          <a:p>
            <a:r>
              <a:rPr lang="en-US"/>
              <a:t>The first example learns from emails already marked as spam or ordinary email, so it is supervised learning.</a:t>
            </a:r>
          </a:p>
          <a:p>
            <a:r>
              <a:rPr lang="en-US"/>
              <a:t>The second provides articles and asks the system to group reports of the same event, so it is unsupervised learning.</a:t>
            </a:r>
          </a:p>
          <a:p>
            <a:r>
              <a:rPr lang="en-US"/>
              <a:t>The third also asks the system to discover customer groups, so it is unsupervised learning.</a:t>
            </a:r>
          </a:p>
          <a:p>
            <a:r>
              <a:rPr lang="en-US"/>
              <a:t>The last provides diabetes diagnoses as correct answers, so it is supervised learning.</a:t>
            </a:r>
          </a:p>
          <a:p>
            <a:r>
              <a:rPr lang="en-US"/>
              <a:t>The answers to this question are therefore the second and third examples.</a:t>
            </a:r>
          </a:p>
          <a:p>
            <a:r>
              <a:rPr lang="en-US"/>
              <a:t>Even with the same email or patient data, the approach can change depending on what information we provide and what we ask the system to do.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xmlns:a="http://schemas.openxmlformats.org/drawingml/2006/main"/>
          <a:lstStyle xmlns:a="http://schemas.openxmlformats.org/drawingml/2006/main"/>
          <a:p>
            <a:r>
              <a:rPr lang="en-US"/>
              <a:t>W1 / Source page 28 / Notebooks for practice</a:t>
            </a:r>
          </a:p>
          <a:p>
            <a:r>
              <a:rPr lang="en-US"/>
              <a:t/>
            </a:r>
          </a:p>
          <a:p>
            <a:r>
              <a:rPr lang="en-US"/>
              <a:t>We use a tool called a Jupyter notebook for the practical exercises. It is a workspace that combines explanatory text, executable code, and results in one document. Think of a mathematics notebook with a calculator attached.</a:t>
            </a:r>
          </a:p>
          <a:p>
            <a:r>
              <a:rPr lang="en-US"/>
              <a:t/>
            </a:r>
          </a:p>
          <a:p>
            <a:r>
              <a:rPr lang="en-US"/>
              <a:t>Code runs in small blocks called cells. A later cell can use values created by an earlier cell, so develop the habit of running them from top to bottom at first. Today, focus on connecting the inputs a piece of code receives with the results it calculates, rather than on the tool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we will move from broad categories to the first model we will actually calculate.</a:t>
            </a:r>
          </a:p>
          <a:p>
            <a:r>
              <a:rPr lang="en-US"/>
              <a:t>Linear regression represents the relationship between an input and an output with a straight line.</a:t>
            </a:r>
          </a:p>
          <a:p>
            <a:r>
              <a:rPr lang="en-US"/>
              <a:t>It is a simple model, but it is useful for learning the difference between prediction and training, and how to reduce error.</a:t>
            </a:r>
          </a:p>
          <a:p>
            <a:r>
              <a:rPr lang="en-US"/>
              <a:t>We will keep using these principles when we build much more complex models later.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Imagine that you are helping a client who wants to sell a house.</a:t>
            </a:r>
          </a:p>
          <a:p>
            <a:r>
              <a:rPr lang="en-US"/>
              <a:t>Collecting house sizes and prices from past transactions gives the red points on the screen.</a:t>
            </a:r>
          </a:p>
          <a:p>
            <a:r>
              <a:rPr lang="en-US"/>
              <a:t>Find a house's size on the horizontal axis and read its sale price on the vertical axis.</a:t>
            </a:r>
          </a:p>
          <a:p>
            <a:r>
              <a:rPr lang="en-US"/>
              <a:t>For a house that has not yet sold, we do not know the price, so we must estimate it from the pattern in earlier examples.</a:t>
            </a:r>
          </a:p>
          <a:p>
            <a:r>
              <a:rPr lang="en-US"/>
              <a:t>After fitting a straight line, the height of the line at size 1,250 gives a prediction of about $220,000.</a:t>
            </a:r>
          </a:p>
          <a:p>
            <a:r>
              <a:rPr lang="en-US"/>
              <a:t>This is the current model's prediction, rather than the actual sale price itself.</a:t>
            </a:r>
          </a:p>
          <a:p>
            <a:r>
              <a:rPr lang="en-US"/>
              <a:t>Different data or a different line could produce a different prediction.</a:t>
            </a:r>
          </a:p>
          <a:p>
            <a:r>
              <a:rPr lang="en-US"/>
              <a:t>Because actual sale prices were used as correct answers during training, this is supervised learning.</a:t>
            </a:r>
          </a:p>
          <a:p>
            <a:r>
              <a:rPr lang="en-US"/>
              <a:t>Because the output is a numerical price, it is specifically regression.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look at the same data as a graph and a table side by side.</a:t>
            </a:r>
          </a:p>
          <a:p>
            <a:r>
              <a:rPr lang="en-US"/>
              <a:t>The first row on the right describes a house with size 2,104 and price 400.</a:t>
            </a:r>
          </a:p>
          <a:p>
            <a:r>
              <a:rPr lang="en-US"/>
              <a:t>Finding the point at horizontal coordinate 2,104 and vertical coordinate 400 on the left identifies the same house.</a:t>
            </a:r>
          </a:p>
          <a:p>
            <a:r>
              <a:rPr lang="en-US"/>
              <a:t>Prices are in thousands of dollars, so 400 means $400,000.</a:t>
            </a:r>
          </a:p>
          <a:p>
            <a:r>
              <a:rPr lang="en-US"/>
              <a:t>If the table contains 47 rows, the graph also contains 47 transaction examples.</a:t>
            </a:r>
          </a:p>
          <a:p>
            <a:r>
              <a:rPr lang="en-US"/>
              <a:t>A table helps us check exact values, while a graph helps us see the overall trend and unusual examples.</a:t>
            </a:r>
          </a:p>
          <a:p>
            <a:r>
              <a:rPr lang="en-US"/>
              <a:t>When the computer performs calculations, it mainly works with values in this table-like form.</a:t>
            </a:r>
          </a:p>
          <a:p>
            <a:r>
              <a:rPr lang="en-US"/>
              <a:t>We will also draw those values to understand what the calculations mean.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collection of examples a model uses to learn is called the training set.</a:t>
            </a:r>
          </a:p>
          <a:p>
            <a:r>
              <a:rPr lang="en-US"/>
              <a:t>The input x is a feature, and the value y that we want to predict is the target.</a:t>
            </a:r>
          </a:p>
          <a:p>
            <a:r>
              <a:rPr lang="en-US"/>
              <a:t>In this table, x is house size and y is sale price.</a:t>
            </a:r>
          </a:p>
          <a:p>
            <a:r>
              <a:rPr lang="en-US"/>
              <a:t>The symbol m represents the number of examples, so here it is 47.</a:t>
            </a:r>
          </a:p>
          <a:p>
            <a:r>
              <a:rPr lang="en-US"/>
              <a:t>One example is written as the pair (x,y).</a:t>
            </a:r>
          </a:p>
          <a:p>
            <a:r>
              <a:rPr lang="en-US"/>
              <a:t>To distinguish which example we mean, we add a parenthesized superscript i.</a:t>
            </a:r>
          </a:p>
          <a:p>
            <a:r>
              <a:rPr lang="en-US"/>
              <a:t>The input x⁽²⁾ comes from the second row and is 1,416, while y⁽²⁾ is the price 232 in that same row.</a:t>
            </a:r>
          </a:p>
          <a:p>
            <a:r>
              <a:rPr lang="en-US"/>
              <a:t>Here, (2) is a row number rather than an exponent.</a:t>
            </a:r>
          </a:p>
          <a:p>
            <a:r>
              <a:rPr lang="en-US"/>
              <a:t>Check the parentheses so that you do not confuse x² with x⁽²⁾.</a:t>
            </a:r>
          </a:p>
          <a:p>
            <a:r>
              <a:rPr lang="en-US"/>
              <a:t>Although the notation may look unfamiliar, it is simply a convention for pointing precisely to a particular value in the table.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that we know what training data is, we will look at what training produces.</a:t>
            </a:r>
          </a:p>
          <a:p>
            <a:r>
              <a:rPr lang="en-US"/>
              <a:t>Providing data does not simply produce more data: it produces a model that can answer new inputs.</a:t>
            </a:r>
          </a:p>
          <a:p>
            <a:r>
              <a:rPr lang="en-US"/>
              <a:t>We will represent that model by a function 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training set at the top contains both inputs and correct answers.</a:t>
            </a:r>
          </a:p>
          <a:p>
            <a:r>
              <a:rPr lang="en-US"/>
              <a:t>The learning algorithm uses those examples to adjust the relationship between inputs and outputs, producing a model f.</a:t>
            </a:r>
          </a:p>
          <a:p>
            <a:r>
              <a:rPr lang="en-US"/>
              <a:t>At the bottom, we give the model only the size x of a new house.</a:t>
            </a:r>
          </a:p>
          <a:p>
            <a:r>
              <a:rPr lang="en-US"/>
              <a:t>The predicted price it returns is written ŷ and read as y hat.</a:t>
            </a:r>
          </a:p>
          <a:p>
            <a:r>
              <a:rPr lang="en-US"/>
              <a:t>The value y is the actual answer and ŷ is the model's estimate, so they may agree or differ.</a:t>
            </a:r>
          </a:p>
          <a:p>
            <a:r>
              <a:rPr lang="en-US"/>
              <a:t>For now, we will write the model as f(x)=wx+b.</a:t>
            </a:r>
          </a:p>
          <a:p>
            <a:r>
              <a:rPr lang="en-US"/>
              <a:t>Once we choose an x, we can substitute it into this expression to calculate a prediction.</a:t>
            </a:r>
          </a:p>
          <a:p>
            <a:r>
              <a:rPr lang="en-US"/>
              <a:t>Changing w and b changes the line and therefore changes the prediction for the same house.</a:t>
            </a:r>
          </a:p>
          <a:p>
            <a:r>
              <a:rPr lang="en-US"/>
              <a:t>Training is the process of finding these two values so the model fits the data well.</a:t>
            </a:r>
          </a:p>
          <a:p>
            <a:r>
              <a:rPr lang="en-US"/>
              <a:t>The w,b written below f identify which parameters the function uses; omitting them still refers to the same model.</a:t>
            </a:r>
          </a:p>
          <a:p>
            <a:r>
              <a:rPr lang="en-US"/>
              <a:t>Because this model uses one input, house size, it is also called univariate linear regression.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can now construct a line, but we have not yet decided which line to choose.</a:t>
            </a:r>
          </a:p>
          <a:p>
            <a:r>
              <a:rPr lang="en-US"/>
              <a:t>We need to turn the judgment that a line looks reasonable into a number a computer can use.</a:t>
            </a:r>
          </a:p>
          <a:p>
            <a:r>
              <a:rPr lang="en-US"/>
              <a:t>A cost function evaluates how well a model fits the data.</a:t>
            </a:r>
          </a:p>
          <a:p>
            <a:r>
              <a:rPr lang="en-US"/>
              <a:t>From here on, we will adjust the model in a direction that lowers this score.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x and y values in the table are the data we observed.</a:t>
            </a:r>
          </a:p>
          <a:p>
            <a:r>
              <a:rPr lang="en-US"/>
              <a:t>By contrast, w and b in the equation are values the model can adjust during training.</a:t>
            </a:r>
          </a:p>
          <a:p>
            <a:r>
              <a:rPr lang="en-US"/>
              <a:t>These adjustable values are called parameters.</a:t>
            </a:r>
          </a:p>
          <a:p>
            <a:r>
              <a:rPr lang="en-US"/>
              <a:t>Even for the same house size, different values of w and b produce different predicted prices.</a:t>
            </a:r>
          </a:p>
          <a:p>
            <a:r>
              <a:rPr lang="en-US"/>
              <a:t>Think of them as two controls for adjusting the line.</a:t>
            </a:r>
          </a:p>
          <a:p>
            <a:r>
              <a:rPr lang="en-US"/>
              <a:t>One tilts the line, and the other changes the height of the entire line.</a:t>
            </a:r>
          </a:p>
          <a:p>
            <a:r>
              <a:rPr lang="en-US"/>
              <a:t>During training, we do not alter the actual sale prices y to fit the model.</a:t>
            </a:r>
          </a:p>
          <a:p>
            <a:r>
              <a:rPr lang="en-US"/>
              <a:t>We change the parameters to bring predictions closer to the given data.</a:t>
            </a:r>
          </a:p>
          <a:p>
            <a:r>
              <a:rPr lang="en-US"/>
              <a:t>The next diagram shows exactly what each of these two values does.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On the left, w=0 and b=1.5, so f(x)=0×x+1.5.</a:t>
            </a:r>
          </a:p>
          <a:p>
            <a:r>
              <a:rPr lang="en-US"/>
              <a:t>Whether x is 0 or 2, the prediction is always 1.5, giving a horizontal line.</a:t>
            </a:r>
          </a:p>
          <a:p>
            <a:r>
              <a:rPr lang="en-US"/>
              <a:t>In the middle, w=0.5 and b=0, so f(x)=0.5x.</a:t>
            </a:r>
          </a:p>
          <a:p>
            <a:r>
              <a:rPr lang="en-US"/>
              <a:t>It predicts 0 at x=0 and 1 at x=2.</a:t>
            </a:r>
          </a:p>
          <a:p>
            <a:r>
              <a:rPr lang="en-US"/>
              <a:t>The prediction increases by 0.5 whenever x increases by 1, so the slope is 0.5.</a:t>
            </a:r>
          </a:p>
          <a:p>
            <a:r>
              <a:rPr lang="en-US"/>
              <a:t>The right-hand model adds b=1 while keeping the same w as the middle model.</a:t>
            </a:r>
          </a:p>
          <a:p>
            <a:r>
              <a:rPr lang="en-US"/>
              <a:t>Every prediction is therefore 1 larger, and the entire line moves upward by 1.</a:t>
            </a:r>
          </a:p>
          <a:p>
            <a:r>
              <a:rPr lang="en-US"/>
              <a:t>Since f(0)=b, the value b gives the point where the line meets the vertical axis.</a:t>
            </a:r>
          </a:p>
          <a:p>
            <a:r>
              <a:rPr lang="en-US"/>
              <a:t>Adjusting the slope w and the height b separately lets us construct many different lines.</a:t>
            </a:r>
          </a:p>
          <a:p>
            <a:r>
              <a:rPr lang="en-US"/>
              <a:t>Next, we will evaluate which of those lines fits the data better.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red points show actual values y, while a value on the blue line at the same x is the prediction ŷ.</a:t>
            </a:r>
          </a:p>
          <a:p>
            <a:r>
              <a:rPr lang="en-US"/>
              <a:t>First, subtract the actual value from the prediction to calculate the error ŷ−y.</a:t>
            </a:r>
          </a:p>
          <a:p>
            <a:r>
              <a:rPr lang="en-US"/>
              <a:t>It is positive when the line lies above the point and negative when the line lies below it.</a:t>
            </a:r>
          </a:p>
          <a:p>
            <a:r>
              <a:rPr lang="en-US"/>
              <a:t>This difference is the vertical gap in the diagram, not the shortest diagonal distance from a point to the line.</a:t>
            </a:r>
          </a:p>
          <a:p>
            <a:r>
              <a:rPr lang="en-US"/>
              <a:t>Adding raw errors could allow a prediction that is 2 too high to cancel a prediction that is 2 too low.</a:t>
            </a:r>
          </a:p>
          <a:p>
            <a:r>
              <a:rPr lang="en-US"/>
              <a:t>We therefore square each error before adding them.</a:t>
            </a:r>
          </a:p>
          <a:p>
            <a:r>
              <a:rPr lang="en-US"/>
              <a:t>Squaring removes the sign and gives a larger penalty to examples with larger mistakes.</a:t>
            </a:r>
          </a:p>
          <a:p>
            <a:r>
              <a:rPr lang="en-US"/>
              <a:t>The Σ from i=1 to m means to perform the same calculation for every example and collect the results.</a:t>
            </a:r>
          </a:p>
          <a:p>
            <a:r>
              <a:rPr lang="en-US"/>
              <a:t>Dividing by m gives MSE, the mean of the squared errors.</a:t>
            </a:r>
          </a:p>
          <a:p>
            <a:r>
              <a:rPr lang="en-US"/>
              <a:t>This course's cost J(w,b) multiplies that by 1/2, so it is precisely half the MSE.</a:t>
            </a:r>
          </a:p>
          <a:p>
            <a:r>
              <a:rPr lang="en-US"/>
              <a:t>For example, if two examples have errors of 1 and −1, the MSE is 1 and J is 0.5.</a:t>
            </a:r>
          </a:p>
          <a:p>
            <a:r>
              <a:rPr lang="en-US"/>
              <a:t>The factor 1/2 simplifies the derivative later, without changing which w and b are best.</a:t>
            </a:r>
          </a:p>
          <a:p>
            <a:r>
              <a:rPr lang="en-US"/>
              <a:t>We can now calculate one score for the entire dataset whenever we choose a line.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have read the cost formula, but how its number relates to the model's shape may still feel unfamiliar.</a:t>
            </a:r>
          </a:p>
          <a:p>
            <a:r>
              <a:rPr lang="en-US"/>
              <a:t>We will connect the two by substituting values into a small dataset ourselves.</a:t>
            </a:r>
          </a:p>
          <a:p>
            <a:r>
              <a:rPr lang="en-US"/>
              <a:t>On one side, we will look at the prediction line; on the other, we will look at the score evaluating that line.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left-hand expression is the original model f(x)=wx+b, where both w and b can change.</a:t>
            </a:r>
          </a:p>
          <a:p>
            <a:r>
              <a:rPr lang="en-US"/>
              <a:t>On the right, we fix b at 0 to simplify the diagram.</a:t>
            </a:r>
          </a:p>
          <a:p>
            <a:r>
              <a:rPr lang="en-US"/>
              <a:t>The model becomes f(x)=wx, leaving only w to adjust.</a:t>
            </a:r>
          </a:p>
          <a:p>
            <a:r>
              <a:rPr lang="en-US"/>
              <a:t>Substituting x=0 always gives 0, so all these lines pass through the origin.</a:t>
            </a:r>
          </a:p>
          <a:p>
            <a:r>
              <a:rPr lang="en-US"/>
              <a:t>Changing w now changes only the slope of the line.</a:t>
            </a:r>
          </a:p>
          <a:p>
            <a:r>
              <a:rPr lang="en-US"/>
              <a:t>Recalculating the errors on the same data gives the J(w) corresponding to that w.</a:t>
            </a:r>
          </a:p>
          <a:p>
            <a:r>
              <a:rPr lang="en-US"/>
              <a:t>The w written below minimize indicates which value we will change to reduce the cost.</a:t>
            </a:r>
          </a:p>
          <a:p>
            <a:r>
              <a:rPr lang="en-US"/>
              <a:t>It means we will keep x and y fixed as the evaluation data and change only w.</a:t>
            </a:r>
          </a:p>
          <a:p>
            <a:r>
              <a:rPr lang="en-US"/>
              <a:t>Returning to the original problem, we adjust both parameters together, so both w and b appear below minimize.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To make the arithmetic simple, we have chosen three examples: (1,1), (2,2), and (3,3).</a:t>
            </a:r>
          </a:p>
          <a:p>
            <a:r>
              <a:rPr lang="en-US"/>
              <a:t>First, choosing w=1 gives the model f(x)=x.</a:t>
            </a:r>
          </a:p>
          <a:p>
            <a:r>
              <a:rPr lang="en-US"/>
              <a:t>For the first example, x=1 gives a prediction of 1 and the actual value is also 1, so the error is 0.</a:t>
            </a:r>
          </a:p>
          <a:p>
            <a:r>
              <a:rPr lang="en-US"/>
              <a:t>The remaining two examples are also predicted exactly as 2 and 3.</a:t>
            </a:r>
          </a:p>
          <a:p>
            <a:r>
              <a:rPr lang="en-US"/>
              <a:t>Therefore J(1)=(0²+0²+0²)/(2×3)=0.</a:t>
            </a:r>
          </a:p>
          <a:p>
            <a:r>
              <a:rPr lang="en-US"/>
              <a:t>Now we will transfer this result to the graph on the right.</a:t>
            </a:r>
          </a:p>
          <a:p>
            <a:r>
              <a:rPr lang="en-US"/>
              <a:t>Its horizontal axis is the selected parameter w rather than x, and its vertical axis is cost rather than price.</a:t>
            </a:r>
          </a:p>
          <a:p>
            <a:r>
              <a:rPr lang="en-US"/>
              <a:t>We therefore plot one point at horizontal coordinate 1 and vertical coordinate 0.</a:t>
            </a:r>
          </a:p>
          <a:p>
            <a:r>
              <a:rPr lang="en-US"/>
              <a:t>The line on the left has predictions for many x values, but evaluating that entire line produces one score.</a:t>
            </a:r>
          </a:p>
          <a:p>
            <a:r>
              <a:rPr lang="en-US"/>
              <a:t>The key idea on this slide is that one prediction line corresponds to one point on the cost graph.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time, w has changed to 0.5.</a:t>
            </a:r>
          </a:p>
          <a:p>
            <a:r>
              <a:rPr lang="en-US"/>
              <a:t>The data stays the same; only the model changes to f(x)=0.5x.</a:t>
            </a:r>
          </a:p>
          <a:p>
            <a:r>
              <a:rPr lang="en-US"/>
              <a:t>At x=1, the prediction is 0.5, so the error is 0.5−1=−0.5.</a:t>
            </a:r>
          </a:p>
          <a:p>
            <a:r>
              <a:rPr lang="en-US"/>
              <a:t>At x=2 the error is 1−2=−1, and at x=3 it is 1.5−3=−1.5.</a:t>
            </a:r>
          </a:p>
          <a:p>
            <a:r>
              <a:rPr lang="en-US"/>
              <a:t>The vertical segments in the diagram show the sizes of these differences.</a:t>
            </a:r>
          </a:p>
          <a:p>
            <a:r>
              <a:rPr lang="en-US"/>
              <a:t>Squaring them gives 0.25, 1, and 2.25, whose sum is 3.5.</a:t>
            </a:r>
          </a:p>
          <a:p>
            <a:r>
              <a:rPr lang="en-US"/>
              <a:t>Because there are three examples, we divide by 2m=6 to get J(0.5)=3.5/6, or about 0.58.</a:t>
            </a:r>
          </a:p>
          <a:p>
            <a:r>
              <a:rPr lang="en-US"/>
              <a:t>We plot (0.5,0.58) on the right.</a:t>
            </a:r>
          </a:p>
          <a:p>
            <a:r>
              <a:rPr lang="en-US"/>
              <a:t>The horizontal coordinate 0.5 represents the line's slope, not the size of a house.</a:t>
            </a:r>
          </a:p>
          <a:p>
            <a:r>
              <a:rPr lang="en-US"/>
              <a:t>Because the predictions are worse overall than at w=1, this point lies higher on the cost graph.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When w=0, the model always predicts 0 regardless of the input.</a:t>
            </a:r>
          </a:p>
          <a:p>
            <a:r>
              <a:rPr lang="en-US"/>
              <a:t>The errors are therefore −1, −2, and −3, whose squares are 1, 4, and 9.</a:t>
            </a:r>
          </a:p>
          <a:p>
            <a:r>
              <a:rPr lang="en-US"/>
              <a:t>Since J(0)=14/6, the cost is about 2.33.</a:t>
            </a:r>
          </a:p>
          <a:p>
            <a:r>
              <a:rPr lang="en-US"/>
              <a:t>On the right-hand graph, find the point at horizontal coordinate 0 and vertical coordinate 2.33.</a:t>
            </a:r>
          </a:p>
          <a:p>
            <a:r>
              <a:rPr lang="en-US"/>
              <a:t>Changing w to −0.5 gives predictions of −0.5, −1, and −1.5, which are farther from the actual values.</a:t>
            </a:r>
          </a:p>
          <a:p>
            <a:r>
              <a:rPr lang="en-US"/>
              <a:t>In that case, J increases to 5.25.</a:t>
            </a:r>
          </a:p>
          <a:p>
            <a:r>
              <a:rPr lang="en-US"/>
              <a:t>Conversely, choosing w close to 1 brings the line closer to the three examples and lowers the cost.</a:t>
            </a:r>
          </a:p>
          <a:p>
            <a:r>
              <a:rPr lang="en-US"/>
              <a:t>Repeating the calculation for different values of w and collecting the points produces the U-shaped curve on the right.</a:t>
            </a:r>
          </a:p>
          <a:p>
            <a:r>
              <a:rPr lang="en-US"/>
              <a:t>The prediction model can be a straight line while the function evaluating that line is curved.</a:t>
            </a:r>
          </a:p>
          <a:p>
            <a:r>
              <a:rPr lang="en-US"/>
              <a:t>That is because the two diagrams answer different questions.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can now read the choice of a good w from the right-hand graph.</a:t>
            </a:r>
          </a:p>
          <a:p>
            <a:r>
              <a:rPr lang="en-US"/>
              <a:t>The lowest point is at w=1, where the cost is 0.</a:t>
            </a:r>
          </a:p>
          <a:p>
            <a:r>
              <a:rPr lang="en-US"/>
              <a:t>For this dataset, a line passes through all three points exactly, so a cost of 0 is possible.</a:t>
            </a:r>
          </a:p>
          <a:p>
            <a:r>
              <a:rPr lang="en-US"/>
              <a:t>In real data, all points may not lie on a single line, so the minimum cost may be greater than 0.</a:t>
            </a:r>
          </a:p>
          <a:p>
            <a:r>
              <a:rPr lang="en-US"/>
              <a:t>The expression minimize_w J(w) asks us to find the smallest achievable cost, rather than requiring us to make it 0.</a:t>
            </a:r>
          </a:p>
          <a:p>
            <a:r>
              <a:rPr lang="en-US"/>
              <a:t>If b can also change, we compare combinations of slope and height.</a:t>
            </a:r>
          </a:p>
          <a:p>
            <a:r>
              <a:rPr lang="en-US"/>
              <a:t>We write that objective as minimize_{w,b} J(w,b).</a:t>
            </a:r>
          </a:p>
          <a:p>
            <a:r>
              <a:rPr lang="en-US"/>
              <a:t>The problem of finding good parameters is now defined numerically.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When only w could change, one horizontal axis could represent all candidates.</a:t>
            </a:r>
          </a:p>
          <a:p>
            <a:r>
              <a:rPr lang="en-US"/>
              <a:t>Now we will remove the restriction that fixed b at 0 and return to the original model.</a:t>
            </a:r>
          </a:p>
          <a:p>
            <a:r>
              <a:rPr lang="en-US"/>
              <a:t>Changing both the slope and height of the line also requires more axes for drawing the cost.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Connect the model, parameters, cost, and objective in order.</a:t>
            </a:r>
          </a:p>
          <a:p>
            <a:r>
              <a:rPr lang="en-US"/>
              <a:t>The model f(x)=wx+b calculates a prediction from an input.</a:t>
            </a:r>
          </a:p>
          <a:p>
            <a:r>
              <a:rPr lang="en-US"/>
              <a:t>The values w and b are the quantities we can change.</a:t>
            </a:r>
          </a:p>
          <a:p>
            <a:r>
              <a:rPr lang="en-US"/>
              <a:t>The cost J(w,b) evaluates how far those predictions are from the actual data.</a:t>
            </a:r>
          </a:p>
          <a:p>
            <a:r>
              <a:rPr lang="en-US"/>
              <a:t>The objective is to find the combination of w and b with the smallest cost.</a:t>
            </a:r>
          </a:p>
          <a:p>
            <a:r>
              <a:rPr lang="en-US"/>
              <a:t>For example, increasing b while keeping the slope fixed raises every prediction together.</a:t>
            </a:r>
          </a:p>
          <a:p>
            <a:r>
              <a:rPr lang="en-US"/>
              <a:t>We decide whether that change is helpful by checking whether the gaps from the actual values shrink overall.</a:t>
            </a:r>
          </a:p>
          <a:p>
            <a:r>
              <a:rPr lang="en-US"/>
              <a:t>Changing a parameter and reducing the cost therefore do not mean the same thing.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left-hand model has w=0.06 and b=50, giving f(x)=0.06x+50.</a:t>
            </a:r>
          </a:p>
          <a:p>
            <a:r>
              <a:rPr lang="en-US"/>
              <a:t>For a house size of 1000, it predicts 110, or $110,000.</a:t>
            </a:r>
          </a:p>
          <a:p>
            <a:r>
              <a:rPr lang="en-US"/>
              <a:t>Compared with the actual points, it predicts most prices too low.</a:t>
            </a:r>
          </a:p>
          <a:p>
            <a:r>
              <a:rPr lang="en-US"/>
              <a:t>Calculating all the errors for this line gives one score, J(0.06,50).</a:t>
            </a:r>
          </a:p>
          <a:p>
            <a:r>
              <a:rPr lang="en-US"/>
              <a:t>Previously, choosing w alone was enough; now both w and b must be specified to determine a score.</a:t>
            </a:r>
          </a:p>
          <a:p>
            <a:r>
              <a:rPr lang="en-US"/>
              <a:t>The function f on the left takes house size x as input, while J on the right takes the model's parameters as input.</a:t>
            </a:r>
          </a:p>
          <a:p>
            <a:r>
              <a:rPr lang="en-US"/>
              <a:t>Although both are functions, what goes into them and what comes out are different.</a:t>
            </a:r>
          </a:p>
          <a:p>
            <a:r>
              <a:rPr lang="en-US"/>
              <a:t>Representing every combination of two parameters requires positions on a plane, with cost shown as height above that plane.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One axis on the floor represents w, and the other represents b.</a:t>
            </a:r>
          </a:p>
          <a:p>
            <a:r>
              <a:rPr lang="en-US"/>
              <a:t>Choosing one position on that floor is equivalent to choosing one pair of parameters.</a:t>
            </a:r>
          </a:p>
          <a:p>
            <a:r>
              <a:rPr lang="en-US"/>
              <a:t>Moving upward from that position until we meet the surface gives the height J(w,b).</a:t>
            </a:r>
          </a:p>
          <a:p>
            <a:r>
              <a:rPr lang="en-US"/>
              <a:t>The displayed w=−10 and b=−15 are simply one example of such a combination.</a:t>
            </a:r>
          </a:p>
          <a:p>
            <a:r>
              <a:rPr lang="en-US"/>
              <a:t>The surface dips toward the middle like a bowl or a hammock.</a:t>
            </a:r>
          </a:p>
          <a:p>
            <a:r>
              <a:rPr lang="en-US"/>
              <a:t>High positions represent models that fit the data poorly, while low positions represent better fits.</a:t>
            </a:r>
          </a:p>
          <a:p>
            <a:r>
              <a:rPr lang="en-US"/>
              <a:t>Training aims to move the floor coordinates to find low parts of this surface.</a:t>
            </a:r>
          </a:p>
          <a:p>
            <a:r>
              <a:rPr lang="en-US"/>
              <a:t>Moving downward here means lowering the cost, rather than always lowering predicted house prices.</a:t>
            </a:r>
          </a:p>
          <a:p>
            <a:r>
              <a:rPr lang="en-US"/>
              <a:t>Also distinguish the slope of the prediction model from the slope of the cost surface.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 3D surface helps us understand the overall landscape.</a:t>
            </a:r>
          </a:p>
          <a:p>
            <a:r>
              <a:rPr lang="en-US"/>
              <a:t>However, some areas can be hidden behind others, and comparing several positions precisely can be awkward.</a:t>
            </a:r>
          </a:p>
          <a:p>
            <a:r>
              <a:rPr lang="en-US"/>
              <a:t>If we represent heights with lines, we can view the same information on a plane.</a:t>
            </a:r>
          </a:p>
          <a:p>
            <a:r>
              <a:rPr lang="en-US"/>
              <a:t>This is a contour plot, using the same principle as the contour lines on a familiar map.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Imagine cutting a mountain horizontally at a fixed height.</a:t>
            </a:r>
          </a:p>
          <a:p>
            <a:r>
              <a:rPr lang="en-US"/>
              <a:t>Connecting the outline where that slice meets the mountain surface produces the red line.</a:t>
            </a:r>
          </a:p>
          <a:p>
            <a:r>
              <a:rPr lang="en-US"/>
              <a:t>Every position on that line has the same height, whether it is to the east or west.</a:t>
            </a:r>
          </a:p>
          <a:p>
            <a:r>
              <a:rPr lang="en-US"/>
              <a:t>Changing the slicing height produces another line.</a:t>
            </a:r>
          </a:p>
          <a:p>
            <a:r>
              <a:rPr lang="en-US"/>
              <a:t>Drawing these lines together shows how the mountain's height changes.</a:t>
            </a:r>
          </a:p>
          <a:p>
            <a:r>
              <a:rPr lang="en-US"/>
              <a:t>The essential idea is not that the lines are circular, but that each line connects points of equal height.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time we are looking down at the same mountain from above.</a:t>
            </a:r>
          </a:p>
          <a:p>
            <a:r>
              <a:rPr lang="en-US"/>
              <a:t>We can read the landscape from its contours even without drawing height directly on a vertical axis.</a:t>
            </a:r>
          </a:p>
          <a:p>
            <a:r>
              <a:rPr lang="en-US"/>
              <a:t>If successive contours represent equal height differences, closely spaced lines indicate that height changes quickly over a short distance.</a:t>
            </a:r>
          </a:p>
          <a:p>
            <a:r>
              <a:rPr lang="en-US"/>
              <a:t>Widely spaced lines indicate a gentler slope.</a:t>
            </a:r>
          </a:p>
          <a:p>
            <a:r>
              <a:rPr lang="en-US"/>
              <a:t>The center of a mountain may be high, but the center of the next cost plot is low.</a:t>
            </a:r>
          </a:p>
          <a:p>
            <a:r>
              <a:rPr lang="en-US"/>
              <a:t>Do not decide whether a position is high or low merely because it is central; check which function the contours represent.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left-hand plot shows predictions as a line against input x, while the upper-right plot shows cost contours against w and b.</a:t>
            </a:r>
          </a:p>
          <a:p>
            <a:r>
              <a:rPr lang="en-US"/>
              <a:t>The 3D diagram below shows the same cost as the upper-right plot from another direction.</a:t>
            </a:r>
          </a:p>
          <a:p>
            <a:r>
              <a:rPr lang="en-US"/>
              <a:t>Points on one contour have the same J even when their w and b differ.</a:t>
            </a:r>
          </a:p>
          <a:p>
            <a:r>
              <a:rPr lang="en-US"/>
              <a:t>Consequently, two different lines on the left can receive the same overall evaluation score.</a:t>
            </a:r>
          </a:p>
          <a:p>
            <a:r>
              <a:rPr lang="en-US"/>
              <a:t>One line might make larger mistakes on small houses and another on large houses, while their average scores match.</a:t>
            </a:r>
          </a:p>
          <a:p>
            <a:r>
              <a:rPr lang="en-US"/>
              <a:t>Equal costs do not mean equal predictions.</a:t>
            </a:r>
          </a:p>
          <a:p>
            <a:r>
              <a:rPr lang="en-US"/>
              <a:t>In this diagram, inner contours represent lower costs.</a:t>
            </a:r>
          </a:p>
          <a:p>
            <a:r>
              <a:rPr lang="en-US"/>
              <a:t>Parameters near the center produce lines that fit the data better.</a:t>
            </a:r>
          </a:p>
          <a:p>
            <a:r>
              <a:rPr lang="en-US"/>
              <a:t>The lower diagram looks stretched sideways because of its axis ranges and viewing angle; it represents the same bowl-shaped landscape.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we will choose specific parameters and examine how the prediction line relates to its cost.</a:t>
            </a:r>
          </a:p>
          <a:p>
            <a:r>
              <a:rPr lang="en-US"/>
              <a:t>First compare the line and data points on the left, then locate those parameters on the right.</a:t>
            </a:r>
          </a:p>
          <a:p>
            <a:r>
              <a:rPr lang="en-US"/>
              <a:t>Connect the three diagrams as different views of one model, rather than three separate experiments.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Here w=−0.15 and b=800, so the predicted price decreases as x increases.</a:t>
            </a:r>
          </a:p>
          <a:p>
            <a:r>
              <a:rPr lang="en-US"/>
              <a:t>However, the actual data generally shows larger houses selling for higher prices.</a:t>
            </a:r>
          </a:p>
          <a:p>
            <a:r>
              <a:rPr lang="en-US"/>
              <a:t>This produces predictions that are too high for small houses and too low for large houses.</a:t>
            </a:r>
          </a:p>
          <a:p>
            <a:r>
              <a:rPr lang="en-US"/>
              <a:t>For example, the prediction is 650 at x=1000 and 350 at x=3000.</a:t>
            </a:r>
          </a:p>
          <a:p>
            <a:r>
              <a:rPr lang="en-US"/>
              <a:t>The blue vertical gaps are large for many points.</a:t>
            </a:r>
          </a:p>
          <a:p>
            <a:r>
              <a:rPr lang="en-US"/>
              <a:t>The cost is half the mean of these squared errors, which is large in this case.</a:t>
            </a:r>
          </a:p>
          <a:p>
            <a:r>
              <a:rPr lang="en-US"/>
              <a:t>In the upper-right plot, horizontal coordinate −0.15 and vertical coordinate 800 identify this model.</a:t>
            </a:r>
          </a:p>
          <a:p>
            <a:r>
              <a:rPr lang="en-US"/>
              <a:t>Here, the vertical coordinate 800 is b rather than cost; cost must be read from the contour's value.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time, we change the parameters to w=0 and b=360.</a:t>
            </a:r>
          </a:p>
          <a:p>
            <a:r>
              <a:rPr lang="en-US"/>
              <a:t>The model is f(x)=360, predicting $360,000 for every house.</a:t>
            </a:r>
          </a:p>
          <a:p>
            <a:r>
              <a:rPr lang="en-US"/>
              <a:t>It ignores differences between small and large houses, but its overall cost is lower than that of the previous incorrectly tilted line.</a:t>
            </a:r>
          </a:p>
          <a:p>
            <a:r>
              <a:rPr lang="en-US"/>
              <a:t>That does not mean every individual prediction has improved.</a:t>
            </a:r>
          </a:p>
          <a:p>
            <a:r>
              <a:rPr lang="en-US"/>
              <a:t>It means the model receives a better score when we collect and evaluate all the errors.</a:t>
            </a:r>
          </a:p>
          <a:p>
            <a:r>
              <a:rPr lang="en-US"/>
              <a:t>The selected point on the right is (w,b)=(0,360).</a:t>
            </a:r>
          </a:p>
          <a:p>
            <a:r>
              <a:rPr lang="en-US"/>
              <a:t>It has not yet reached the center of the contours, so better combinations are still available.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equation is now f(x)=−0.15x+500.</a:t>
            </a:r>
          </a:p>
          <a:p>
            <a:r>
              <a:rPr lang="en-US"/>
              <a:t>Compared with the previous example with w=−0.15, the slope is unchanged and the entire line has moved downward.</a:t>
            </a:r>
          </a:p>
          <a:p>
            <a:r>
              <a:rPr lang="en-US"/>
              <a:t>However, this does not solve the problem that the data trends upward.</a:t>
            </a:r>
          </a:p>
          <a:p>
            <a:r>
              <a:rPr lang="en-US"/>
              <a:t>Lowering a line and lowering its cost are different actions.</a:t>
            </a:r>
          </a:p>
          <a:p>
            <a:r>
              <a:rPr lang="en-US"/>
              <a:t>If a prediction is already below its target, lowering it further increases the error.</a:t>
            </a:r>
          </a:p>
          <a:p>
            <a:r>
              <a:rPr lang="en-US"/>
              <a:t>Rather than only noticing that a value moved, recalculate the gaps from the actual values.</a:t>
            </a:r>
          </a:p>
          <a:p>
            <a:r>
              <a:rPr lang="en-US"/>
              <a:t>The cost graph summarizes the overall result as one score.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Here w=0.13 and b=71, so the line follows the increasing trend in the data.</a:t>
            </a:r>
          </a:p>
          <a:p>
            <a:r>
              <a:rPr lang="en-US"/>
              <a:t>For example, it predicts 201 at size 1000 and 331 at size 2000.</a:t>
            </a:r>
          </a:p>
          <a:p>
            <a:r>
              <a:rPr lang="en-US"/>
              <a:t>Many data points lie relatively close above or below the line.</a:t>
            </a:r>
          </a:p>
          <a:p>
            <a:r>
              <a:rPr lang="en-US"/>
              <a:t>Not every error is 0, but the overall cost is lower than for the earlier candidates.</a:t>
            </a:r>
          </a:p>
          <a:p>
            <a:r>
              <a:rPr lang="en-US"/>
              <a:t>The corresponding point on the right therefore lies near the center of the contours.</a:t>
            </a:r>
          </a:p>
          <a:p>
            <a:r>
              <a:rPr lang="en-US"/>
              <a:t>When real observations are scattered, we cannot find a line that passes through every point.</a:t>
            </a:r>
          </a:p>
          <a:p>
            <a:r>
              <a:rPr lang="en-US"/>
              <a:t>We choose the available line that best satisfies the chosen evaluation criterion.</a:t>
            </a:r>
          </a:p>
          <a:p>
            <a:r>
              <a:rPr lang="en-US"/>
              <a:t>So far, a person has selected w and b, but this becomes inefficient when there are many candidates.</a:t>
            </a:r>
          </a:p>
          <a:p>
            <a:r>
              <a:rPr lang="en-US"/>
              <a:t>Next, we will learn to calculate how to move automatically toward a better choice.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So far, we have manually chosen several w and b values and compared their costs.</a:t>
            </a:r>
          </a:p>
          <a:p>
            <a:r>
              <a:rPr lang="en-US"/>
              <a:t>Now we will calculate which direction to change the current values to improve the result.</a:t>
            </a:r>
          </a:p>
          <a:p>
            <a:r>
              <a:rPr lang="en-US"/>
              <a:t>Repeating that calculation is the method called gradient descent.</a:t>
            </a:r>
          </a:p>
          <a:p>
            <a:r>
              <a:rPr lang="en-US"/>
              <a:t>We will learn it for linear regression, but the same basic principle is used later to train neural networks.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First, choose starting values for w and b.</a:t>
            </a:r>
          </a:p>
          <a:p>
            <a:r>
              <a:rPr lang="en-US"/>
              <a:t>For the linear regression we are studying, both can start at 0.</a:t>
            </a:r>
          </a:p>
          <a:p>
            <a:r>
              <a:rPr lang="en-US"/>
              <a:t>The initial model is then a horizontal line that predicts 0 for every input.</a:t>
            </a:r>
          </a:p>
          <a:p>
            <a:r>
              <a:rPr lang="en-US"/>
              <a:t>We calculate the direction in which its cost decreases and move the parameters a little.</a:t>
            </a:r>
          </a:p>
          <a:p>
            <a:r>
              <a:rPr lang="en-US"/>
              <a:t>The situation has changed at the new position, so we calculate the direction again.</a:t>
            </a:r>
          </a:p>
          <a:p>
            <a:r>
              <a:rPr lang="en-US"/>
              <a:t>Repeating this process approaches a place where further movement hardly reduces the cost.</a:t>
            </a:r>
          </a:p>
          <a:p>
            <a:r>
              <a:rPr lang="en-US"/>
              <a:t>With several features, there are more values to adjust, such as w₁ and w₂, but the principle is unchanged.</a:t>
            </a:r>
          </a:p>
          <a:p>
            <a:r>
              <a:rPr lang="en-US"/>
              <a:t>The goal is to make the cost calculated from the parameters small, rather than to make the parameters themselves small.</a:t>
            </a:r>
          </a:p>
          <a:p>
            <a:r>
              <a:rPr lang="en-US"/>
              <a:t>The shape of the cost affects which positions can be reached and how training behaves.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Imagine standing on top of the hill in the diagram.</a:t>
            </a:r>
          </a:p>
          <a:p>
            <a:r>
              <a:rPr lang="en-US"/>
              <a:t>Your position on the ground represents w and b, and your height represents cost.</a:t>
            </a:r>
          </a:p>
          <a:p>
            <a:r>
              <a:rPr lang="en-US"/>
              <a:t>At your current position, consider which direction goes downhill most steeply for a small movement.</a:t>
            </a:r>
          </a:p>
          <a:p>
            <a:r>
              <a:rPr lang="en-US"/>
              <a:t>Take a small step in that direction, then ask the same question at the new position.</a:t>
            </a:r>
          </a:p>
          <a:p>
            <a:r>
              <a:rPr lang="en-US"/>
              <a:t>You choose the direction again each time, rather than continuing straight along the direction chosen at the beginning.</a:t>
            </a:r>
          </a:p>
          <a:p>
            <a:r>
              <a:rPr lang="en-US"/>
              <a:t>The diagram has several valleys, so a small change in the starting position can lead into a different valley.</a:t>
            </a:r>
          </a:p>
          <a:p>
            <a:r>
              <a:rPr lang="en-US"/>
              <a:t>A valley floor that is lower than its surroundings is a local minimum.</a:t>
            </a:r>
          </a:p>
          <a:p>
            <a:r>
              <a:rPr lang="en-US"/>
              <a:t>The lowest value over the whole landscape is the global minimum.</a:t>
            </a:r>
          </a:p>
          <a:p>
            <a:r>
              <a:rPr lang="en-US"/>
              <a:t>Moving using only information around the current position does not guarantee that you will find a lower floor in another valley.</a:t>
            </a:r>
          </a:p>
          <a:p>
            <a:r>
              <a:rPr lang="en-US"/>
              <a:t>This diagram shows what a general cost function might look like; its shape differs from the cost of the linear regression we are studying.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express the downhill direction and step size mathematically.</a:t>
            </a:r>
          </a:p>
          <a:p>
            <a:r>
              <a:rPr lang="en-US"/>
              <a:t>Although a new derivative symbol appears, first notice the structure of subtracting a correction from the current value.</a:t>
            </a:r>
          </a:p>
          <a:p>
            <a:r>
              <a:rPr lang="en-US"/>
              <a:t>Before memorizing the notation, read the expression in parts and identify each part's role.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expression w←w−α·∂J/∂w says to subtract a correction from the old w and store the result as the new w.</a:t>
            </a:r>
          </a:p>
          <a:p>
            <a:r>
              <a:rPr lang="en-US"/>
              <a:t>Read the equals sign on the screen as assignment in code, rather than a claim that the old and new values are equal.</a:t>
            </a:r>
          </a:p>
          <a:p>
            <a:r>
              <a:rPr lang="en-US"/>
              <a:t>For example, a=a+1 in code is an instruction to increase a by 1.</a:t>
            </a:r>
          </a:p>
          <a:p>
            <a:r>
              <a:rPr lang="en-US"/>
              <a:t>The positive learning rate α controls how far to move in the calculated direction.</a:t>
            </a:r>
          </a:p>
          <a:p>
            <a:r>
              <a:rPr lang="en-US"/>
              <a:t>The partial derivative ∂J/∂w describes how the cost changes when we change w slightly while keeping b at its current value.</a:t>
            </a:r>
          </a:p>
          <a:p>
            <a:r>
              <a:rPr lang="en-US"/>
              <a:t>We update b in the same way using ∂J/∂b.</a:t>
            </a:r>
          </a:p>
          <a:p>
            <a:r>
              <a:rPr lang="en-US"/>
              <a:t>Both corrections must be calculated using w and b from the same starting position.</a:t>
            </a:r>
          </a:p>
          <a:p>
            <a:r>
              <a:rPr lang="en-US"/>
              <a:t>It is like deciding how far to move east and north using one current position on a map.</a:t>
            </a:r>
          </a:p>
          <a:p>
            <a:r>
              <a:rPr lang="en-US"/>
              <a:t>If we update w first and then use that new value to calculate b's correction, we mix reference positions.</a:t>
            </a:r>
          </a:p>
          <a:p>
            <a:r>
              <a:rPr lang="en-US"/>
              <a:t>We can avoid this by first computing the results as tmp_w and tmp_b, as on the left, and then assigning the actual values.</a:t>
            </a:r>
          </a:p>
          <a:p>
            <a:r>
              <a:rPr lang="en-US"/>
              <a:t>A simultaneous update does not mean that the computer must literally execute two lines at the same instant.</a:t>
            </a:r>
          </a:p>
          <a:p>
            <a:r>
              <a:rPr lang="en-US"/>
              <a:t>It means that every correction is calculated from the same parameters before the update.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check why the update expression contains a minus sign.</a:t>
            </a:r>
          </a:p>
          <a:p>
            <a:r>
              <a:rPr lang="en-US"/>
              <a:t>If we temporarily fix b, we can plot w and J(w) on a plane.</a:t>
            </a:r>
          </a:p>
          <a:p>
            <a:r>
              <a:rPr lang="en-US"/>
              <a:t>Follow the tangent slope to see which direction the expression actually moves us.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Think of a straight line tangent to the cost curve at the current position.</a:t>
            </a:r>
          </a:p>
          <a:p>
            <a:r>
              <a:rPr lang="en-US"/>
              <a:t>The slope of that tangent is the derivative.</a:t>
            </a:r>
          </a:p>
          <a:p>
            <a:r>
              <a:rPr lang="en-US"/>
              <a:t>Its sign tells us whether cost increases or decreases when w increases slightly.</a:t>
            </a:r>
          </a:p>
          <a:p>
            <a:r>
              <a:rPr lang="en-US"/>
              <a:t>Its magnitude indicates how sensitively cost responds to the same small change.</a:t>
            </a:r>
          </a:p>
          <a:p>
            <a:r>
              <a:rPr lang="en-US"/>
              <a:t>The learning rate α is the step-size control multiplied by this information.</a:t>
            </a:r>
          </a:p>
          <a:p>
            <a:r>
              <a:rPr lang="en-US"/>
              <a:t>The actual movement is determined by the product of α and the derivative, rather than by α alone.</a:t>
            </a:r>
          </a:p>
          <a:p>
            <a:r>
              <a:rPr lang="en-US"/>
              <a:t>The slope here belongs to the cost curve, and has a different role from w, which we previously called the slope of the prediction line.</a:t>
            </a:r>
          </a:p>
          <a:p>
            <a:r>
              <a:rPr lang="en-US"/>
              <a:t>We calculate the cost's slope in order to adjust the model's slope 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In the upper diagram, the tangent rises to the right, so the derivative is positive.</a:t>
            </a:r>
          </a:p>
          <a:p>
            <a:r>
              <a:rPr lang="en-US"/>
              <a:t>Moving right would raise the cost, so moving left is the helpful direction.</a:t>
            </a:r>
          </a:p>
          <a:p>
            <a:r>
              <a:rPr lang="en-US"/>
              <a:t>Subtracting the positive quantity α×derivative from the current w does make w smaller.</a:t>
            </a:r>
          </a:p>
          <a:p>
            <a:r>
              <a:rPr lang="en-US"/>
              <a:t>For example, if w=2, α=0.1, and the derivative is 3, the new w is 1.7.</a:t>
            </a:r>
          </a:p>
          <a:p>
            <a:r>
              <a:rPr lang="en-US"/>
              <a:t>In the lower diagram, the tangent falls to the right, so the derivative is negative.</a:t>
            </a:r>
          </a:p>
          <a:p>
            <a:r>
              <a:rPr lang="en-US"/>
              <a:t>Here we need to increase w and move right to reduce the cost.</a:t>
            </a:r>
          </a:p>
          <a:p>
            <a:r>
              <a:rPr lang="en-US"/>
              <a:t>Subtracting a negative number is equivalent to adding a positive number, so the update moves in that direction.</a:t>
            </a:r>
          </a:p>
          <a:p>
            <a:r>
              <a:rPr lang="en-US"/>
              <a:t>For example, if w=−1, the derivative is −2, and α=0.1, the new value is −0.8.</a:t>
            </a:r>
          </a:p>
          <a:p>
            <a:r>
              <a:rPr lang="en-US"/>
              <a:t>This algorithm does not always reduce w; it adjusts w in a direction that reduces cost.</a:t>
            </a:r>
          </a:p>
          <a:p>
            <a:r>
              <a:rPr lang="en-US"/>
              <a:t>This explanation concerns the direction of a small step from the current position, so choosing too large a step can cause problems.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Even in the correct direction, moving too far at once can take us past our destination.</a:t>
            </a:r>
          </a:p>
          <a:p>
            <a:r>
              <a:rPr lang="en-US"/>
              <a:t>We will examine how the learning rate affects training.</a:t>
            </a:r>
          </a:p>
          <a:p>
            <a:r>
              <a:rPr lang="en-US"/>
              <a:t>A small value is not always better, and a large value is not always faster.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If α is too small, as in the upper diagram, the correction obtained by multiplying the derivative is also tiny.</a:t>
            </a:r>
          </a:p>
          <a:p>
            <a:r>
              <a:rPr lang="en-US"/>
              <a:t>The cost decreases, but reaching the minimum requires many iterations.</a:t>
            </a:r>
          </a:p>
          <a:p>
            <a:r>
              <a:rPr lang="en-US"/>
              <a:t>Conversely, if α is too large, one update can jump across the valley.</a:t>
            </a:r>
          </a:p>
          <a:p>
            <a:r>
              <a:rPr lang="en-US"/>
              <a:t>Even if we change direction at the new position, another large jump can take us to a higher point on the opposite side.</a:t>
            </a:r>
          </a:p>
          <a:p>
            <a:r>
              <a:rPr lang="en-US"/>
              <a:t>The cost may then increase or keep oscillating instead of decreasing.</a:t>
            </a:r>
          </a:p>
          <a:p>
            <a:r>
              <a:rPr lang="en-US"/>
              <a:t>Approaching the minimum steadily is called convergence.</a:t>
            </a:r>
          </a:p>
          <a:p>
            <a:r>
              <a:rPr lang="en-US"/>
              <a:t>Moving farther away is called divergence.</a:t>
            </a:r>
          </a:p>
          <a:p>
            <a:r>
              <a:rPr lang="en-US"/>
              <a:t>Crossing the minimum once does not necessarily mean failure, but if the cost keeps increasing, check α.</a:t>
            </a:r>
          </a:p>
          <a:p>
            <a:r>
              <a:rPr lang="en-US"/>
              <a:t>What matters is the actual change in cost, rather than simply having a large step.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What will the next update do if we have already reached the local minimum in this diagram?</a:t>
            </a:r>
          </a:p>
          <a:p>
            <a:r>
              <a:rPr lang="en-US"/>
              <a:t>At a smooth valley floor like this, the tangent is horizontal, so the derivative is 0.</a:t>
            </a:r>
          </a:p>
          <a:p>
            <a:r>
              <a:rPr lang="en-US"/>
              <a:t>Multiplying that 0 by α gives a correction of 0.</a:t>
            </a:r>
          </a:p>
          <a:p>
            <a:r>
              <a:rPr lang="en-US"/>
              <a:t>In the example on the screen, w=5 and α=0.1 give 5−0.1×0=5.</a:t>
            </a:r>
          </a:p>
          <a:p>
            <a:r>
              <a:rPr lang="en-US"/>
              <a:t>Remaining at the same position is the desired behavior here.</a:t>
            </a:r>
          </a:p>
          <a:p>
            <a:r>
              <a:rPr lang="en-US"/>
              <a:t>However, a derivative of 0 by itself does not identify a minimum for every possible function.</a:t>
            </a:r>
          </a:p>
          <a:p>
            <a:r>
              <a:rPr lang="en-US"/>
              <a:t>This slide explains why the update stops when it is at a valley floor.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You might think α must also be reduced each time we approach the minimum.</a:t>
            </a:r>
          </a:p>
          <a:p>
            <a:r>
              <a:rPr lang="en-US"/>
              <a:t>In this diagram, however, the movement becomes smaller naturally even with α fixed.</a:t>
            </a:r>
          </a:p>
          <a:p>
            <a:r>
              <a:rPr lang="en-US"/>
              <a:t>The initial steep region has a large derivative, which produces a large correction.</a:t>
            </a:r>
          </a:p>
          <a:p>
            <a:r>
              <a:rPr lang="en-US"/>
              <a:t>As we descend toward the floor, the tangent becomes gentler and the derivative's magnitude decreases.</a:t>
            </a:r>
          </a:p>
          <a:p>
            <a:r>
              <a:rPr lang="en-US"/>
              <a:t>Multiplying by the same α therefore gives a smaller result.</a:t>
            </a:r>
          </a:p>
          <a:p>
            <a:r>
              <a:rPr lang="en-US"/>
              <a:t>The learning rate and the actual step size are thus different quantities.</a:t>
            </a:r>
          </a:p>
          <a:p>
            <a:r>
              <a:rPr lang="en-US"/>
              <a:t>An appropriate fixed α can approach the minimum through progressively smaller movements.</a:t>
            </a:r>
          </a:p>
          <a:p>
            <a:r>
              <a:rPr lang="en-US"/>
              <a:t>This does not mean that an excessively large α will correct itself, so remember the earlier conditions too.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So far, we have examined the model, cost, and gradient descent separately.</a:t>
            </a:r>
          </a:p>
          <a:p>
            <a:r>
              <a:rPr lang="en-US"/>
              <a:t>Now we will differentiate the linear-regression cost and substitute the result into the update rule.</a:t>
            </a:r>
          </a:p>
          <a:p>
            <a:r>
              <a:rPr lang="en-US"/>
              <a:t>Connecting these three parts lets us provide data and train a model.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First, use f(x)=wx+b to calculate a prediction for each example.</a:t>
            </a:r>
          </a:p>
          <a:p>
            <a:r>
              <a:rPr lang="en-US"/>
              <a:t>Subtract the actual y from each prediction to obtain that example's error.</a:t>
            </a:r>
          </a:p>
          <a:p>
            <a:r>
              <a:rPr lang="en-US"/>
              <a:t>The derivative with respect to w is the average of each error multiplied by that example's x.</a:t>
            </a:r>
          </a:p>
          <a:p>
            <a:r>
              <a:rPr lang="en-US"/>
              <a:t>The derivative with respect to b is the average of the errors themselves.</a:t>
            </a:r>
          </a:p>
          <a:p>
            <a:r>
              <a:rPr lang="en-US"/>
              <a:t>Use the prediction equation to consider why only the w derivative includes x.</a:t>
            </a:r>
          </a:p>
          <a:p>
            <a:r>
              <a:rPr lang="en-US"/>
              <a:t>If w changes by 0.1, the prediction at x=1 changes by 0.1, while the prediction at x=10 changes by 1.</a:t>
            </a:r>
          </a:p>
          <a:p>
            <a:r>
              <a:rPr lang="en-US"/>
              <a:t>The influence of w therefore depends on input x.</a:t>
            </a:r>
          </a:p>
          <a:p>
            <a:r>
              <a:rPr lang="en-US"/>
              <a:t>By contrast, changing b by 0.1 changes every prediction by exactly 0.1.</a:t>
            </a:r>
          </a:p>
          <a:p>
            <a:r>
              <a:rPr lang="en-US"/>
              <a:t>That is why the parameter sensitivities multiply w's error term by x and b's error term by 1.</a:t>
            </a:r>
          </a:p>
          <a:p>
            <a:r>
              <a:rPr lang="en-US"/>
              <a:t>One training step multiplies these derivatives by the learning rate and subtracts the results from the old values.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slide is an optional explanation of how the derivative expressions are obtained.</a:t>
            </a:r>
          </a:p>
          <a:p>
            <a:r>
              <a:rPr lang="en-US"/>
              <a:t>Temporarily write one example's error in the shorter form e=wx+b−y.</a:t>
            </a:r>
          </a:p>
          <a:p>
            <a:r>
              <a:rPr lang="en-US"/>
              <a:t>Differentiating e² gives 2e multiplied by the derivative of the expression inside e.</a:t>
            </a:r>
          </a:p>
          <a:p>
            <a:r>
              <a:rPr lang="en-US"/>
              <a:t>With respect to w, the derivative of wx+b−y is x.</a:t>
            </a:r>
          </a:p>
          <a:p>
            <a:r>
              <a:rPr lang="en-US"/>
              <a:t>Each example therefore contributes 2(wx+b−y)x.</a:t>
            </a:r>
          </a:p>
          <a:p>
            <a:r>
              <a:rPr lang="en-US"/>
              <a:t>The 2 cancels the 2 in the factor 1/(2m), leaving (1/m)Σ(wx+b−y)x.</a:t>
            </a:r>
          </a:p>
          <a:p>
            <a:r>
              <a:rPr lang="en-US"/>
              <a:t>With respect to b, the inner derivative is 1, so the final x is absent.</a:t>
            </a:r>
          </a:p>
          <a:p>
            <a:r>
              <a:rPr lang="en-US"/>
              <a:t>The result is (1/m)Σ(wx+b−y).</a:t>
            </a:r>
          </a:p>
          <a:p>
            <a:r>
              <a:rPr lang="en-US"/>
              <a:t>The reason we included 1/2 in the cost was to simplify the expression here.</a:t>
            </a:r>
          </a:p>
          <a:p>
            <a:r>
              <a:rPr lang="en-US"/>
              <a:t>If differentiation is unfamiliar, you can first understand the calculation procedure: the average of error×x for w, and the average error for 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perform one update using the earlier examples (1,1), (2,2), and (3,3).</a:t>
            </a:r>
          </a:p>
          <a:p>
            <a:r>
              <a:rPr lang="en-US"/>
              <a:t>Starting with w=0 and b=0 makes every prediction 0, giving errors −1, −2, and −3.</a:t>
            </a:r>
          </a:p>
          <a:p>
            <a:r>
              <a:rPr lang="en-US"/>
              <a:t>The derivative for w is (−1×1−2×2−3×3)/3=−14/3.</a:t>
            </a:r>
          </a:p>
          <a:p>
            <a:r>
              <a:rPr lang="en-US"/>
              <a:t>The derivative for b is (−1−2−3)/3=−2.</a:t>
            </a:r>
          </a:p>
          <a:p>
            <a:r>
              <a:rPr lang="en-US"/>
              <a:t>With α=0.1, the new w is 0−0.1×(−14/3), or about 0.467.</a:t>
            </a:r>
          </a:p>
          <a:p>
            <a:r>
              <a:rPr lang="en-US"/>
              <a:t>The new b is 0−0.1×(−2)=0.2.</a:t>
            </a:r>
          </a:p>
          <a:p>
            <a:r>
              <a:rPr lang="en-US"/>
              <a:t>Check that both values were calculated from the errors before the update.</a:t>
            </a:r>
          </a:p>
          <a:p>
            <a:r>
              <a:rPr lang="en-US"/>
              <a:t>Now recalculate the predictions with the new model f(x)≈0.467x+0.2.</a:t>
            </a:r>
          </a:p>
          <a:p>
            <a:r>
              <a:rPr lang="en-US"/>
              <a:t>Recalculate the derivatives from the new errors and repeat the procedure.</a:t>
            </a:r>
          </a:p>
          <a:p>
            <a:r>
              <a:rPr lang="en-US"/>
              <a:t>Reusing the first derivative forever would not move according to the direction at the current position.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 general cost function may have several valleys, as in the diagram.</a:t>
            </a:r>
          </a:p>
          <a:p>
            <a:r>
              <a:rPr lang="en-US"/>
              <a:t>Because gradient descent uses the slope around its current position, different starting points can lead to different destinations.</a:t>
            </a:r>
          </a:p>
          <a:p>
            <a:r>
              <a:rPr lang="en-US"/>
              <a:t>Entering one valley does not guarantee that it is better than every other candidate.</a:t>
            </a:r>
          </a:p>
          <a:p>
            <a:r>
              <a:rPr lang="en-US"/>
              <a:t>That is why we distinguished a local minimum from a global minimum.</a:t>
            </a:r>
          </a:p>
          <a:p>
            <a:r>
              <a:rPr lang="en-US"/>
              <a:t>Should we worry about the same problem in the linear regression model we just built?</a:t>
            </a:r>
          </a:p>
          <a:p>
            <a:r>
              <a:rPr lang="en-US"/>
              <a:t>The answer depends on the cost used with the model, rather than only on the model's name.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Combining linear regression with the current MSE-based cost gives a function that is convex in its parameters.</a:t>
            </a:r>
          </a:p>
          <a:p>
            <a:r>
              <a:rPr lang="en-US"/>
              <a:t>Think of a bowl that curves downward into its center, as in the diagram.</a:t>
            </a:r>
          </a:p>
          <a:p>
            <a:r>
              <a:rPr lang="en-US"/>
              <a:t>The important property is that it does not have separate, worse local minima to get trapped in.</a:t>
            </a:r>
          </a:p>
          <a:p>
            <a:r>
              <a:rPr lang="en-US"/>
              <a:t>With an appropriate learning rate, we can approach a global minimum.</a:t>
            </a:r>
          </a:p>
          <a:p>
            <a:r>
              <a:rPr lang="en-US"/>
              <a:t>Depending on the data, the minimum cost may be 0 or positive.</a:t>
            </a:r>
          </a:p>
          <a:p>
            <a:r>
              <a:rPr lang="en-US"/>
              <a:t>Successful training means finding good values within the chosen model and cost function.</a:t>
            </a:r>
          </a:p>
          <a:p>
            <a:r>
              <a:rPr lang="en-US"/>
              <a:t>It does not mean that every real relationship is a straight line, or that the model will predict new data perfectly.</a:t>
            </a:r>
          </a:p>
          <a:p>
            <a:r>
              <a:rPr lang="en-US"/>
              <a:t>We will return to that distinction when evaluating model performance later.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we will follow training on the house-price data.</a:t>
            </a:r>
          </a:p>
          <a:p>
            <a:r>
              <a:rPr lang="en-US"/>
              <a:t>The left-hand plot shows the prediction line, while the upper-right and lower plots show two representations of the same cost.</a:t>
            </a:r>
          </a:p>
          <a:p>
            <a:r>
              <a:rPr lang="en-US"/>
              <a:t>Watch the new line and point added on each slide to see what one update changes.</a:t>
            </a:r>
          </a:p>
          <a:p>
            <a:r>
              <a:rPr lang="en-US"/>
              <a:t>Earlier lines remain as traces that let us compare previous states.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To make the changes visible, this example starts at w=−0.1 and b=900.</a:t>
            </a:r>
          </a:p>
          <a:p>
            <a:r>
              <a:rPr lang="en-US"/>
              <a:t>We could normally start at 0, but here we have deliberately chosen a poor fit.</a:t>
            </a:r>
          </a:p>
          <a:p>
            <a:r>
              <a:rPr lang="en-US"/>
              <a:t>The initial line lies above most house prices and slopes downward as size increases.</a:t>
            </a:r>
          </a:p>
          <a:p>
            <a:r>
              <a:rPr lang="en-US"/>
              <a:t>The point on the right gives the (w,b) position corresponding to that line.</a:t>
            </a:r>
          </a:p>
          <a:p>
            <a:r>
              <a:rPr lang="en-US"/>
              <a:t>The height of the lower surface is the cost calculated with the same parameters.</a:t>
            </a:r>
          </a:p>
          <a:p>
            <a:r>
              <a:rPr lang="en-US"/>
              <a:t>We will now keep the data fixed and change only the parameters.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One update adds the orange prediction line.</a:t>
            </a:r>
          </a:p>
          <a:p>
            <a:r>
              <a:rPr lang="en-US"/>
              <a:t>It is closer to the data overall than the previous line, and the cost decreases.</a:t>
            </a:r>
          </a:p>
          <a:p>
            <a:r>
              <a:rPr lang="en-US"/>
              <a:t>The new point on the right gives the w and b that determine this new line.</a:t>
            </a:r>
          </a:p>
          <a:p>
            <a:r>
              <a:rPr lang="en-US"/>
              <a:t>The displayed cost falls from about 77,237 to about 45,401.</a:t>
            </a:r>
          </a:p>
          <a:p>
            <a:r>
              <a:rPr lang="en-US"/>
              <a:t>The line changes on one side and the point moves on the other, but both are results of the same update.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calculate the derivatives again at the new parameters and move to the next step.</a:t>
            </a:r>
          </a:p>
          <a:p>
            <a:r>
              <a:rPr lang="en-US"/>
              <a:t>The green line is added, and the cost falls to about 29,109.</a:t>
            </a:r>
          </a:p>
          <a:p>
            <a:r>
              <a:rPr lang="en-US"/>
              <a:t>Predictions for individual houses do not all improve by the same proportion.</a:t>
            </a:r>
          </a:p>
          <a:p>
            <a:r>
              <a:rPr lang="en-US"/>
              <a:t>We check whether the cost calculated over all the examples has decreased.</a:t>
            </a:r>
          </a:p>
          <a:p>
            <a:r>
              <a:rPr lang="en-US"/>
              <a:t>The line still points in a different direction from the data's trend, so there is more to learn.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Adding the red line also changes the difference between predictions for large and small houses.</a:t>
            </a:r>
          </a:p>
          <a:p>
            <a:r>
              <a:rPr lang="en-US"/>
              <a:t>Changing b alone moves every prediction up or down by the same amount.</a:t>
            </a:r>
          </a:p>
          <a:p>
            <a:r>
              <a:rPr lang="en-US"/>
              <a:t>If w changes as well, the prediction change depends on x.</a:t>
            </a:r>
          </a:p>
          <a:p>
            <a:r>
              <a:rPr lang="en-US"/>
              <a:t>Here we adjust both parameters to move to a lower cost.</a:t>
            </a:r>
          </a:p>
          <a:p>
            <a:r>
              <a:rPr lang="en-US"/>
              <a:t>The connected points on the right trace the path of parameter values selected so far.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new line is less steep than the previous one.</a:t>
            </a:r>
          </a:p>
          <a:p>
            <a:r>
              <a:rPr lang="en-US"/>
              <a:t>We are gradually correcting the initial negative slope, which did not fit the data.</a:t>
            </a:r>
          </a:p>
          <a:p>
            <a:r>
              <a:rPr lang="en-US"/>
              <a:t>The new point also moves lower on the cost surface below.</a:t>
            </a:r>
          </a:p>
          <a:p>
            <a:r>
              <a:rPr lang="en-US"/>
              <a:t>We do not judge the line as better merely because it looks less steep.</a:t>
            </a:r>
          </a:p>
          <a:p>
            <a:r>
              <a:rPr lang="en-US"/>
              <a:t>We check that the overall cost relative to the actual values also decreases.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line has now become almost horizontal.</a:t>
            </a:r>
          </a:p>
          <a:p>
            <a:r>
              <a:rPr lang="en-US"/>
              <a:t>A horizontal line is not the goal; this is an intermediate state on the way to a better line.</a:t>
            </a:r>
          </a:p>
          <a:p>
            <a:r>
              <a:rPr lang="en-US"/>
              <a:t>An almost horizontal line predicts similar prices for houses of different sizes.</a:t>
            </a:r>
          </a:p>
          <a:p>
            <a:r>
              <a:rPr lang="en-US"/>
              <a:t>However, the data has an increasing trend with size, so further improvement is possible.</a:t>
            </a:r>
          </a:p>
          <a:p>
            <a:r>
              <a:rPr lang="en-US"/>
              <a:t>Continue the updates while watching whether the cost on the right keeps decreasing.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With further updates, an upward-sloping line appears.</a:t>
            </a:r>
          </a:p>
          <a:p>
            <a:r>
              <a:rPr lang="en-US"/>
              <a:t>The model now predicts higher prices for larger houses.</a:t>
            </a:r>
          </a:p>
          <a:p>
            <a:r>
              <a:rPr lang="en-US"/>
              <a:t>No person separately instructed it to make w positive.</a:t>
            </a:r>
          </a:p>
          <a:p>
            <a:r>
              <a:rPr lang="en-US"/>
              <a:t>This is the result of following errors and derivatives calculated from the data.</a:t>
            </a:r>
          </a:p>
          <a:p>
            <a:r>
              <a:rPr lang="en-US"/>
              <a:t>Here, saying that training reflects the relationship in the data means this change in the parameters.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new lines are approaching the central trend in the data.</a:t>
            </a:r>
          </a:p>
          <a:p>
            <a:r>
              <a:rPr lang="en-US"/>
              <a:t>The point on the right is also moving closer to the center of the contours.</a:t>
            </a:r>
          </a:p>
          <a:p>
            <a:r>
              <a:rPr lang="en-US"/>
              <a:t>Near the center, there is less opportunity to reduce the cost by a large amount.</a:t>
            </a:r>
          </a:p>
          <a:p>
            <a:r>
              <a:rPr lang="en-US"/>
              <a:t>Changes from additional updates may therefore become smaller.</a:t>
            </a:r>
          </a:p>
          <a:p>
            <a:r>
              <a:rPr lang="en-US"/>
              <a:t>Watching this progress helps us decide whether to stop or continue training.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use the final line to predict the price of a new house.</a:t>
            </a:r>
          </a:p>
          <a:p>
            <a:r>
              <a:rPr lang="en-US"/>
              <a:t>Find size 1,250 on the horizontal axis and read the height where it meets the current prediction line.</a:t>
            </a:r>
          </a:p>
          <a:p>
            <a:r>
              <a:rPr lang="en-US"/>
              <a:t>The diagram gives about $250,000.</a:t>
            </a:r>
          </a:p>
          <a:p>
            <a:r>
              <a:rPr lang="en-US"/>
              <a:t>This differs from the earlier prediction made by another line because the parameters are different.</a:t>
            </a:r>
          </a:p>
          <a:p>
            <a:r>
              <a:rPr lang="en-US"/>
              <a:t>We still do not know the actual sale price, but we have applied the learned relationship to a new input.</a:t>
            </a:r>
          </a:p>
          <a:p>
            <a:r>
              <a:rPr lang="en-US"/>
              <a:t>Finding the parameters is training, and calculating f(x) using those parameters is prediction.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derivative expressions so far have used every example, from i=1 to m, on each step.</a:t>
            </a:r>
          </a:p>
          <a:p>
            <a:r>
              <a:rPr lang="en-US"/>
              <a:t>Using the entire training set for one update is called batch gradient descent.</a:t>
            </a:r>
          </a:p>
          <a:p>
            <a:r>
              <a:rPr lang="en-US"/>
              <a:t>With 47 examples, we collect information from all 47 to obtain one correction.</a:t>
            </a:r>
          </a:p>
          <a:p>
            <a:r>
              <a:rPr lang="en-US"/>
              <a:t>Distinguish this from updating after looking at just one example.</a:t>
            </a:r>
          </a:p>
          <a:p>
            <a:r>
              <a:rPr lang="en-US"/>
              <a:t>Other methods use only part of the data, but for now we will learn the principle using the full dataset.</a:t>
            </a:r>
          </a:p>
          <a:p>
            <a:r>
              <a:rPr lang="en-US"/>
              <a:t>We have completed the sequence of predicting with a line, evaluating with a cost, and improving it through gradient descent.</a:t>
            </a:r>
          </a:p>
          <a:p>
            <a:r>
              <a:rPr lang="en-US"/>
              <a:t>Next, we will increase the number of inputs and perform the same calculations more efficiently.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a="http://schemas.openxmlformats.org/drawingml/2006/main">
          <a:bodyPr xmlns:a="http://schemas.openxmlformats.org/drawingml/2006/main"/>
          <a:lstStyle xmlns:a="http://schemas.openxmlformats.org/drawingml/2006/main"/>
          <a:p>
            <a:r>
              <a:rPr lang="en-US"/>
              <a:t>W2 / Source page 1 / Week 2 materials overview</a:t>
            </a:r>
          </a:p>
          <a:p>
            <a:r>
              <a:rPr lang="en-US"/>
              <a:t/>
            </a:r>
          </a:p>
          <a:p>
            <a:r>
              <a:rPr lang="en-US"/>
              <a:t>We will now begin Week 2. This section also uses the original slides from DeepLearning.AI and Stanford Online. We continue the Week 1 sequence of prediction, cost calculation, and parameter updates.</a:t>
            </a:r>
          </a:p>
          <a:p>
            <a:r>
              <a:rPr lang="en-US"/>
              <a:t/>
            </a:r>
          </a:p>
          <a:p>
            <a:r>
              <a:rPr lang="en-US"/>
              <a:t>This time, we use several pieces of information together, such as room count and house age in addition to size. Even when new terminology appears, begin by thinking of the existing model with more input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Last week, we predicted a house's price from its size alone.</a:t>
            </a:r>
          </a:p>
          <a:p>
            <a:r>
              <a:rPr lang="en-US"/>
              <a:t>However, even equally sized houses may have different prices because of their room counts or construction years.</a:t>
            </a:r>
          </a:p>
          <a:p>
            <a:r>
              <a:rPr lang="en-US"/>
              <a:t>This time, we will extend linear regression to use several pieces of information together.</a:t>
            </a:r>
          </a:p>
          <a:p>
            <a:r>
              <a:rPr lang="en-US"/>
              <a:t>Think of it as adding more inputs to the equation we already use, rather than building an entirely unrelated model.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First, we will review the model we already know.</a:t>
            </a:r>
          </a:p>
          <a:p>
            <a:r>
              <a:rPr lang="en-US"/>
              <a:t>In the table, house size is input x and the actual sale price is the target y.</a:t>
            </a:r>
          </a:p>
          <a:p>
            <a:r>
              <a:rPr lang="en-US"/>
              <a:t>Given one house's size, f(x)=wx+b returns one predicted price.</a:t>
            </a:r>
          </a:p>
          <a:p>
            <a:r>
              <a:rPr lang="en-US"/>
              <a:t>Here, w determines how much the predicted price changes for a one-unit increase in size, while b determines the overall height of the line.</a:t>
            </a:r>
          </a:p>
          <a:p>
            <a:r>
              <a:rPr lang="en-US"/>
              <a:t>The current model always predicts the same price for two houses of equal size.</a:t>
            </a:r>
          </a:p>
          <a:p>
            <a:r>
              <a:rPr lang="en-US"/>
              <a:t>In reality, houses with more rooms or more recent construction may sell for different prices.</a:t>
            </a:r>
          </a:p>
          <a:p>
            <a:r>
              <a:rPr lang="en-US"/>
              <a:t>If size is the only input, the model has no information that lets it distinguish those differences.</a:t>
            </a:r>
          </a:p>
          <a:p>
            <a:r>
              <a:rPr lang="en-US"/>
              <a:t>We therefore want to add information that may help prediction, such as room count, floor count, and house age.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input part of the table now represents one house using four numbers.</a:t>
            </a:r>
          </a:p>
          <a:p>
            <a:r>
              <a:rPr lang="en-US"/>
              <a:t>The feature x₁ is size, x₂ is room count, x₃ is floor count, and x₄ is house age.</a:t>
            </a:r>
          </a:p>
          <a:p>
            <a:r>
              <a:rPr lang="en-US"/>
              <a:t>Each input item is called a feature, and we write the number of features as n.</a:t>
            </a:r>
          </a:p>
          <a:p>
            <a:r>
              <a:rPr lang="en-US"/>
              <a:t>Here there are four features, so n=4.</a:t>
            </a:r>
          </a:p>
          <a:p>
            <a:r>
              <a:rPr lang="en-US"/>
              <a:t>The complete input for the second house, x⁽²⁾, is a vector collecting 1416, 3, 2, and 40.</a:t>
            </a:r>
          </a:p>
          <a:p>
            <a:r>
              <a:rPr lang="en-US"/>
              <a:t>If the word vector is unfamiliar, think of it as an ordered list of numbers describing one house.</a:t>
            </a:r>
          </a:p>
          <a:p>
            <a:r>
              <a:rPr lang="en-US"/>
              <a:t>The value x₃⁽²⁾ is the third item in that list, so it represents the second house's floor count, 2.</a:t>
            </a:r>
          </a:p>
          <a:p>
            <a:r>
              <a:rPr lang="en-US"/>
              <a:t>The parenthesized 2 above identifies the second house, and the 3 below identifies the third feature.</a:t>
            </a:r>
          </a:p>
          <a:p>
            <a:r>
              <a:rPr lang="en-US"/>
              <a:t>Neither mark represents a square or multiplication.</a:t>
            </a:r>
          </a:p>
          <a:p>
            <a:r>
              <a:rPr lang="en-US"/>
              <a:t>Even when expressions become longer, the superscript identifies a data row and the subscript identifies an input column.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With four inputs, multiply each input by its own weight and add all the results.</a:t>
            </a:r>
          </a:p>
          <a:p>
            <a:r>
              <a:rPr lang="en-US"/>
              <a:t>In the slide's example, size is multiplied by 0.1, room count by 4, floor count by 10, and house age by −2, before adding 80 at the end.</a:t>
            </a:r>
          </a:p>
          <a:p>
            <a:r>
              <a:rPr lang="en-US"/>
              <a:t>Because prices are in thousands of dollars, the room-count coefficient 4 means that one more room increases the predicted price by $4,000 when the other inputs are held fixed.</a:t>
            </a:r>
          </a:p>
          <a:p>
            <a:r>
              <a:rPr lang="en-US"/>
              <a:t>The coefficient −2 on house age means that an additional year lowers the predicted price by $2,000 when the other inputs remain the same.</a:t>
            </a:r>
          </a:p>
          <a:p>
            <a:r>
              <a:rPr lang="en-US"/>
              <a:t>These are relationships expressed by this model, not a guarantee that adding a room will increase the actual sale price by exactly that amount.</a:t>
            </a:r>
          </a:p>
          <a:p>
            <a:r>
              <a:rPr lang="en-US"/>
              <a:t>The final b adjusts the overall prediction level after the effects of the inputs are added.</a:t>
            </a:r>
          </a:p>
          <a:p>
            <a:r>
              <a:rPr lang="en-US"/>
              <a:t>When every input is 0, the expression equals b, but such a house does not need to exist in reality.</a:t>
            </a:r>
          </a:p>
          <a:p>
            <a:r>
              <a:rPr lang="en-US"/>
              <a:t>Each w is a control that determines how much, and in which direction, its input contributes to the prediction.</a:t>
            </a:r>
          </a:p>
          <a:p>
            <a:r>
              <a:rPr lang="en-US"/>
              <a:t>The next step is to learn these values to reduce a cost function, rather than having a person continually choose them.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Writing every term becomes cumbersome as the number of features grows.</a:t>
            </a:r>
          </a:p>
          <a:p>
            <a:r>
              <a:rPr lang="en-US"/>
              <a:t>We will therefore collect the weights into a vector w and one house's inputs into a vector x.</a:t>
            </a:r>
          </a:p>
          <a:p>
            <a:r>
              <a:rPr lang="en-US"/>
              <a:t>The dot product w·x multiplies numbers in corresponding positions and adds the results.</a:t>
            </a:r>
          </a:p>
          <a:p>
            <a:r>
              <a:rPr lang="en-US"/>
              <a:t>Thus w·x+b performs exactly the same calculation as w₁x₁+w₂x₂+w₃x₃+w₄x₄+b.</a:t>
            </a:r>
          </a:p>
          <a:p>
            <a:r>
              <a:rPr lang="en-US"/>
              <a:t>The notation is shorter, but the model's behavior is unchanged.</a:t>
            </a:r>
          </a:p>
          <a:p>
            <a:r>
              <a:rPr lang="en-US"/>
              <a:t>With n inputs, w and x each contain n values, and the result is one predicted price.</a:t>
            </a:r>
          </a:p>
          <a:p>
            <a:r>
              <a:rPr lang="en-US"/>
              <a:t>The bias b is a separate single number added to those vectors' dot product.</a:t>
            </a:r>
          </a:p>
          <a:p>
            <a:r>
              <a:rPr lang="en-US"/>
              <a:t>This model with several inputs is called multiple linear regression.</a:t>
            </a:r>
          </a:p>
          <a:p>
            <a:r>
              <a:rPr lang="en-US"/>
              <a:t>The output is still one house price; multiple refers to using several inputs.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we will see how to implement the same calculation in Python.</a:t>
            </a:r>
          </a:p>
          <a:p>
            <a:r>
              <a:rPr lang="en-US"/>
              <a:t>Vectorization expresses operations on several numbers as array operations.</a:t>
            </a:r>
          </a:p>
          <a:p>
            <a:r>
              <a:rPr lang="en-US"/>
              <a:t>This makes the connection between the formula and the code clearer, and can make computation more efficient as the number of values grows.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example sets w to 1, 2.5, and −3.3, x to 10, 20, and 30, and b to 4.</a:t>
            </a:r>
          </a:p>
          <a:p>
            <a:r>
              <a:rPr lang="en-US"/>
              <a:t>Calculating directly gives 1×10+2.5×20−3.3×30+4.</a:t>
            </a:r>
          </a:p>
          <a:p>
            <a:r>
              <a:rPr lang="en-US"/>
              <a:t>The three products sum to −39, and adding b gives the final prediction −35.</a:t>
            </a:r>
          </a:p>
          <a:p>
            <a:r>
              <a:rPr lang="en-US"/>
              <a:t>Writing every term separately, as in the first implementation, requires changing the code each time we add features.</a:t>
            </a:r>
          </a:p>
          <a:p>
            <a:r>
              <a:rPr lang="en-US"/>
              <a:t>A for loop can add as many terms as needed, but it still describes the calculations one at a time.</a:t>
            </a:r>
          </a:p>
          <a:p>
            <a:r>
              <a:rPr lang="en-US"/>
              <a:t>NumPy's np.dot(w,x) expresses the matching multiplications and their sum as one array operation.</a:t>
            </a:r>
          </a:p>
          <a:p>
            <a:r>
              <a:rPr lang="en-US"/>
              <a:t>Adding b gives np.dot(w,x)+b, corresponding to the mathematical expression w·x+b.</a:t>
            </a:r>
          </a:p>
          <a:p>
            <a:r>
              <a:rPr lang="en-US"/>
              <a:t>All three implementations perform the same calculation and give the same answer.</a:t>
            </a:r>
          </a:p>
          <a:p>
            <a:r>
              <a:rPr lang="en-US"/>
              <a:t>Remember that mathematics calls the first input x₁, while Python retrieves the first array item as x[0].</a:t>
            </a:r>
          </a:p>
          <a:p>
            <a:r>
              <a:rPr lang="en-US"/>
              <a:t>Vectorization implements the same prediction formula in an array-oriented form, rather than introducing a new formula.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There is an important reason to use vectorization beyond making code shorter.</a:t>
            </a:r>
          </a:p>
          <a:p>
            <a:r>
              <a:rPr lang="en-US"/>
              <a:t>It lets us ask the computer to process many numbers efficiently.</a:t>
            </a:r>
          </a:p>
          <a:p>
            <a:r>
              <a:rPr lang="en-US"/>
              <a:t>This diagram compares requesting calculations with a loop and requesting them as array operations.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left-hand diagram shows the products at each position being processed one by one in a loop over time.</a:t>
            </a:r>
          </a:p>
          <a:p>
            <a:r>
              <a:rPr lang="en-US"/>
              <a:t>It calculates the first product, then the next, and gathers the results in that sequence.</a:t>
            </a:r>
          </a:p>
          <a:p>
            <a:r>
              <a:rPr lang="en-US"/>
              <a:t>The right-hand diagram shows an array operation processing several values together.</a:t>
            </a:r>
          </a:p>
          <a:p>
            <a:r>
              <a:rPr lang="en-US"/>
              <a:t>It is like providing the whole list of numbers at once, rather than requesting each calculation separately.</a:t>
            </a:r>
          </a:p>
          <a:p>
            <a:r>
              <a:rPr lang="en-US"/>
              <a:t>A library such as NumPy can then use efficiently implemented operations and the hardware's processing capabilities.</a:t>
            </a:r>
          </a:p>
          <a:p>
            <a:r>
              <a:rPr lang="en-US"/>
              <a:t>The diagram does not mean every calculation literally finishes at the same instant.</a:t>
            </a:r>
          </a:p>
          <a:p>
            <a:r>
              <a:rPr lang="en-US"/>
              <a:t>The actual execution and speed depend on array size, the library, and the computer.</a:t>
            </a:r>
          </a:p>
          <a:p>
            <a:r>
              <a:rPr lang="en-US"/>
              <a:t>Using np.dot also does not automatically mean a GPU is being used.</a:t>
            </a:r>
          </a:p>
          <a:p>
            <a:r>
              <a:rPr lang="en-US"/>
              <a:t>Remember that array operations provide a concise way to describe large numerical computations and have them carried out efficiently.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Vectorization can be used for gradient descent as well as prediction.</a:t>
            </a:r>
          </a:p>
          <a:p>
            <a:r>
              <a:rPr lang="en-US"/>
              <a:t>The diagram places 16 weights in w and the corresponding 16 derivatives in d.</a:t>
            </a:r>
          </a:p>
          <a:p>
            <a:r>
              <a:rPr lang="en-US"/>
              <a:t>The first value of d contains information about the direction and amount of change for the first weight.</a:t>
            </a:r>
          </a:p>
          <a:p>
            <a:r>
              <a:rPr lang="en-US"/>
              <a:t>If the learning rate is 0.1, subtract 0.1 times each weight's own derivative from that weight.</a:t>
            </a:r>
          </a:p>
          <a:p>
            <a:r>
              <a:rPr lang="en-US"/>
              <a:t>A loop applies the same update expression 16 times while changing the index.</a:t>
            </a:r>
          </a:p>
          <a:p>
            <a:r>
              <a:rPr lang="en-US"/>
              <a:t>With arrays, w=w−0.1×d expresses those corresponding calculations together.</a:t>
            </a:r>
          </a:p>
          <a:p>
            <a:r>
              <a:rPr lang="en-US"/>
              <a:t>The values in d must have been calculated in advance at the current weights.</a:t>
            </a:r>
          </a:p>
          <a:p>
            <a:r>
              <a:rPr lang="en-US"/>
              <a:t>This code does not let us skip the calculation of the derivatives themselves.</a:t>
            </a:r>
          </a:p>
          <a:p>
            <a:r>
              <a:rPr lang="en-US"/>
              <a:t>The diagram focuses on updating the weight vector; b is separately updated using its own derivative.</a:t>
            </a:r>
          </a:p>
          <a:p>
            <a:r>
              <a:rPr lang="en-US"/>
              <a:t>The gradient-descent rule is unchanged; only its representation for several weights differs.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we will train a model that uses several features.</a:t>
            </a:r>
          </a:p>
          <a:p>
            <a:r>
              <a:rPr lang="en-US"/>
              <a:t>We need to make predictions with the model, calculate the cost, and update each parameter.</a:t>
            </a:r>
          </a:p>
          <a:p>
            <a:r>
              <a:rPr lang="en-US"/>
              <a:t>We will retain the single-input sequence and extend the part that now contains several weights.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left-hand formula writes every input and weight separately, while the right-hand formula collects them into vectors.</a:t>
            </a:r>
          </a:p>
          <a:p>
            <a:r>
              <a:rPr lang="en-US"/>
              <a:t>Either form takes one house's inputs and calculates one prediction.</a:t>
            </a:r>
          </a:p>
          <a:p>
            <a:r>
              <a:rPr lang="en-US"/>
              <a:t>The cost function subtracts the actual price from each house's predicted price, squares the result, and adds these terms.</a:t>
            </a:r>
          </a:p>
          <a:p>
            <a:r>
              <a:rPr lang="en-US"/>
              <a:t>As before, we add the squared errors for m houses and divide by 2m.</a:t>
            </a:r>
          </a:p>
          <a:p>
            <a:r>
              <a:rPr lang="en-US"/>
              <a:t>Having more inputs does not make the target y or the prediction a vector.</a:t>
            </a:r>
          </a:p>
          <a:p>
            <a:r>
              <a:rPr lang="en-US"/>
              <a:t>What changes is the set of cost-adjustment controls: instead of one w and b, we have several weights and b.</a:t>
            </a:r>
          </a:p>
          <a:p>
            <a:r>
              <a:rPr lang="en-US"/>
              <a:t>With two weights, we must find w₁, w₂, and b together.</a:t>
            </a:r>
          </a:p>
          <a:p>
            <a:r>
              <a:rPr lang="en-US"/>
              <a:t>Think of this as extending the bowl-shaped cost we have drawn into more directions.</a:t>
            </a:r>
          </a:p>
          <a:p>
            <a:r>
              <a:rPr lang="en-US"/>
              <a:t>Although high-dimensional problems are hard to draw completely, the derivative-based update rule still applies.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With one input, the derivative for w was the average prediction error multiplied by x.</a:t>
            </a:r>
          </a:p>
          <a:p>
            <a:r>
              <a:rPr lang="en-US"/>
              <a:t>For the jth weight wⱼ, multiply each example's prediction error by its jth input xⱼ.</a:t>
            </a:r>
          </a:p>
          <a:p>
            <a:r>
              <a:rPr lang="en-US"/>
              <a:t>Adding these results over m examples and dividing by m gives the derivative for that weight.</a:t>
            </a:r>
          </a:p>
          <a:p>
            <a:r>
              <a:rPr lang="en-US"/>
              <a:t>The prediction errors are shared, but each weight's derivative differs because it multiplies a different feature.</a:t>
            </a:r>
          </a:p>
          <a:p>
            <a:r>
              <a:rPr lang="en-US"/>
              <a:t>For b, average the prediction errors without multiplying an input.</a:t>
            </a:r>
          </a:p>
          <a:p>
            <a:r>
              <a:rPr lang="en-US"/>
              <a:t>In this expression, i identifies the house and j identifies the feature.</a:t>
            </a:r>
          </a:p>
          <a:p>
            <a:r>
              <a:rPr lang="en-US"/>
              <a:t>First use all the current w values and b to calculate prediction errors, then calculate every derivative at that same state.</a:t>
            </a:r>
          </a:p>
          <a:p>
            <a:r>
              <a:rPr lang="en-US"/>
              <a:t>Next, subtract the learning rate times each parameter's own derivative from that parameter.</a:t>
            </a:r>
          </a:p>
          <a:p>
            <a:r>
              <a:rPr lang="en-US"/>
              <a:t>This differs from updating w₁ and then using its new value to calculate w₂'s derivative.</a:t>
            </a:r>
          </a:p>
          <a:p>
            <a:r>
              <a:rPr lang="en-US"/>
              <a:t>Within one update, every parameter must use a derivative calculated from the same starting position.</a:t>
            </a:r>
          </a:p>
          <a:p>
            <a:r>
              <a:rPr lang="en-US"/>
              <a:t>Repeating this calculation moves toward lower cost while using several inputs together.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Besides gradient descent, linear regression has methods that solve for parameters using equations.</a:t>
            </a:r>
          </a:p>
          <a:p>
            <a:r>
              <a:rPr lang="en-US"/>
              <a:t>This slide introduces one as the normal equation.</a:t>
            </a:r>
          </a:p>
          <a:p>
            <a:r>
              <a:rPr lang="en-US"/>
              <a:t>Instead of moving in small steps, it uses the mathematical structure of linear regression to obtain parameters.</a:t>
            </a:r>
          </a:p>
          <a:p>
            <a:r>
              <a:rPr lang="en-US"/>
              <a:t>An advantage is that it does not require choosing a learning rate or iteration count.</a:t>
            </a:r>
          </a:p>
          <a:p>
            <a:r>
              <a:rPr lang="en-US"/>
              <a:t>However, the associated matrix calculations can become expensive when there are very many features.</a:t>
            </a:r>
          </a:p>
          <a:p>
            <a:r>
              <a:rPr lang="en-US"/>
              <a:t>Treat the slide's figure of 10,000 as an example illustrating a problem at larger scales.</a:t>
            </a:r>
          </a:p>
          <a:p>
            <a:r>
              <a:rPr lang="en-US"/>
              <a:t>The same method also does not apply to every model.</a:t>
            </a:r>
          </a:p>
          <a:p>
            <a:r>
              <a:rPr lang="en-US"/>
              <a:t>Library implementations of linear regression can use several numerical methods, so they do not necessarily evaluate one fixed formula directly.</a:t>
            </a:r>
          </a:p>
          <a:p>
            <a:r>
              <a:rPr lang="en-US"/>
              <a:t>We will focus on gradient descent because it also connects to logistic regression and neural networks later.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Training can take unnecessarily long even when the model and update expressions are correct.</a:t>
            </a:r>
          </a:p>
          <a:p>
            <a:r>
              <a:rPr lang="en-US"/>
              <a:t>One cause is large differences in the numerical scales of the inputs.</a:t>
            </a:r>
          </a:p>
          <a:p>
            <a:r>
              <a:rPr lang="en-US"/>
              <a:t>Feature scaling adjusts these differences to help gradient descent move more easily.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House sizes range from hundreds to thousands, while room counts are usually only a few.</a:t>
            </a:r>
          </a:p>
          <a:p>
            <a:r>
              <a:rPr lang="en-US"/>
              <a:t>The two inputs begin with very different numerical ranges.</a:t>
            </a:r>
          </a:p>
          <a:p>
            <a:r>
              <a:rPr lang="en-US"/>
              <a:t>For a house with size 2000 and 5 rooms, substitute w₁=50, w₂=0.1, and b=50.</a:t>
            </a:r>
          </a:p>
          <a:p>
            <a:r>
              <a:rPr lang="en-US"/>
              <a:t>The prediction is 50×2000+0.1×5+50, giving 100050.5 in units of thousands of dollars.</a:t>
            </a:r>
          </a:p>
          <a:p>
            <a:r>
              <a:rPr lang="en-US"/>
              <a:t>Conversely, w₁=0.1, w₂=50, and b=50 give 200+250+50=500.</a:t>
            </a:r>
          </a:p>
          <a:p>
            <a:r>
              <a:rPr lang="en-US"/>
              <a:t>The second combination predicts $500,000, matching the actual price in this example.</a:t>
            </a:r>
          </a:p>
          <a:p>
            <a:r>
              <a:rPr lang="en-US"/>
              <a:t>We can see that a numerically large input may need a relatively small weight, while a numerically small input may need a relatively large weight.</a:t>
            </a:r>
          </a:p>
          <a:p>
            <a:r>
              <a:rPr lang="en-US"/>
              <a:t>Therefore, do not compare weights alone to decide which feature is more important.</a:t>
            </a:r>
          </a:p>
          <a:p>
            <a:r>
              <a:rPr lang="en-US"/>
              <a:t>The input's units and range also affect the magnitude of its weight.</a:t>
            </a:r>
          </a:p>
          <a:p>
            <a:r>
              <a:rPr lang="en-US"/>
              <a:t>This difference also affects the cost landscape through which gradient descent moves.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horizontal and vertical axes here are weights w₁ and w₂, not house size and room count.</a:t>
            </a:r>
          </a:p>
          <a:p>
            <a:r>
              <a:rPr lang="en-US"/>
              <a:t>Each contour connects weight combinations with equal cost.</a:t>
            </a:r>
          </a:p>
          <a:p>
            <a:r>
              <a:rPr lang="en-US"/>
              <a:t>A small change in a weight multiplying a large input, such as house size, can produce a large prediction change.</a:t>
            </a:r>
          </a:p>
          <a:p>
            <a:r>
              <a:rPr lang="en-US"/>
              <a:t>Cost can then be sensitive to movement in that weight's direction.</a:t>
            </a:r>
          </a:p>
          <a:p>
            <a:r>
              <a:rPr lang="en-US"/>
              <a:t>In the other direction, a larger weight change may be needed to produce a similar cost change.</a:t>
            </a:r>
          </a:p>
          <a:p>
            <a:r>
              <a:rPr lang="en-US"/>
              <a:t>The contours become long and narrow rather than approximately circular.</a:t>
            </a:r>
          </a:p>
          <a:p>
            <a:r>
              <a:rPr lang="en-US"/>
              <a:t>Imagine descending a long, narrow valley.</a:t>
            </a:r>
          </a:p>
          <a:p>
            <a:r>
              <a:rPr lang="en-US"/>
              <a:t>You need to move carefully across its steep sides, yet progress along the floor can be slow.</a:t>
            </a:r>
          </a:p>
          <a:p>
            <a:r>
              <a:rPr lang="en-US"/>
              <a:t>This shape is connected to gradient descent's zigzag movement.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On the left, gradient descent travels downward while crossing back and forth across a narrow valley.</a:t>
            </a:r>
          </a:p>
          <a:p>
            <a:r>
              <a:rPr lang="en-US"/>
              <a:t>A large learning rate may overshoot to the opposite side, while a small one may take a long time to reach the goal.</a:t>
            </a:r>
          </a:p>
          <a:p>
            <a:r>
              <a:rPr lang="en-US"/>
              <a:t>On the right, the features have been adjusted to similar numerical scales.</a:t>
            </a:r>
          </a:p>
          <a:p>
            <a:r>
              <a:rPr lang="en-US"/>
              <a:t>This can reduce differences in sensitivity across weight directions and produce more balanced contours.</a:t>
            </a:r>
          </a:p>
          <a:p>
            <a:r>
              <a:rPr lang="en-US"/>
              <a:t>The movement can then approach the same goal with less unnecessary zigzagging.</a:t>
            </a:r>
          </a:p>
          <a:p>
            <a:r>
              <a:rPr lang="en-US"/>
              <a:t>Feature scaling changes the numerical units used to represent inputs, rather than changing the target house prices.</a:t>
            </a:r>
          </a:p>
          <a:p>
            <a:r>
              <a:rPr lang="en-US"/>
              <a:t>It is like expressing a length in centimeters instead of meters without changing the object itself.</a:t>
            </a:r>
          </a:p>
          <a:p>
            <a:r>
              <a:rPr lang="en-US"/>
              <a:t>Of course, if inputs are strongly related, scaling alone will not make the contours perfect circles.</a:t>
            </a:r>
          </a:p>
          <a:p>
            <a:r>
              <a:rPr lang="en-US"/>
              <a:t>The aim is to reduce scale differences that make training difficult, rather than to force every plot into the same shape.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There are several methods of feature scaling.</a:t>
            </a:r>
          </a:p>
          <a:p>
            <a:r>
              <a:rPr lang="en-US"/>
              <a:t>We will look in order at dividing by a maximum, subtracting a mean, and using a standard deviation.</a:t>
            </a:r>
          </a:p>
          <a:p>
            <a:r>
              <a:rPr lang="en-US"/>
              <a:t>Instead of only memorizing the expressions, watch how changing one input affects its numerical range and center.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 simple approach divides each feature by a representative large value of that feature.</a:t>
            </a:r>
          </a:p>
          <a:p>
            <a:r>
              <a:rPr lang="en-US"/>
              <a:t>If the maximum house size is 2000, divide the sizes by 2000.</a:t>
            </a:r>
          </a:p>
          <a:p>
            <a:r>
              <a:rPr lang="en-US"/>
              <a:t>A house of size 1000 becomes 0.5, and one of size 2000 becomes 1.</a:t>
            </a:r>
          </a:p>
          <a:p>
            <a:r>
              <a:rPr lang="en-US"/>
              <a:t>If the maximum room count is 5, divide room counts by 5, making 3 rooms become 0.6.</a:t>
            </a:r>
          </a:p>
          <a:p>
            <a:r>
              <a:rPr lang="en-US"/>
              <a:t>An original size range of 300 to 2000 becomes 0.15 to 1.</a:t>
            </a:r>
          </a:p>
          <a:p>
            <a:r>
              <a:rPr lang="en-US"/>
              <a:t>The room-count range changes from 0 to 5 into 0 to 1.</a:t>
            </a:r>
          </a:p>
          <a:p>
            <a:r>
              <a:rPr lang="en-US"/>
              <a:t>Even without identical ranges, the resulting numerical scales are much more similar.</a:t>
            </a:r>
          </a:p>
          <a:p>
            <a:r>
              <a:rPr lang="en-US"/>
              <a:t>The ordering is preserved too: larger houses still have larger values than smaller houses.</a:t>
            </a:r>
          </a:p>
          <a:p>
            <a:r>
              <a:rPr lang="en-US"/>
              <a:t>When predicting a new house, divide by the same training values, 2000 and 5, to express its inputs on the same basis.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time, we will subtract each feature's mean before dividing.</a:t>
            </a:r>
          </a:p>
          <a:p>
            <a:r>
              <a:rPr lang="en-US"/>
              <a:t>This is mean normalization; the slide divides the centered value by the difference between the maximum and minimum.</a:t>
            </a:r>
          </a:p>
          <a:p>
            <a:r>
              <a:rPr lang="en-US"/>
              <a:t>If the mean house size is 600, a house of size 600 moves to 0.</a:t>
            </a:r>
          </a:p>
          <a:p>
            <a:r>
              <a:rPr lang="en-US"/>
              <a:t>Houses below the mean become negative, and those above the mean become positive.</a:t>
            </a:r>
          </a:p>
          <a:p>
            <a:r>
              <a:rPr lang="en-US"/>
              <a:t>Size 300 becomes (300−600)/(2000−300), or about −0.18.</a:t>
            </a:r>
          </a:p>
          <a:p>
            <a:r>
              <a:rPr lang="en-US"/>
              <a:t>Size 2000 becomes about 0.82 using the same expression.</a:t>
            </a:r>
          </a:p>
          <a:p>
            <a:r>
              <a:rPr lang="en-US"/>
              <a:t>Subtracting the mean room count 2.3 and dividing by its range 5 changes its range to about −0.46 to 0.54.</a:t>
            </a:r>
          </a:p>
          <a:p>
            <a:r>
              <a:rPr lang="en-US"/>
              <a:t>A negative value does not mean a house literally has a negative number of rooms; it means fewer rooms than average.</a:t>
            </a:r>
          </a:p>
          <a:p>
            <a:r>
              <a:rPr lang="en-US"/>
              <a:t>Subtracting the mean shifts the center, while dividing by the range adjusts the numerical scale.</a:t>
            </a:r>
          </a:p>
          <a:p>
            <a:r>
              <a:rPr lang="en-US"/>
              <a:t>The transformed values therefore do not have to reach both −1 and 1 or be symmetric around 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Z-score normalization also starts by subtracting the mean, but divides by standard deviation σ instead of the range.</a:t>
            </a:r>
          </a:p>
          <a:p>
            <a:r>
              <a:rPr lang="en-US"/>
              <a:t>Standard deviation measures how spread out values are around their mean.</a:t>
            </a:r>
          </a:p>
          <a:p>
            <a:r>
              <a:rPr lang="en-US"/>
              <a:t>If house size has mean 600 and standard deviation 450, size 1050 becomes 1 because it is one standard deviation above the mean.</a:t>
            </a:r>
          </a:p>
          <a:p>
            <a:r>
              <a:rPr lang="en-US"/>
              <a:t>Size 300 becomes (300−600)/450, or about −0.67.</a:t>
            </a:r>
          </a:p>
          <a:p>
            <a:r>
              <a:rPr lang="en-US"/>
              <a:t>Size 2000 becomes about 3.1, showing that this method does not always produce values between −1 and 1.</a:t>
            </a:r>
          </a:p>
          <a:p>
            <a:r>
              <a:rPr lang="en-US"/>
              <a:t>Room counts separately use that feature's mean 2.3 and standard deviation 1.4.</a:t>
            </a:r>
          </a:p>
          <a:p>
            <a:r>
              <a:rPr lang="en-US"/>
              <a:t>We do not use the same mean or standard deviation for house size and room count.</a:t>
            </a:r>
          </a:p>
          <a:p>
            <a:r>
              <a:rPr lang="en-US"/>
              <a:t>The transformation lets us compare how far each value lies from its own feature's mean using a similar basis.</a:t>
            </a:r>
          </a:p>
          <a:p>
            <a:r>
              <a:rPr lang="en-US"/>
              <a:t>It does not automatically turn the data distribution itself into a bell curve.</a:t>
            </a:r>
          </a:p>
          <a:p>
            <a:r>
              <a:rPr lang="en-US"/>
              <a:t>Store the mean and standard deviation calculated from training data and apply those same values to new inputs.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Feature scaling does not aim to force every input into one exact interval.</a:t>
            </a:r>
          </a:p>
          <a:p>
            <a:r>
              <a:rPr lang="en-US"/>
              <a:t>If scales are broadly similar, ranges such as −1 to 1 or −3 to 3 can both work.</a:t>
            </a:r>
          </a:p>
          <a:p>
            <a:r>
              <a:rPr lang="en-US"/>
              <a:t>On the other hand, an input in the hundreds and another around 0.001 have very different scales.</a:t>
            </a:r>
          </a:p>
          <a:p>
            <a:r>
              <a:rPr lang="en-US"/>
              <a:t>In that situation, there is a clear reason to apply scaling.</a:t>
            </a:r>
          </a:p>
          <a:p>
            <a:r>
              <a:rPr lang="en-US"/>
              <a:t>Some features, such as body temperature, may have only small differences while their values cluster around 100.</a:t>
            </a:r>
          </a:p>
          <a:p>
            <a:r>
              <a:rPr lang="en-US"/>
              <a:t>Subtracting the mean to shift the center can help in that situation.</a:t>
            </a:r>
          </a:p>
          <a:p>
            <a:r>
              <a:rPr lang="en-US"/>
              <a:t>Whatever method you choose, determine the reference values separately for each feature and use the same references during training and prediction.</a:t>
            </a:r>
          </a:p>
          <a:p>
            <a:r>
              <a:rPr lang="en-US"/>
              <a:t>You do not need to memorize that a particular formula must always be applied even to inputs with similar ranges.</a:t>
            </a:r>
          </a:p>
          <a:p>
            <a:r>
              <a:rPr lang="en-US"/>
              <a:t>First examine the actual input values and judge whether their scales are convenient for gradient descent.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we will see how to check whether training is progressing well.</a:t>
            </a:r>
          </a:p>
          <a:p>
            <a:r>
              <a:rPr lang="en-US"/>
              <a:t>Running gradient descent does not by itself establish that we obtained the desired result.</a:t>
            </a:r>
          </a:p>
          <a:p>
            <a:r>
              <a:rPr lang="en-US"/>
              <a:t>Recording how the cost changes on each iteration lets us inspect the training process.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expression on the screen is the gradient-descent update rule we have been using.</a:t>
            </a:r>
          </a:p>
          <a:p>
            <a:r>
              <a:rPr lang="en-US"/>
              <a:t>Calculate derivatives at the current parameters, multiply by learning rate α, and subtract.</a:t>
            </a:r>
          </a:p>
          <a:p>
            <a:r>
              <a:rPr lang="en-US"/>
              <a:t>Applying this to every weight and b completes one update.</a:t>
            </a:r>
          </a:p>
          <a:p>
            <a:r>
              <a:rPr lang="en-US"/>
              <a:t>We can then calculate the cost over all the training data using the new parameters.</a:t>
            </a:r>
          </a:p>
          <a:p>
            <a:r>
              <a:rPr lang="en-US"/>
              <a:t>Record that cost, update again, and record the cost again, repeating this sequence.</a:t>
            </a:r>
          </a:p>
          <a:p>
            <a:r>
              <a:rPr lang="en-US"/>
              <a:t>This provides a numerical record of whether prediction errors decrease as training progresses.</a:t>
            </a:r>
          </a:p>
          <a:p>
            <a:r>
              <a:rPr lang="en-US"/>
              <a:t>In particular, examine the actual cost changes rather than trusting the update expression alone to establish that α is appropriate.</a:t>
            </a:r>
          </a:p>
          <a:p>
            <a:r>
              <a:rPr lang="en-US"/>
              <a:t>The next graph plots exactly this record in chronological order.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horizontal axis of this graph shows the number of gradient-descent iterations, rather than w.</a:t>
            </a:r>
          </a:p>
          <a:p>
            <a:r>
              <a:rPr lang="en-US"/>
              <a:t>The vertical axis is the cost J calculated at each iteration.</a:t>
            </a:r>
          </a:p>
          <a:p>
            <a:r>
              <a:rPr lang="en-US"/>
              <a:t>Where J(w) described a landscape over parameter values, this graph records the costs encountered during training.</a:t>
            </a:r>
          </a:p>
          <a:p>
            <a:r>
              <a:rPr lang="en-US"/>
              <a:t>Cost initially falls quickly, then decreases by smaller amounts as iterations continue.</a:t>
            </a:r>
          </a:p>
          <a:p>
            <a:r>
              <a:rPr lang="en-US"/>
              <a:t>This decreasing trend is what we can expect from batch gradient descent with an appropriate learning rate.</a:t>
            </a:r>
          </a:p>
          <a:p>
            <a:r>
              <a:rPr lang="en-US"/>
              <a:t>The slide's automatic stopping method stops when one update reduces the cost by only a tiny amount.</a:t>
            </a:r>
          </a:p>
          <a:p>
            <a:r>
              <a:rPr lang="en-US"/>
              <a:t>For example, it could check whether the decrease is below 0.001, but the appropriate threshold depends on the cost's scale and the problem.</a:t>
            </a:r>
          </a:p>
          <a:p>
            <a:r>
              <a:rPr lang="en-US"/>
              <a:t>A very small learning rate can also make cost barely change, so a flat curve does not always establish that a good solution has been reached.</a:t>
            </a:r>
          </a:p>
          <a:p>
            <a:r>
              <a:rPr lang="en-US"/>
              <a:t>Consider the size of the decrease, the final cost, and whether training has run for enough iterations.</a:t>
            </a:r>
          </a:p>
          <a:p>
            <a:r>
              <a:rPr lang="en-US"/>
              <a:t>This graph also measures fit to the training data; performance on new data must be checked separately.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learning rate controls how strongly a derivative contributes to one update.</a:t>
            </a:r>
          </a:p>
          <a:p>
            <a:r>
              <a:rPr lang="en-US"/>
              <a:t>If it is too large, descent can become unstable; if it is too small, training can take a long time.</a:t>
            </a:r>
          </a:p>
          <a:p>
            <a:r>
              <a:rPr lang="en-US"/>
              <a:t>We will now use cost graphs to look for an appropriate value.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If the cost increases over iterations or swings sharply up and down, as on the left, training is not progressing well.</a:t>
            </a:r>
          </a:p>
          <a:p>
            <a:r>
              <a:rPr lang="en-US"/>
              <a:t>In the diagram on the right, one step is too large and crosses over the minimum to the other side.</a:t>
            </a:r>
          </a:p>
          <a:p>
            <a:r>
              <a:rPr lang="en-US"/>
              <a:t>If the next step is also too large, repeated crossings can take the parameters farther away.</a:t>
            </a:r>
          </a:p>
          <a:p>
            <a:r>
              <a:rPr lang="en-US"/>
              <a:t>In this case, try reducing the learning rate.</a:t>
            </a:r>
          </a:p>
          <a:p>
            <a:r>
              <a:rPr lang="en-US"/>
              <a:t>However, the learning rate is not the only possible reason for an increasing cost.</a:t>
            </a:r>
          </a:p>
          <a:p>
            <a:r>
              <a:rPr lang="en-US"/>
              <a:t>The implementation may add a value that should be subtracted, or calculate a derivative incorrectly.</a:t>
            </a:r>
          </a:p>
          <a:p>
            <a:r>
              <a:rPr lang="en-US"/>
              <a:t>If the cost fails to decrease in the expected direction even with a very small learning rate, inspect the code and arithmetic.</a:t>
            </a:r>
          </a:p>
          <a:p>
            <a:r>
              <a:rPr lang="en-US"/>
              <a:t>Using a small value to check for a decrease is a diagnostic method, rather than a rule to use the smallest value permanently.</a:t>
            </a:r>
          </a:p>
          <a:p>
            <a:r>
              <a:rPr lang="en-US"/>
              <a:t>Here, we interpret these graphs for batch gradient descent, which uses the whole training dataset at each step.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When choosing a learning rate, try values that increase by roughly a factor of three, such as 0.001, 0.003, 0.01, and 0.03.</a:t>
            </a:r>
          </a:p>
          <a:p>
            <a:r>
              <a:rPr lang="en-US"/>
              <a:t>Rather than trying every value at tiny intervals, first search a broad range for a suitable order of magnitude.</a:t>
            </a:r>
          </a:p>
          <a:p>
            <a:r>
              <a:rPr lang="en-US"/>
              <a:t>When comparing candidates, keep the data, starting parameters, and iteration count the same.</a:t>
            </a:r>
          </a:p>
          <a:p>
            <a:r>
              <a:rPr lang="en-US"/>
              <a:t>Then examine whether cost decreases steadily and how quickly it falls within the same number of iterations.</a:t>
            </a:r>
          </a:p>
          <a:p>
            <a:r>
              <a:rPr lang="en-US"/>
              <a:t>A very small α may be stable but make the graph descend slowly.</a:t>
            </a:r>
          </a:p>
          <a:p>
            <a:r>
              <a:rPr lang="en-US"/>
              <a:t>A large α may descend quickly before becoming unstable, or raise the cost from the start.</a:t>
            </a:r>
          </a:p>
          <a:p>
            <a:r>
              <a:rPr lang="en-US"/>
              <a:t>We want a value that reduces cost both steadily and reasonably quickly.</a:t>
            </a:r>
          </a:p>
          <a:p>
            <a:r>
              <a:rPr lang="en-US"/>
              <a:t>Develop the habit of choosing from evidence in the cost graph, rather than memorizing one number as the answer to every problem.</a:t>
            </a:r>
          </a:p>
          <a:p>
            <a:r>
              <a:rPr lang="en-US"/>
              <a:t>Also remember that changing feature scaling can change which learning rate is appropriate.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So far, we have used the given features directly.</a:t>
            </a:r>
          </a:p>
          <a:p>
            <a:r>
              <a:rPr lang="en-US"/>
              <a:t>Combining the original inputs into new features can let a model express more useful relationships.</a:t>
            </a:r>
          </a:p>
          <a:p>
            <a:r>
              <a:rPr lang="en-US"/>
              <a:t>This is called feature engineering: designing which numbers to show the model.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In this example, the inputs are a plot of land's frontage width and depth.</a:t>
            </a:r>
          </a:p>
          <a:p>
            <a:r>
              <a:rPr lang="en-US"/>
              <a:t>Initially, we can predict its price by weighting width x₁ and depth x₂ separately.</a:t>
            </a:r>
          </a:p>
          <a:p>
            <a:r>
              <a:rPr lang="en-US"/>
              <a:t>However, even at a fixed depth, the area added by a change in width depends on the land's dimensions.</a:t>
            </a:r>
          </a:p>
          <a:p>
            <a:r>
              <a:rPr lang="en-US"/>
              <a:t>Simply adding separate effects for width and depth may not represent this relationship adequately.</a:t>
            </a:r>
          </a:p>
          <a:p>
            <a:r>
              <a:rPr lang="en-US"/>
              <a:t>Creating the new feature x₃=x₁×x₂ lets us provide the land's area as an input.</a:t>
            </a:r>
          </a:p>
          <a:p>
            <a:r>
              <a:rPr lang="en-US"/>
              <a:t>We calculate area from two inputs we already have, rather than obtaining it from the target price.</a:t>
            </a:r>
          </a:p>
          <a:p>
            <a:r>
              <a:rPr lang="en-US"/>
              <a:t>The model can use width, depth, and area together and learn their respective weights.</a:t>
            </a:r>
          </a:p>
          <a:p>
            <a:r>
              <a:rPr lang="en-US"/>
              <a:t>A person proposes that an area representation might help, while the data determines how strongly it contributes.</a:t>
            </a:r>
          </a:p>
          <a:p>
            <a:r>
              <a:rPr lang="en-US"/>
              <a:t>Adding a feature does not guarantee better predictions, so actual performance must also be checked.</a:t>
            </a:r>
          </a:p>
          <a:p>
            <a:r>
              <a:rPr lang="en-US"/>
              <a:t>The key is that, even with the same raw data, the numerical representation can change which relationships are easy for the model to learn.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Feature engineering can let linear regression represent curved relationships too.</a:t>
            </a:r>
          </a:p>
          <a:p>
            <a:r>
              <a:rPr lang="en-US"/>
              <a:t>One approach makes x² or x³ into additional features alongside x itself.</a:t>
            </a:r>
          </a:p>
          <a:p>
            <a:r>
              <a:rPr lang="en-US"/>
              <a:t>A model using these polynomial terms is called polynomial regression.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Suppose a single straight line does not fit the relationship between house size and price well.</a:t>
            </a:r>
          </a:p>
          <a:p>
            <a:r>
              <a:rPr lang="en-US"/>
              <a:t>Adding x² lets us construct a curve such as f(x)=w₁x+w₂x²+b.</a:t>
            </a:r>
          </a:p>
          <a:p>
            <a:r>
              <a:rPr lang="en-US"/>
              <a:t>The quadratic curve on the slide turns downward beyond a certain point, which may not match the relationship we expect.</a:t>
            </a:r>
          </a:p>
          <a:p>
            <a:r>
              <a:rPr lang="en-US"/>
              <a:t>Adding x³ allows a wider variety of curve shapes.</a:t>
            </a:r>
          </a:p>
          <a:p>
            <a:r>
              <a:rPr lang="en-US"/>
              <a:t>We calculate x² and x³ as separate features and provide them to the model.</a:t>
            </a:r>
          </a:p>
          <a:p>
            <a:r>
              <a:rPr lang="en-US"/>
              <a:t>The name linear regression applies because the weights multiply features and are added linearly, rather than being multiplied together or squared themselves.</a:t>
            </a:r>
          </a:p>
          <a:p>
            <a:r>
              <a:rPr lang="en-US"/>
              <a:t>Thus, even if the model is curved with respect to input x, we can use the weight-update method we have learned.</a:t>
            </a:r>
          </a:p>
          <a:p>
            <a:r>
              <a:rPr lang="en-US"/>
              <a:t>If size x is 1000, x² is one million and x³ is one billion, making the scale differences even larger.</a:t>
            </a:r>
          </a:p>
          <a:p>
            <a:r>
              <a:rPr lang="en-US"/>
              <a:t>Feature scaling becomes especially important when we create these inputs.</a:t>
            </a:r>
          </a:p>
          <a:p>
            <a:r>
              <a:rPr lang="en-US"/>
              <a:t>Adding more terms does not always produce a better model; next week we will study the problem of excessive complexity.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 new feature does not have to be a square or a cube.</a:t>
            </a:r>
          </a:p>
          <a:p>
            <a:r>
              <a:rPr lang="en-US"/>
              <a:t>For example, √x can help express a relationship whose increase becomes smaller as x grows.</a:t>
            </a:r>
          </a:p>
          <a:p>
            <a:r>
              <a:rPr lang="en-US"/>
              <a:t>The function √x keeps increasing, but its curve becomes progressively gentler.</a:t>
            </a:r>
          </a:p>
          <a:p>
            <a:r>
              <a:rPr lang="en-US"/>
              <a:t>However, the final prediction also depends on the other terms and their weights, so adding √x does not force the whole model to have that same shape.</a:t>
            </a:r>
          </a:p>
          <a:p>
            <a:r>
              <a:rPr lang="en-US"/>
              <a:t>Choose suitable representations using both your understanding of the problem and evaluation on actual data.</a:t>
            </a:r>
          </a:p>
          <a:p>
            <a:r>
              <a:rPr lang="en-US"/>
              <a:t>This week's methods connect to representing inputs well and learning weights while reducing cost steadily.</a:t>
            </a:r>
          </a:p>
          <a:p>
            <a:r>
              <a:rPr lang="en-US"/>
              <a:t>Inputs may be multiple values or transformed features, but the basic training sequence remains the same.</a:t>
            </a:r>
          </a:p>
          <a:p>
            <a:r>
              <a:rPr lang="en-US"/>
              <a:t>Next, we will move from predicting continuous quantities such as house prices to classification: predicting membership in a category.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week, we will again use course materials from DeepLearning.AI and Stanford Online.</a:t>
            </a:r>
          </a:p>
          <a:p>
            <a:r>
              <a:rPr lang="en-US"/>
              <a:t>Starting from models that predict numerical values, we will examine models that distinguish categories and then study overfitting.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So far, we have predicted continuous numbers such as house prices.</a:t>
            </a:r>
          </a:p>
          <a:p>
            <a:r>
              <a:rPr lang="en-US"/>
              <a:t>Now we will predict one of a few categories, such as whether an email is spam or a transaction is legitimate.</a:t>
            </a:r>
          </a:p>
          <a:p>
            <a:r>
              <a:rPr lang="en-US"/>
              <a:t>First, we will see what problems arise if we use familiar linear regression directly.</a:t>
            </a:r>
          </a:p>
          <a:p>
            <a:r>
              <a:rPr lang="en-US"/>
              <a:t>Understanding its limits will explain why we need the logistic regression model that follows.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 problem with two possible answer categories, such as spam detection or fraud detection, is called binary classification.</a:t>
            </a:r>
          </a:p>
          <a:p>
            <a:r>
              <a:rPr lang="en-US"/>
              <a:t>We usually label the categories 0 and 1 to make them convenient for computation.</a:t>
            </a:r>
          </a:p>
          <a:p>
            <a:r>
              <a:rPr lang="en-US"/>
              <a:t>For example, we can assign 1 to spam and 0 to email that is not spam.</a:t>
            </a:r>
          </a:p>
          <a:p>
            <a:r>
              <a:rPr lang="en-US"/>
              <a:t>In the tumor example, 1 indicates malignancy and 0 indicates no malignancy.</a:t>
            </a:r>
          </a:p>
          <a:p>
            <a:r>
              <a:rPr lang="en-US"/>
              <a:t>Conventionally, 0 is called the negative class and 1 the positive class.</a:t>
            </a:r>
          </a:p>
          <a:p>
            <a:r>
              <a:rPr lang="en-US"/>
              <a:t>Positive does not mean a desirable outcome; it means that the property we chose to mark is present.</a:t>
            </a:r>
          </a:p>
          <a:p>
            <a:r>
              <a:rPr lang="en-US"/>
              <a:t>Spam or disease can be the positive class if that is what the task aims to detect.</a:t>
            </a:r>
          </a:p>
          <a:p>
            <a:r>
              <a:rPr lang="en-US"/>
              <a:t>The numbers 0 and 1 are labels naming categories; at this point they do not represent probabilities.</a:t>
            </a:r>
          </a:p>
          <a:p>
            <a:r>
              <a:rPr lang="en-US"/>
              <a:t>Our model needs to distinguish these two categories for new inputs.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In the upper graph, the horizontal axis is tumor size and the vertical axis is the actual label.</a:t>
            </a:r>
          </a:p>
          <a:p>
            <a:r>
              <a:rPr lang="en-US"/>
              <a:t>Nonmalignant examples appear at y=0, and malignant examples appear at y=1.</a:t>
            </a:r>
          </a:p>
          <a:p>
            <a:r>
              <a:rPr lang="en-US"/>
              <a:t>Unlike the house-price graph, this vertical axis has only two possible correct answers.</a:t>
            </a:r>
          </a:p>
          <a:p>
            <a:r>
              <a:rPr lang="en-US"/>
              <a:t>The lower diagram represents the same data on one line, using circles and crosses to distinguish the categories.</a:t>
            </a:r>
          </a:p>
          <a:p>
            <a:r>
              <a:rPr lang="en-US"/>
              <a:t>The points sharing a vertical position in the lower diagram does not mean their answers are the same.</a:t>
            </a:r>
          </a:p>
          <a:p>
            <a:r>
              <a:rPr lang="en-US"/>
              <a:t>Here the symbol shape communicates the category instead of vertical position.</a:t>
            </a:r>
          </a:p>
          <a:p>
            <a:r>
              <a:rPr lang="en-US"/>
              <a:t>In either representation, the input is size and the answer to predict is its corresponding category.</a:t>
            </a:r>
          </a:p>
          <a:p>
            <a:r>
              <a:rPr lang="en-US"/>
              <a:t>We now need a rule for choosing which label to predict for a new tumor size.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At first, we might think we can fit a straight line to this data too.</a:t>
            </a:r>
          </a:p>
          <a:p>
            <a:r>
              <a:rPr lang="en-US"/>
              <a:t>Suppose we predict 1 when the line's output is at least 0.5, and 0 when it is smaller.</a:t>
            </a:r>
          </a:p>
          <a:p>
            <a:r>
              <a:rPr lang="en-US"/>
              <a:t>The position where the line passes through height 0.5 then becomes the threshold separating the categories.</a:t>
            </a:r>
          </a:p>
          <a:p>
            <a:r>
              <a:rPr lang="en-US"/>
              <a:t>In the initial diagram, this rule appears to separate the data reasonably well.</a:t>
            </a:r>
          </a:p>
          <a:p>
            <a:r>
              <a:rPr lang="en-US"/>
              <a:t>What happens if we add one malignant example far to the right?</a:t>
            </a:r>
          </a:p>
          <a:p>
            <a:r>
              <a:rPr lang="en-US"/>
              <a:t>Linear regression tries to reduce squared errors including that new point, changing the line's slope and position.</a:t>
            </a:r>
          </a:p>
          <a:p>
            <a:r>
              <a:rPr lang="en-US"/>
              <a:t>The position where it reaches 0.5 also moves, potentially misclassifying points that were previously classified correctly.</a:t>
            </a:r>
          </a:p>
          <a:p>
            <a:r>
              <a:rPr lang="en-US"/>
              <a:t>The new example is simply farther to the right than existing malignant cases, yet it shifts a previously useful boundary.</a:t>
            </a:r>
          </a:p>
          <a:p>
            <a:r>
              <a:rPr lang="en-US"/>
              <a:t>The line can also output values below 0 or above 1, which makes those values difficult to interpret directly as probabilities.</a:t>
            </a:r>
          </a:p>
          <a:p>
            <a:r>
              <a:rPr lang="en-US"/>
              <a:t>We will therefore use an output form and training criterion suited to classification.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now introduce logistic regression.</a:t>
            </a:r>
          </a:p>
          <a:p>
            <a:r>
              <a:rPr lang="en-US"/>
              <a:t>Despite regression appearing in its name, its purpose here is binary classification.</a:t>
            </a:r>
          </a:p>
          <a:p>
            <a:r>
              <a:rPr lang="en-US"/>
              <a:t>We attach a transformation after the existing w·x+b calculation, allowing the output to be interpreted as a probability between 0 and 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S-shaped curve on the right is the sigmoid function.</a:t>
            </a:r>
          </a:p>
          <a:p>
            <a:r>
              <a:rPr lang="en-US"/>
              <a:t>Writing its input as z, we calculate its output as g(z)=1/(1+e^(−z)).</a:t>
            </a:r>
          </a:p>
          <a:p>
            <a:r>
              <a:rPr lang="en-US"/>
              <a:t>For any real input z, its output lies between 0 and 1.</a:t>
            </a:r>
          </a:p>
          <a:p>
            <a:r>
              <a:rPr lang="en-US"/>
              <a:t>A large positive z produces an output close to 1, while a large negative z produces one close to 0.</a:t>
            </a:r>
          </a:p>
          <a:p>
            <a:r>
              <a:rPr lang="en-US"/>
              <a:t>At the center, z=0 gives e⁰=1, so the output is 1/2, or 0.5.</a:t>
            </a:r>
          </a:p>
          <a:p>
            <a:r>
              <a:rPr lang="en-US"/>
              <a:t>Notice that it changes smoothly, rather than jumping abruptly from 0 to 1 like a step.</a:t>
            </a:r>
          </a:p>
          <a:p>
            <a:r>
              <a:rPr lang="en-US"/>
              <a:t>The data plot on the left has tumor size x on its horizontal axis, while the sigmoid plot on the right has the transformed score z.</a:t>
            </a:r>
          </a:p>
          <a:p>
            <a:r>
              <a:rPr lang="en-US"/>
              <a:t>Reading those two horizontal axes as identical can make the calculation confusing.</a:t>
            </a:r>
          </a:p>
          <a:p>
            <a:r>
              <a:rPr lang="en-US"/>
              <a:t>The next slide connects the original input x to the score z that we put into this curve.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Logistic regression is easier to understand as two calculation steps.</a:t>
            </a:r>
          </a:p>
          <a:p>
            <a:r>
              <a:rPr lang="en-US"/>
              <a:t>First, combine the inputs into one score z=w·x+b.</a:t>
            </a:r>
          </a:p>
          <a:p>
            <a:r>
              <a:rPr lang="en-US"/>
              <a:t>This step is the same calculation we used in linear regression.</a:t>
            </a:r>
          </a:p>
          <a:p>
            <a:r>
              <a:rPr lang="en-US"/>
              <a:t>Then put the score z into sigmoid to calculate f(x)=g(z).</a:t>
            </a:r>
          </a:p>
          <a:p>
            <a:r>
              <a:rPr lang="en-US"/>
              <a:t>For example, if the first calculation returns 0, the final output is 0.5.</a:t>
            </a:r>
          </a:p>
          <a:p>
            <a:r>
              <a:rPr lang="en-US"/>
              <a:t>A score of 2 gives an output of about 0.88, while −2 gives about 0.12.</a:t>
            </a:r>
          </a:p>
          <a:p>
            <a:r>
              <a:rPr lang="en-US"/>
              <a:t>The structure assigns a higher probability to y=1 as the score increases.</a:t>
            </a:r>
          </a:p>
          <a:p>
            <a:r>
              <a:rPr lang="en-US"/>
              <a:t>In the equation, e is a mathematical constant of about 2.718, and the exponent contains the negative of the entire score z.</a:t>
            </a:r>
          </a:p>
          <a:p>
            <a:r>
              <a:rPr lang="en-US"/>
              <a:t>When writing code, carefully check the scope of the parentheses in −(w·x+b).</a:t>
            </a:r>
          </a:p>
          <a:p>
            <a:r>
              <a:rPr lang="en-US"/>
              <a:t>Changing w and b now changes the score and therefore changes the predicted probability.</a:t>
            </a:r>
          </a:p>
          <a:p>
            <a:r>
              <a:rPr lang="en-US"/>
              <a:t>We still learn w and b; we do not choose a new sigmoid formula on each iteration.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Suppose the model outputs 0.7 for a particular input.</a:t>
            </a:r>
          </a:p>
          <a:p>
            <a:r>
              <a:rPr lang="en-US"/>
              <a:t>This means the current model predicts a 70% probability that this input has label 1.</a:t>
            </a:r>
          </a:p>
          <a:p>
            <a:r>
              <a:rPr lang="en-US"/>
              <a:t>It does not mean the actual label is 0.7; the actual answer is still 0 or 1.</a:t>
            </a:r>
          </a:p>
          <a:p>
            <a:r>
              <a:rPr lang="en-US"/>
              <a:t>Nor does it mean an accuracy of 70% over the entire dataset.</a:t>
            </a:r>
          </a:p>
          <a:p>
            <a:r>
              <a:rPr lang="en-US"/>
              <a:t>We are looking at a predicted probability for one particular input.</a:t>
            </a:r>
          </a:p>
          <a:p>
            <a:r>
              <a:rPr lang="en-US"/>
              <a:t>Because there are only two categories, the probability of y=0 is 1−0.7=0.3.</a:t>
            </a:r>
          </a:p>
          <a:p>
            <a:r>
              <a:rPr lang="en-US"/>
              <a:t>The notation P(y=1|x;w,b) on the right means the probability of y=1 calculated using the current w and b, given input x.</a:t>
            </a:r>
          </a:p>
          <a:p>
            <a:r>
              <a:rPr lang="en-US"/>
              <a:t>The x after the vertical bar identifies the input we are conditioning on.</a:t>
            </a:r>
          </a:p>
          <a:p>
            <a:r>
              <a:rPr lang="en-US"/>
              <a:t>A high probability means the model considers that category more likely; we have not yet selected a final label of 0 or 1.</a:t>
            </a:r>
          </a:p>
          <a:p>
            <a:r>
              <a:rPr lang="en-US"/>
              <a:t>We will add that selection rule next.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model outputs probabilities, but sometimes we need to choose either 0 or 1.</a:t>
            </a:r>
          </a:p>
          <a:p>
            <a:r>
              <a:rPr lang="en-US"/>
              <a:t>Applying a threshold to the probability divides the input space into two regions.</a:t>
            </a:r>
          </a:p>
          <a:p>
            <a:r>
              <a:rPr lang="en-US"/>
              <a:t>The boundary between those regions is the decision boundary.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Here, we will predict 1 when the probability is at least 0.5 and 0 when it is below 0.5.</a:t>
            </a:r>
          </a:p>
          <a:p>
            <a:r>
              <a:rPr lang="en-US"/>
              <a:t>Sigmoid passes through exactly 0.5 at z=0, and its output increases as z increases.</a:t>
            </a:r>
          </a:p>
          <a:p>
            <a:r>
              <a:rPr lang="en-US"/>
              <a:t>Checking whether the probability is at least 0.5 is therefore equivalent to checking whether z is at least 0.</a:t>
            </a:r>
          </a:p>
          <a:p>
            <a:r>
              <a:rPr lang="en-US"/>
              <a:t>Since z=w·x+b, we predict 1 in the region where w·x+b≥0.</a:t>
            </a:r>
          </a:p>
          <a:p>
            <a:r>
              <a:rPr lang="en-US"/>
              <a:t>Conversely, we predict 0 where that value is negative.</a:t>
            </a:r>
          </a:p>
          <a:p>
            <a:r>
              <a:rPr lang="en-US"/>
              <a:t>The boundary where the decision changes is w·x+b=0.</a:t>
            </a:r>
          </a:p>
          <a:p>
            <a:r>
              <a:rPr lang="en-US"/>
              <a:t>Applying this rule to the slide's probabilities 0.7 and 0.3 gives final predictions 1 and 0, respectively.</a:t>
            </a:r>
          </a:p>
          <a:p>
            <a:r>
              <a:rPr lang="en-US"/>
              <a:t>Distinguish calculating a probability from applying a threshold to that probability to choose a label.</a:t>
            </a:r>
          </a:p>
          <a:p>
            <a:r>
              <a:rPr lang="en-US"/>
              <a:t>We use 0.5 here, but other thresholds can be chosen for different purposes.</a:t>
            </a:r>
          </a:p>
          <a:p>
            <a:r>
              <a:rPr lang="en-US"/>
              <a:t>The next diagrams show boundaries for a threshold of 0.5.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example has two inputs, x₁ and x₂, both with weight 1, and b=−3.</a:t>
            </a:r>
          </a:p>
          <a:p>
            <a:r>
              <a:rPr lang="en-US"/>
              <a:t>The score entering sigmoid is therefore z=x₁+x₂−3.</a:t>
            </a:r>
          </a:p>
          <a:p>
            <a:r>
              <a:rPr lang="en-US"/>
              <a:t>The decision boundary has z=0, giving the straight line x₁+x₂=3.</a:t>
            </a:r>
          </a:p>
          <a:p>
            <a:r>
              <a:rPr lang="en-US"/>
              <a:t>When x₁=0, x₂=3, and when x₂=0, x₁=3, so we can draw the line through those two intercepts.</a:t>
            </a:r>
          </a:p>
          <a:p>
            <a:r>
              <a:rPr lang="en-US"/>
              <a:t>For example, input (2,2) gives a positive score z=1, so we predict 1.</a:t>
            </a:r>
          </a:p>
          <a:p>
            <a:r>
              <a:rPr lang="en-US"/>
              <a:t>Input (1,1) gives a negative score z=−1, so we predict 0.</a:t>
            </a:r>
          </a:p>
          <a:p>
            <a:r>
              <a:rPr lang="en-US"/>
              <a:t>On the line, the probability is exactly 0.5, which our at-least rule classifies as 1.</a:t>
            </a:r>
          </a:p>
          <a:p>
            <a:r>
              <a:rPr lang="en-US"/>
              <a:t>The axes in this diagram are inputs x₁ and x₂, rather than parameters w₁ and w₂.</a:t>
            </a:r>
          </a:p>
          <a:p>
            <a:r>
              <a:rPr lang="en-US"/>
              <a:t>It shows which inputs the current model assigns to each category, rather than a cost graph comparing parameter quality.</a:t>
            </a:r>
          </a:p>
          <a:p>
            <a:r>
              <a:rPr lang="en-US"/>
              <a:t>Changing w and b also changes the slope or position of this boundary.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 decision boundary does not always have to be a straight line.</a:t>
            </a:r>
          </a:p>
          <a:p>
            <a:r>
              <a:rPr lang="en-US"/>
              <a:t>As we learned earlier, try using x₁² and x₂² as new features.</a:t>
            </a:r>
          </a:p>
          <a:p>
            <a:r>
              <a:rPr lang="en-US"/>
              <a:t>Giving both weight 1 and setting b=−1 produces z=x₁²+x₂²−1.</a:t>
            </a:r>
          </a:p>
          <a:p>
            <a:r>
              <a:rPr lang="en-US"/>
              <a:t>On the boundary z=0, so x₁²+x₂²=1.</a:t>
            </a:r>
          </a:p>
          <a:p>
            <a:r>
              <a:rPr lang="en-US"/>
              <a:t>This is a circle centered at the origin with radius 1.</a:t>
            </a:r>
          </a:p>
          <a:p>
            <a:r>
              <a:rPr lang="en-US"/>
              <a:t>Inside the circle, the sum of the squares is below 1, making z negative, so we predict 0.</a:t>
            </a:r>
          </a:p>
          <a:p>
            <a:r>
              <a:rPr lang="en-US"/>
              <a:t>Outside the circle, z is positive, so we predict 1.</a:t>
            </a:r>
          </a:p>
          <a:p>
            <a:r>
              <a:rPr lang="en-US"/>
              <a:t>For example, (0,0) is inside and predicts 0, while (2,0) is outside and predicts 1.</a:t>
            </a:r>
          </a:p>
          <a:p>
            <a:r>
              <a:rPr lang="en-US"/>
              <a:t>The sigmoid formula is unchanged, but changing the features calculated before it has produced a circular boundary.</a:t>
            </a:r>
          </a:p>
          <a:p>
            <a:r>
              <a:rPr lang="en-US"/>
              <a:t>This is where feature engineering connects to classification.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Adding squared terms or an interaction such as x₁x₂ allows a wider variety of boundaries.</a:t>
            </a:r>
          </a:p>
          <a:p>
            <a:r>
              <a:rPr lang="en-US"/>
              <a:t>The upper annotations illustrate an ellipse, and the lower annotations illustrate a more complex closed boundary.</a:t>
            </a:r>
          </a:p>
          <a:p>
            <a:r>
              <a:rPr lang="en-US"/>
              <a:t>The shape depends on the selected features and learned weights.</a:t>
            </a:r>
          </a:p>
          <a:p>
            <a:r>
              <a:rPr lang="en-US"/>
              <a:t>The principle is still to collect inputs whose score entering sigmoid equals 0.</a:t>
            </a:r>
          </a:p>
          <a:p>
            <a:r>
              <a:rPr lang="en-US"/>
              <a:t>Distinguish sigmoid's own S-shaped curve from the decision boundary in input space.</a:t>
            </a:r>
          </a:p>
          <a:p>
            <a:r>
              <a:rPr lang="en-US"/>
              <a:t>Sigmoid converts one score to a probability, while a decision boundary identifies where a decision changes among multiple inputs.</a:t>
            </a:r>
          </a:p>
          <a:p>
            <a:r>
              <a:rPr lang="en-US"/>
              <a:t>Using sigmoid therefore does not require the boundary in input space to be S-shaped.</a:t>
            </a:r>
          </a:p>
          <a:p>
            <a:r>
              <a:rPr lang="en-US"/>
              <a:t>More varied features can represent more complex patterns, but greater complexity is not always better.</a:t>
            </a:r>
          </a:p>
          <a:p>
            <a:r>
              <a:rPr lang="en-US"/>
              <a:t>We will first learn how to train the weights of such boundaries, then consider problems caused by overly complex models.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So far, we have assumed w and b are given while examining predictions and boundaries.</a:t>
            </a:r>
          </a:p>
          <a:p>
            <a:r>
              <a:rPr lang="en-US"/>
              <a:t>Now we need to choose good values of w and b from data.</a:t>
            </a:r>
          </a:p>
          <a:p>
            <a:r>
              <a:rPr lang="en-US"/>
              <a:t>To do that, we must first define a cost function evaluating logistic-regression predictions.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Each table row is a training example, whose inputs include features such as tumor size and age.</a:t>
            </a:r>
          </a:p>
          <a:p>
            <a:r>
              <a:rPr lang="en-US"/>
              <a:t>The number of examples is m, and the number of features is n.</a:t>
            </a:r>
          </a:p>
          <a:p>
            <a:r>
              <a:rPr lang="en-US"/>
              <a:t>Each row's correct answer y is 1 for malignancy and 0 otherwise.</a:t>
            </a:r>
          </a:p>
          <a:p>
            <a:r>
              <a:rPr lang="en-US"/>
              <a:t>Using the current w and b, we can calculate a predicted probability f(x) between 0 and 1 for each input.</a:t>
            </a:r>
          </a:p>
          <a:p>
            <a:r>
              <a:rPr lang="en-US"/>
              <a:t>We need a numerical evaluation of how well these predictions agree with the targets to compare parameter choices.</a:t>
            </a:r>
          </a:p>
          <a:p>
            <a:r>
              <a:rPr lang="en-US"/>
              <a:t>We want high probabilities for examples with target 1 and low probabilities for examples with target 0.</a:t>
            </a:r>
          </a:p>
          <a:p>
            <a:r>
              <a:rPr lang="en-US"/>
              <a:t>Simply counting correct labels, however, does not adequately represent gradual improvements in probability.</a:t>
            </a:r>
          </a:p>
          <a:p>
            <a:r>
              <a:rPr lang="en-US"/>
              <a:t>For example, when the target is 1, increasing a prediction from 0.1 to 0.4 is meaningful even though both are below the threshold 0.5.</a:t>
            </a:r>
          </a:p>
          <a:p>
            <a:r>
              <a:rPr lang="en-US"/>
              <a:t>We will construct a function that evaluates the probabilities themselves to reflect these changes too.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might first consider applying the same MSE form used in linear regression.</a:t>
            </a:r>
          </a:p>
          <a:p>
            <a:r>
              <a:rPr lang="en-US"/>
              <a:t>It is possible to calculate the squared difference between a predicted probability and the target.</a:t>
            </a:r>
          </a:p>
          <a:p>
            <a:r>
              <a:rPr lang="en-US"/>
              <a:t>However, once sigmoid is inside the prediction function, the cost is no longer guaranteed to be a simple bowl in its parameters.</a:t>
            </a:r>
          </a:p>
          <a:p>
            <a:r>
              <a:rPr lang="en-US"/>
              <a:t>It can be nonconvex with several bends, as illustrated on the right.</a:t>
            </a:r>
          </a:p>
          <a:p>
            <a:r>
              <a:rPr lang="en-US"/>
              <a:t>That can make finding a good position with gradient descent more difficult.</a:t>
            </a:r>
          </a:p>
          <a:p>
            <a:r>
              <a:rPr lang="en-US"/>
              <a:t>We will therefore use another function suited to logistic regression.</a:t>
            </a:r>
          </a:p>
          <a:p>
            <a:r>
              <a:rPr lang="en-US"/>
              <a:t>First, we define a loss evaluating the prediction for one example.</a:t>
            </a:r>
          </a:p>
          <a:p>
            <a:r>
              <a:rPr lang="en-US"/>
              <a:t>The cost J is the average of those losses over the entire training dataset.</a:t>
            </a:r>
          </a:p>
          <a:p>
            <a:r>
              <a:rPr lang="en-US"/>
              <a:t>Distinguishing loss from cost makes it easier to see whether an expression evaluates one example or all of them.</a:t>
            </a:r>
          </a:p>
          <a:p>
            <a:r>
              <a:rPr lang="en-US"/>
              <a:t>We will begin with the case where the correct answer is 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If the target is y=1, a model probability p closer to 1 is better.</a:t>
            </a:r>
          </a:p>
          <a:p>
            <a:r>
              <a:rPr lang="en-US"/>
              <a:t>For this case, define the loss as −log(p).</a:t>
            </a:r>
          </a:p>
          <a:p>
            <a:r>
              <a:rPr lang="en-US"/>
              <a:t>The horizontal axis is the model's predicted probability, rather than tumor size.</a:t>
            </a:r>
          </a:p>
          <a:p>
            <a:r>
              <a:rPr lang="en-US"/>
              <a:t>As p approaches 1, log(p) approaches 0, and the loss becomes small.</a:t>
            </a:r>
          </a:p>
          <a:p>
            <a:r>
              <a:rPr lang="en-US"/>
              <a:t>Conversely, as p approaches 0, the loss becomes very large.</a:t>
            </a:r>
          </a:p>
          <a:p>
            <a:r>
              <a:rPr lang="en-US"/>
              <a:t>The actual answer is 1, but the model assigns almost no probability to 1, so we give it a large penalty.</a:t>
            </a:r>
          </a:p>
          <a:p>
            <a:r>
              <a:rPr lang="en-US"/>
              <a:t>Here log is the natural logarithm; for example, p=0.9 gives a loss of about 0.105.</a:t>
            </a:r>
          </a:p>
          <a:p>
            <a:r>
              <a:rPr lang="en-US"/>
              <a:t>At p=0.5 it is about 0.693, and at p=0.1 it rises to about 2.303.</a:t>
            </a:r>
          </a:p>
          <a:p>
            <a:r>
              <a:rPr lang="en-US"/>
              <a:t>All three predictions are evaluated against target 1, but stronger confidence in the wrong direction receives a larger penalty.</a:t>
            </a:r>
          </a:p>
          <a:p>
            <a:r>
              <a:rPr lang="en-US"/>
              <a:t>This curve is the first case, applying only to examples whose target is 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consider an example whose target is y=0.</a:t>
            </a:r>
          </a:p>
          <a:p>
            <a:r>
              <a:rPr lang="en-US"/>
              <a:t>Here, a predicted probability p of y=1 closer to 0 is better.</a:t>
            </a:r>
          </a:p>
          <a:p>
            <a:r>
              <a:rPr lang="en-US"/>
              <a:t>We therefore define its loss as −log(1−p).</a:t>
            </a:r>
          </a:p>
          <a:p>
            <a:r>
              <a:rPr lang="en-US"/>
              <a:t>When p is near 0, 1−p is near 1 and the loss is small.</a:t>
            </a:r>
          </a:p>
          <a:p>
            <a:r>
              <a:rPr lang="en-US"/>
              <a:t>When p is near 1, 1−p is near 0 and the loss is very large.</a:t>
            </a:r>
          </a:p>
          <a:p>
            <a:r>
              <a:rPr lang="en-US"/>
              <a:t>This shape gives a large penalty for confidently predicting 1 when the correct answer is 0.</a:t>
            </a:r>
          </a:p>
          <a:p>
            <a:r>
              <a:rPr lang="en-US"/>
              <a:t>For example, p=0.1 gives a loss of about 0.105, while p=0.9 gives about 2.303.</a:t>
            </a:r>
          </a:p>
          <a:p>
            <a:r>
              <a:rPr lang="en-US"/>
              <a:t>The direction of a good prediction has reversed compared with the previous y=1 case.</a:t>
            </a:r>
          </a:p>
          <a:p>
            <a:r>
              <a:rPr lang="en-US"/>
              <a:t>The same probability 0.9 is good when the target is 1 and bad when it is 0.</a:t>
            </a:r>
          </a:p>
          <a:p>
            <a:r>
              <a:rPr lang="en-US"/>
              <a:t>We therefore need both the predicted probability and actual label when calculating loss.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select one of the two expressions according to the target.</a:t>
            </a:r>
          </a:p>
          <a:p>
            <a:r>
              <a:rPr lang="en-US"/>
              <a:t>For y=1 calculate −log(p), and for y=0 calculate −log(1−p).</a:t>
            </a:r>
          </a:p>
          <a:p>
            <a:r>
              <a:rPr lang="en-US"/>
              <a:t>Calculate this loss for each training example, add them all, and divide by m to obtain cost.</a:t>
            </a:r>
          </a:p>
          <a:p>
            <a:r>
              <a:rPr lang="en-US"/>
              <a:t>The model adjusts w and b to give good probabilities on average across the examples.</a:t>
            </a:r>
          </a:p>
          <a:p>
            <a:r>
              <a:rPr lang="en-US"/>
              <a:t>Standard logistic regression using this cost is a convex optimization problem for a fixed set of features.</a:t>
            </a:r>
          </a:p>
          <a:p>
            <a:r>
              <a:rPr lang="en-US"/>
              <a:t>We obtain the kind of structure familiar from linear regression, where following descent directions can find a good solution.</a:t>
            </a:r>
          </a:p>
          <a:p>
            <a:r>
              <a:rPr lang="en-US"/>
              <a:t>The two loss curves evaluate the probability of one example, while convexity here describes the overall cost as a function of parameters.</a:t>
            </a:r>
          </a:p>
          <a:p>
            <a:r>
              <a:rPr lang="en-US"/>
              <a:t>Distinguishing the horizontal axes of these graphs reduces confusion.</a:t>
            </a:r>
          </a:p>
          <a:p>
            <a:r>
              <a:rPr lang="en-US"/>
              <a:t>Next, we will combine the two target-dependent expressions into one.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loss is currently written in separate cases for y=1 and y=0.</a:t>
            </a:r>
          </a:p>
          <a:p>
            <a:r>
              <a:rPr lang="en-US"/>
              <a:t>Using the fact that y is either 0 or 1, we can put both cases in one expression.</a:t>
            </a:r>
          </a:p>
          <a:p>
            <a:r>
              <a:rPr lang="en-US"/>
              <a:t>It may look long at first, but substituting the target leaves only one term active.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combined loss is −y log(p)−(1−y)log(1−p).</a:t>
            </a:r>
          </a:p>
          <a:p>
            <a:r>
              <a:rPr lang="en-US"/>
              <a:t>First substitute the target y=1.</a:t>
            </a:r>
          </a:p>
          <a:p>
            <a:r>
              <a:rPr lang="en-US"/>
              <a:t>The first term is multiplied by 1, leaving −log(p).</a:t>
            </a:r>
          </a:p>
          <a:p>
            <a:r>
              <a:rPr lang="en-US"/>
              <a:t>The second term is multiplied by 1−1=0, so it disappears.</a:t>
            </a:r>
          </a:p>
          <a:p>
            <a:r>
              <a:rPr lang="en-US"/>
              <a:t>The complete expression therefore matches the loss previously defined for y=1.</a:t>
            </a:r>
          </a:p>
          <a:p>
            <a:r>
              <a:rPr lang="en-US"/>
              <a:t>Think of y and 1−y as switches that turn the two terms on or off.</a:t>
            </a:r>
          </a:p>
          <a:p>
            <a:r>
              <a:rPr lang="en-US"/>
              <a:t>When the target is 1, only the first switch is on.</a:t>
            </a:r>
          </a:p>
          <a:p>
            <a:r>
              <a:rPr lang="en-US"/>
              <a:t>Here p is the current model's predicted probability, while y is the target already provided in the data.</a:t>
            </a:r>
          </a:p>
          <a:p>
            <a:r>
              <a:rPr lang="en-US"/>
              <a:t>We are using the target to evaluate the prediction, rather than setting the two equal.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time, substitute y=0 into exactly the same expression.</a:t>
            </a:r>
          </a:p>
          <a:p>
            <a:r>
              <a:rPr lang="en-US"/>
              <a:t>The first term is multiplied by 0 and disappears.</a:t>
            </a:r>
          </a:p>
          <a:p>
            <a:r>
              <a:rPr lang="en-US"/>
              <a:t>The second term has 1−0=1, leaving −log(1−p).</a:t>
            </a:r>
          </a:p>
          <a:p>
            <a:r>
              <a:rPr lang="en-US"/>
              <a:t>This case also exactly matches the loss previously defined for y=0.</a:t>
            </a:r>
          </a:p>
          <a:p>
            <a:r>
              <a:rPr lang="en-US"/>
              <a:t>Changing the target changes which term evaluates the probability; it does not change the model that interprets the input as a probability.</a:t>
            </a:r>
          </a:p>
          <a:p>
            <a:r>
              <a:rPr lang="en-US"/>
              <a:t>For example, if the model outputs p=0.8, target 1 gives −log(0.8), while target 0 gives −log(0.2).</a:t>
            </a:r>
          </a:p>
          <a:p>
            <a:r>
              <a:rPr lang="en-US"/>
              <a:t>The second value is much larger, so predicting 0.8 for an example with target 0 receives a larger penalty.</a:t>
            </a:r>
          </a:p>
          <a:p>
            <a:r>
              <a:rPr lang="en-US"/>
              <a:t>Combining both cases into one expression also makes array-based computation over the full dataset convenient.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Cost is the average obtained by applying the new loss to every example.</a:t>
            </a:r>
          </a:p>
          <a:p>
            <a:r>
              <a:rPr lang="en-US"/>
              <a:t>The summation index i means to examine examples from the first through the mth.</a:t>
            </a:r>
          </a:p>
          <a:p>
            <a:r>
              <a:rPr lang="en-US"/>
              <a:t>For each example, substitute its own probability f(x⁽ⁱ⁾) and its own target y⁽ⁱ⁾ into the same expression.</a:t>
            </a:r>
          </a:p>
          <a:p>
            <a:r>
              <a:rPr lang="en-US"/>
              <a:t>The formula is therefore −1/m multiplied by the sum of y log(p)+(1−y)log(1−p).</a:t>
            </a:r>
          </a:p>
          <a:p>
            <a:r>
              <a:rPr lang="en-US"/>
              <a:t>We do not include the factor 1/2 used in the linear-regression cost here.</a:t>
            </a:r>
          </a:p>
          <a:p>
            <a:r>
              <a:rPr lang="en-US"/>
              <a:t>This loss is also called binary cross entropy.</a:t>
            </a:r>
          </a:p>
          <a:p>
            <a:r>
              <a:rPr lang="en-US"/>
              <a:t>Intuitively, it trains the model to give high probability to the answer actually observed.</a:t>
            </a:r>
          </a:p>
          <a:p>
            <a:r>
              <a:rPr lang="en-US"/>
              <a:t>The expression combines two requirements: raise p for target 1, and raise 1−p for target 0.</a:t>
            </a:r>
          </a:p>
          <a:p>
            <a:r>
              <a:rPr lang="en-US"/>
              <a:t>We must reduce average loss over all the data with shared w and b, rather than only fitting the probability of one example.</a:t>
            </a:r>
          </a:p>
          <a:p>
            <a:r>
              <a:rPr lang="en-US"/>
              <a:t>Now that the objective is defined, we will update the parameters with gradient descent.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Gradient descent is also the basic training tool for logistic regression.</a:t>
            </a:r>
          </a:p>
          <a:p>
            <a:r>
              <a:rPr lang="en-US"/>
              <a:t>Predict with the current parameters, calculate derivatives of the cost, and update in a direction that reduces cost.</a:t>
            </a:r>
          </a:p>
          <a:p>
            <a:r>
              <a:rPr lang="en-US"/>
              <a:t>The model and cost expressions have changed, but the overall training sequence is the same.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model predicts f(x)=1/(1+e^(−(w·x+b))).</a:t>
            </a:r>
          </a:p>
          <a:p>
            <a:r>
              <a:rPr lang="en-US"/>
              <a:t>The cost function is the average loss comparing those predicted probabilities with the targets.</a:t>
            </a:r>
          </a:p>
          <a:p>
            <a:r>
              <a:rPr lang="en-US"/>
              <a:t>During training, we have both inputs and correct answers, so we can calculate how wrong the current model is.</a:t>
            </a:r>
          </a:p>
          <a:p>
            <a:r>
              <a:rPr lang="en-US"/>
              <a:t>We use that information to repeatedly adjust w and b.</a:t>
            </a:r>
          </a:p>
          <a:p>
            <a:r>
              <a:rPr lang="en-US"/>
              <a:t>After training, we use the same model equation to calculate a probability for a new input x.</a:t>
            </a:r>
          </a:p>
          <a:p>
            <a:r>
              <a:rPr lang="en-US"/>
              <a:t>If needed, apply a threshold such as 0.5 to that probability to select a final label.</a:t>
            </a:r>
          </a:p>
          <a:p>
            <a:r>
              <a:rPr lang="en-US"/>
              <a:t>Distinguish the probabilities used in training from the final 0-or-1 decisions shown to the user.</a:t>
            </a:r>
          </a:p>
          <a:p>
            <a:r>
              <a:rPr lang="en-US"/>
              <a:t>Thresholding predicted probabilities into 0 and 1 before calculating gradient descent would change the calculation from training the cost we defined.</a:t>
            </a:r>
          </a:p>
          <a:p>
            <a:r>
              <a:rPr lang="en-US"/>
              <a:t>During training, we will use the probability values directly.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Differentiating the logistic-regression cost gives the update rule on the screen.</a:t>
            </a:r>
          </a:p>
          <a:p>
            <a:r>
              <a:rPr lang="en-US"/>
              <a:t>For each weight wⱼ, the derivative is the average difference between predicted probability and target multiplied by its feature xⱼ.</a:t>
            </a:r>
          </a:p>
          <a:p>
            <a:r>
              <a:rPr lang="en-US"/>
              <a:t>The derivative for b is the average difference between predicted probabilities and targets alone.</a:t>
            </a:r>
          </a:p>
          <a:p>
            <a:r>
              <a:rPr lang="en-US"/>
              <a:t>That difference is negative when the target is 1 but the predicted probability is low, and positive when the target is 0 but the predicted probability is high.</a:t>
            </a:r>
          </a:p>
          <a:p>
            <a:r>
              <a:rPr lang="en-US"/>
              <a:t>Using derivatives calculated with the inputs, we move the parameters in a direction that reduces average loss.</a:t>
            </a:r>
          </a:p>
          <a:p>
            <a:r>
              <a:rPr lang="en-US"/>
              <a:t>For each update, multiply every derivative by learning rate α and subtract the result from its current parameter.</a:t>
            </a:r>
          </a:p>
          <a:p>
            <a:r>
              <a:rPr lang="en-US"/>
              <a:t>Calculate all derivatives first using the same current w and b.</a:t>
            </a:r>
          </a:p>
          <a:p>
            <a:r>
              <a:rPr lang="en-US"/>
              <a:t>Then update all parameters, following the same simultaneous-update principle as before.</a:t>
            </a:r>
          </a:p>
          <a:p>
            <a:r>
              <a:rPr lang="en-US"/>
              <a:t>The value substituted for f(x) is the probability from sigmoid, rather than a label thresholded to 0 or 1.</a:t>
            </a:r>
          </a:p>
          <a:p>
            <a:r>
              <a:rPr lang="en-US"/>
              <a:t>An advantage of this model is that differentiating a cost containing logarithms and sigmoid still produces a relatively simple expression.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update rule looks very similar to the one for linear regression.</a:t>
            </a:r>
          </a:p>
          <a:p>
            <a:r>
              <a:rPr lang="en-US"/>
              <a:t>However, f(x) means something different, so the two procedures do not train the same model.</a:t>
            </a:r>
          </a:p>
          <a:p>
            <a:r>
              <a:rPr lang="en-US"/>
              <a:t>Linear regression uses f(x)=w·x+b, while logistic regression applies sigmoid to that value.</a:t>
            </a:r>
          </a:p>
          <a:p>
            <a:r>
              <a:rPr lang="en-US"/>
              <a:t>The two models also use different cost functions for evaluation.</a:t>
            </a:r>
          </a:p>
          <a:p>
            <a:r>
              <a:rPr lang="en-US"/>
              <a:t>When adapting code, check that you have changed the prediction function too, rather than only looking at the update expression.</a:t>
            </a:r>
          </a:p>
          <a:p>
            <a:r>
              <a:rPr lang="en-US"/>
              <a:t>We can also use vectorization to organize calculations as arrays and feature scaling to adjust input sizes.</a:t>
            </a:r>
          </a:p>
          <a:p>
            <a:r>
              <a:rPr lang="en-US"/>
              <a:t>Choose a learning rate and check whether cost decreases steadily over iterations.</a:t>
            </a:r>
          </a:p>
          <a:p>
            <a:r>
              <a:rPr lang="en-US"/>
              <a:t>The prediction function, cost, and gradient descent are now connected into one training process.</a:t>
            </a:r>
          </a:p>
          <a:p>
            <a:r>
              <a:rPr lang="en-US"/>
              <a:t>Next, we will see why a model that fits training data well can fail on new data.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Getting correct answers on training data and making good predictions on unseen data are different achievements.</a:t>
            </a:r>
          </a:p>
          <a:p>
            <a:r>
              <a:rPr lang="en-US"/>
              <a:t>Think of a student who memorizes practice answers versus one who understands the method.</a:t>
            </a:r>
          </a:p>
          <a:p>
            <a:r>
              <a:rPr lang="en-US"/>
              <a:t>We will examine overfitting, where a model follows the training data too closely, and underfitting, where it fails to learn enough.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three diagrams fit the same house-price data using models of different complexity.</a:t>
            </a:r>
          </a:p>
          <a:p>
            <a:r>
              <a:rPr lang="en-US"/>
              <a:t>The straight line on the left does not adequately follow the curved relationship in the data.</a:t>
            </a:r>
          </a:p>
          <a:p>
            <a:r>
              <a:rPr lang="en-US"/>
              <a:t>When a model is too simple even to express important patterns in its training data, we call it underfitting.</a:t>
            </a:r>
          </a:p>
          <a:p>
            <a:r>
              <a:rPr lang="en-US"/>
              <a:t>This problem is also called high bias.</a:t>
            </a:r>
          </a:p>
          <a:p>
            <a:r>
              <a:rPr lang="en-US"/>
              <a:t>The quadratic curve in the middle does not pass through every point exactly, but follows the overall trend well.</a:t>
            </a:r>
          </a:p>
          <a:p>
            <a:r>
              <a:rPr lang="en-US"/>
              <a:t>The higher-degree curve on the right passes through the training points very precisely.</a:t>
            </a:r>
          </a:p>
          <a:p>
            <a:r>
              <a:rPr lang="en-US"/>
              <a:t>However, its unnecessary bends between points can lead to strange predictions for new houses.</a:t>
            </a:r>
          </a:p>
          <a:p>
            <a:r>
              <a:rPr lang="en-US"/>
              <a:t>Following even the sample's incidental fluctuations in this way is overfitting.</a:t>
            </a:r>
          </a:p>
          <a:p>
            <a:r>
              <a:rPr lang="en-US"/>
              <a:t>It is also called high variance because a small change in the training data can cause a large change in the fitted model.</a:t>
            </a:r>
          </a:p>
          <a:p>
            <a:r>
              <a:rPr lang="en-US"/>
              <a:t>Like the Goldilocks story in which porridge should be neither too hot nor too cold, we want enough complexity to capture the needed pattern.</a:t>
            </a:r>
          </a:p>
          <a:p>
            <a:r>
              <a:rPr lang="en-US"/>
              <a:t>We should not select the right-hand model merely because its training cost is the smallest.</a:t>
            </a:r>
          </a:p>
          <a:p>
            <a:r>
              <a:rPr lang="en-US"/>
              <a:t>Our ultimate objective also includes good predictions on data the model has not seen.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same problem appears in classification.</a:t>
            </a:r>
          </a:p>
          <a:p>
            <a:r>
              <a:rPr lang="en-US"/>
              <a:t>The straight boundary on the left does not adequately separate a category arranged in a rounded pattern.</a:t>
            </a:r>
          </a:p>
          <a:p>
            <a:r>
              <a:rPr lang="en-US"/>
              <a:t>The middle boundary follows the overall distribution and separates the categories reasonably naturally.</a:t>
            </a:r>
          </a:p>
          <a:p>
            <a:r>
              <a:rPr lang="en-US"/>
              <a:t>The right-hand boundary bends in many places to classify individual points.</a:t>
            </a:r>
          </a:p>
          <a:p>
            <a:r>
              <a:rPr lang="en-US"/>
              <a:t>This can leave almost no mistakes on the training examples.</a:t>
            </a:r>
          </a:p>
          <a:p>
            <a:r>
              <a:rPr lang="en-US"/>
              <a:t>However, a new point may fall into the wrong category because of a small bend created by chance.</a:t>
            </a:r>
          </a:p>
          <a:p>
            <a:r>
              <a:rPr lang="en-US"/>
              <a:t>In regression, the curve fluctuated excessively; in classification, the boundary became excessively complicated.</a:t>
            </a:r>
          </a:p>
          <a:p>
            <a:r>
              <a:rPr lang="en-US"/>
              <a:t>A smooth-looking diagram alone does not establish that a model is good.</a:t>
            </a:r>
          </a:p>
          <a:p>
            <a:r>
              <a:rPr lang="en-US"/>
              <a:t>In practice, check how well it predicts data that was not used for training.</a:t>
            </a:r>
          </a:p>
          <a:p>
            <a:r>
              <a:rPr lang="en-US"/>
              <a:t>These diagrams illustrate why perfectly matching training answers is an insufficient objective by itself.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How can we reduce overfitting when a model shows it?</a:t>
            </a:r>
          </a:p>
          <a:p>
            <a:r>
              <a:rPr lang="en-US"/>
              <a:t>We will examine three approaches: collect more data, use fewer features, and apply regularization.</a:t>
            </a:r>
          </a:p>
          <a:p>
            <a:r>
              <a:rPr lang="en-US"/>
              <a:t>Compare what information each approach adds or what freedom it removes from the model.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first approach is to collect more training data.</a:t>
            </a:r>
          </a:p>
          <a:p>
            <a:r>
              <a:rPr lang="en-US"/>
              <a:t>With only a few examples, it is easy to construct a complicated curve through every point.</a:t>
            </a:r>
          </a:p>
          <a:p>
            <a:r>
              <a:rPr lang="en-US"/>
              <a:t>When new data appears in varied positions, the arbitrary bends between earlier points also have to be evaluated.</a:t>
            </a:r>
          </a:p>
          <a:p>
            <a:r>
              <a:rPr lang="en-US"/>
              <a:t>A model following the overall relationship can then be favored over one that happens to fit just a few examples.</a:t>
            </a:r>
          </a:p>
          <a:p>
            <a:r>
              <a:rPr lang="en-US"/>
              <a:t>It is like showing a wider range of exercises to a student who memorized the answers to only a few practice questions.</a:t>
            </a:r>
          </a:p>
          <a:p>
            <a:r>
              <a:rPr lang="en-US"/>
              <a:t>We need examples containing new information, rather than simply copying existing data to increase the count.</a:t>
            </a:r>
          </a:p>
          <a:p>
            <a:r>
              <a:rPr lang="en-US"/>
              <a:t>Of course, collecting more data can require substantial time or money.</a:t>
            </a:r>
          </a:p>
          <a:p>
            <a:r>
              <a:rPr lang="en-US"/>
              <a:t>If the model is itself too simple and underfits, more data alone does not fix its lack of expressive capacity.</a:t>
            </a:r>
          </a:p>
          <a:p>
            <a:r>
              <a:rPr lang="en-US"/>
              <a:t>Here we are considering additional data as a way to reduce overfitting by a model that is too complex relative to the available examples.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second approach reduces the number of features used.</a:t>
            </a:r>
          </a:p>
          <a:p>
            <a:r>
              <a:rPr lang="en-US"/>
              <a:t>Suppose house-price prediction includes many inputs besides size, room count, and age.</a:t>
            </a:r>
          </a:p>
          <a:p>
            <a:r>
              <a:rPr lang="en-US"/>
              <a:t>More features let the model express varied relationships, but also give it more freedom to follow chance differences in a small dataset.</a:t>
            </a:r>
          </a:p>
          <a:p>
            <a:r>
              <a:rPr lang="en-US"/>
              <a:t>We can therefore consider retaining only a useful subset of the features.</a:t>
            </a:r>
          </a:p>
          <a:p>
            <a:r>
              <a:rPr lang="en-US"/>
              <a:t>For example, we might select a few important inputs, such as size, room count, and age, from hundreds of candidates.</a:t>
            </a:r>
          </a:p>
          <a:p>
            <a:r>
              <a:rPr lang="en-US"/>
              <a:t>Fewer adjustment controls reduce the model's freedom to fit the data excessively.</a:t>
            </a:r>
          </a:p>
          <a:p>
            <a:r>
              <a:rPr lang="en-US"/>
              <a:t>However, it is not always easy to know in advance which information is necessary or unnecessary.</a:t>
            </a:r>
          </a:p>
          <a:p>
            <a:r>
              <a:rPr lang="en-US"/>
              <a:t>Removing the wrong features can discard useful predictive information and worsen performance.</a:t>
            </a:r>
          </a:p>
          <a:p>
            <a:r>
              <a:rPr lang="en-US"/>
              <a:t>We therefore also need an approach that limits excessive complexity without deleting features.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third approach is regularization.</a:t>
            </a:r>
          </a:p>
          <a:p>
            <a:r>
              <a:rPr lang="en-US"/>
              <a:t>It retains features but attaches a cost to unnecessarily large weights.</a:t>
            </a:r>
          </a:p>
          <a:p>
            <a:r>
              <a:rPr lang="en-US"/>
              <a:t>It is like limiting excessive volume for individual instruments instead of removing every instrument's sound.</a:t>
            </a:r>
          </a:p>
          <a:p>
            <a:r>
              <a:rPr lang="en-US"/>
              <a:t>The model can still use a needed feature, but a large effect must justify itself with enough improvement in prediction.</a:t>
            </a:r>
          </a:p>
          <a:p>
            <a:r>
              <a:rPr lang="en-US"/>
              <a:t>In polynomial regression, making higher-degree weights smaller can reduce excessive bending of the curve.</a:t>
            </a:r>
          </a:p>
          <a:p>
            <a:r>
              <a:rPr lang="en-US"/>
              <a:t>Making weights smaller does not mean fixing every weight to exactly 0.</a:t>
            </a:r>
          </a:p>
          <a:p>
            <a:r>
              <a:rPr lang="en-US"/>
              <a:t>The L2 regularization we will study encourages smaller values, while retaining weights needed by the data.</a:t>
            </a:r>
          </a:p>
          <a:p>
            <a:r>
              <a:rPr lang="en-US"/>
              <a:t>Because input units also affect weight magnitudes, consider regularization together with feature scaling.</a:t>
            </a:r>
          </a:p>
          <a:p>
            <a:r>
              <a:rPr lang="en-US"/>
              <a:t>We will now define a cost that evaluates both prediction errors and weight magnitudes.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Let us compare what each of the three approaches changes.</a:t>
            </a:r>
          </a:p>
          <a:p>
            <a:r>
              <a:rPr lang="en-US"/>
              <a:t>Collecting more data gives the model more evidence to learn from.</a:t>
            </a:r>
          </a:p>
          <a:p>
            <a:r>
              <a:rPr lang="en-US"/>
              <a:t>Reducing features simplifies the representation by removing some information the model uses.</a:t>
            </a:r>
          </a:p>
          <a:p>
            <a:r>
              <a:rPr lang="en-US"/>
              <a:t>Regularization retains the information but changes the training criterion to discourage excessively large weights.</a:t>
            </a:r>
          </a:p>
          <a:p>
            <a:r>
              <a:rPr lang="en-US"/>
              <a:t>If additional data is easy to obtain, the first approach may help.</a:t>
            </a:r>
          </a:p>
          <a:p>
            <a:r>
              <a:rPr lang="en-US"/>
              <a:t>If unnecessary features are clearly identifiable, removing them can help.</a:t>
            </a:r>
          </a:p>
          <a:p>
            <a:r>
              <a:rPr lang="en-US"/>
              <a:t>Regularization is especially useful when we want to retain many features.</a:t>
            </a:r>
          </a:p>
          <a:p>
            <a:r>
              <a:rPr lang="en-US"/>
              <a:t>These approaches are not mutually exclusive and can be combined when appropriate.</a:t>
            </a:r>
          </a:p>
          <a:p>
            <a:r>
              <a:rPr lang="en-US"/>
              <a:t>Next, we will see exactly how regularization enters the equations and gradient descent.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To apply regularization, add a term evaluating weight magnitudes to the original cost.</a:t>
            </a:r>
          </a:p>
          <a:p>
            <a:r>
              <a:rPr lang="en-US"/>
              <a:t>We then consider both fitting the data and avoiding excessive model complexity.</a:t>
            </a:r>
          </a:p>
          <a:p>
            <a:r>
              <a:rPr lang="en-US"/>
              <a:t>We will begin with a simple example that shrinks only two higher-degree terms.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quadratic model on the left follows the overall pattern well, while the fourth-degree model on the right bends considerably between examples.</a:t>
            </a:r>
          </a:p>
          <a:p>
            <a:r>
              <a:rPr lang="en-US"/>
              <a:t>What would happen if we made the right-hand model's weights w₃ and w₄ on x³ and x⁴ small?</a:t>
            </a:r>
          </a:p>
          <a:p>
            <a:r>
              <a:rPr lang="en-US"/>
              <a:t>Those terms would have less influence, potentially making the model closer to a quadratic.</a:t>
            </a:r>
          </a:p>
          <a:p>
            <a:r>
              <a:rPr lang="en-US"/>
              <a:t>An example of encoding that idea is to add 1000w₃²+1000w₄² to the existing J.</a:t>
            </a:r>
          </a:p>
          <a:p>
            <a:r>
              <a:rPr lang="en-US"/>
              <a:t>If w₃ or w₄ becomes large, it adds a large extra cost even if predictions on the data improve.</a:t>
            </a:r>
          </a:p>
          <a:p>
            <a:r>
              <a:rPr lang="en-US"/>
              <a:t>For example, w₃=1 adds 1000 from that term alone, while w₃=0.1 adds 10.</a:t>
            </a:r>
          </a:p>
          <a:p>
            <a:r>
              <a:rPr lang="en-US"/>
              <a:t>Training to reduce total cost therefore applies pressure to keep both weights small.</a:t>
            </a:r>
          </a:p>
          <a:p>
            <a:r>
              <a:rPr lang="en-US"/>
              <a:t>Squaring penalizes large negative values as well as large positive values.</a:t>
            </a:r>
          </a:p>
          <a:p>
            <a:r>
              <a:rPr lang="en-US"/>
              <a:t>The value 1000 illustrates the effect; it is not a constant to use unchanged for every problem.</a:t>
            </a:r>
          </a:p>
          <a:p>
            <a:r>
              <a:rPr lang="en-US"/>
              <a:t>Instead of manually deleting weights by setting them to 0 first, we train while considering both predictive improvement and the extra cost.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In real problems, we usually do not know in advance which weights to shrink, so we typically penalize the sum of all squared weights.</a:t>
            </a:r>
          </a:p>
          <a:p>
            <a:r>
              <a:rPr lang="en-US"/>
              <a:t>The new cost's first term is the original prediction-error cost, while the second is λ/(2m) times the sum of wⱼ².</a:t>
            </a:r>
          </a:p>
          <a:p>
            <a:r>
              <a:rPr lang="en-US"/>
              <a:t>The first summation index i visits training examples, and the second index j visits weights.</a:t>
            </a:r>
          </a:p>
          <a:p>
            <a:r>
              <a:rPr lang="en-US"/>
              <a:t>With m examples and n features, the sums therefore end at m and n, respectively.</a:t>
            </a:r>
          </a:p>
          <a:p>
            <a:r>
              <a:rPr lang="en-US"/>
              <a:t>The nonnegative value λ controls the strength of regularization.</a:t>
            </a:r>
          </a:p>
          <a:p>
            <a:r>
              <a:rPr lang="en-US"/>
              <a:t>A larger λ assigns a greater penalty to large weights.</a:t>
            </a:r>
          </a:p>
          <a:p>
            <a:r>
              <a:rPr lang="en-US"/>
              <a:t>The value λ sets the balance within the training objective, while learning rate α sets the movement toward that objective; they have different roles.</a:t>
            </a:r>
          </a:p>
          <a:p>
            <a:r>
              <a:rPr lang="en-US"/>
              <a:t>The annotation says b may be included or excluded, but the calculations that follow penalize only the weights.</a:t>
            </a:r>
          </a:p>
          <a:p>
            <a:r>
              <a:rPr lang="en-US"/>
              <a:t>The bias b shifts the curve's overall height; here we focus on controlling complexity created by the weights rather than that height itself.</a:t>
            </a:r>
          </a:p>
          <a:p>
            <a:r>
              <a:rPr lang="en-US"/>
              <a:t>Thus b affects J(w,b), but the regularization sum does not contain b².</a:t>
            </a:r>
          </a:p>
          <a:p>
            <a:r>
              <a:rPr lang="en-US"/>
              <a:t>To obtain a small total cost, the model must fit the data without unnecessarily large weights.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When λ=0, the regularization term disappears and we recover the original cost.</a:t>
            </a:r>
          </a:p>
          <a:p>
            <a:r>
              <a:rPr lang="en-US"/>
              <a:t>If the model is sufficiently complex and data is limited, overfitting may produce a curve like the one in the annotations.</a:t>
            </a:r>
          </a:p>
          <a:p>
            <a:r>
              <a:rPr lang="en-US"/>
              <a:t>However, not every model with λ=0 necessarily overfits.</a:t>
            </a:r>
          </a:p>
          <a:p>
            <a:r>
              <a:rPr lang="en-US"/>
              <a:t>Conversely, making λ extremely large, such as ten billion, adds a very large cost even for modest weights.</a:t>
            </a:r>
          </a:p>
          <a:p>
            <a:r>
              <a:rPr lang="en-US"/>
              <a:t>Training then tries to make the weights almost 0 to avoid that cost.</a:t>
            </a:r>
          </a:p>
          <a:p>
            <a:r>
              <a:rPr lang="en-US"/>
              <a:t>As the right-hand expression shows, f(x) becomes nearly the constant b and may miss important patterns.</a:t>
            </a:r>
          </a:p>
          <a:p>
            <a:r>
              <a:rPr lang="en-US"/>
              <a:t>This is underfitting caused by excessively strong regularization.</a:t>
            </a:r>
          </a:p>
          <a:p>
            <a:r>
              <a:rPr lang="en-US"/>
              <a:t>We want a suitable balance between fitting the data and suppressing weight magnitudes.</a:t>
            </a:r>
          </a:p>
          <a:p>
            <a:r>
              <a:rPr lang="en-US"/>
              <a:t>When selecting λ, it is important to check predictive performance on data not used for training.</a:t>
            </a:r>
          </a:p>
          <a:p>
            <a:r>
              <a:rPr lang="en-US"/>
              <a:t>Different λ values also change the penalty included in the objective, so do not choose between them by simply comparing total cost numbers.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Now we will train regularized linear regression using gradient descent.</a:t>
            </a:r>
          </a:p>
          <a:p>
            <a:r>
              <a:rPr lang="en-US"/>
              <a:t>Since we added a term to the cost, its derivative must also enter the update rule.</a:t>
            </a:r>
          </a:p>
          <a:p>
            <a:r>
              <a:rPr lang="en-US"/>
              <a:t>We will examine what is added to the earlier calculation, one part at a time.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new derivative for weight wⱼ has two parts.</a:t>
            </a:r>
          </a:p>
          <a:p>
            <a:r>
              <a:rPr lang="en-US"/>
              <a:t>The first is the usual average of prediction errors multiplied by the feature.</a:t>
            </a:r>
          </a:p>
          <a:p>
            <a:r>
              <a:rPr lang="en-US"/>
              <a:t>The second is (λ/m)wⱼ, coming from regularization.</a:t>
            </a:r>
          </a:p>
          <a:p>
            <a:r>
              <a:rPr lang="en-US"/>
              <a:t>Because the overall cost is a sum of two terms, its derivative is also the sum of their derivatives.</a:t>
            </a:r>
          </a:p>
          <a:p>
            <a:r>
              <a:rPr lang="en-US"/>
              <a:t>Gradient descent multiplies this sum by α and subtracts it from the current weight.</a:t>
            </a:r>
          </a:p>
          <a:p>
            <a:r>
              <a:rPr lang="en-US"/>
              <a:t>If wⱼ is positive, the extra derivative is positive, so subtracting it moves the weight toward 0.</a:t>
            </a:r>
          </a:p>
          <a:p>
            <a:r>
              <a:rPr lang="en-US"/>
              <a:t>If wⱼ is negative, the extra derivative is negative, so subtracting it again moves the weight toward 0.</a:t>
            </a:r>
          </a:p>
          <a:p>
            <a:r>
              <a:rPr lang="en-US"/>
              <a:t>It therefore discourages large weights regardless of their sign.</a:t>
            </a:r>
          </a:p>
          <a:p>
            <a:r>
              <a:rPr lang="en-US"/>
              <a:t>Because regularization was not applied to b, its derivative expression stays the same.</a:t>
            </a:r>
          </a:p>
          <a:p>
            <a:r>
              <a:rPr lang="en-US"/>
              <a:t>One update combines the change requested by the data with a change pulling the weights toward 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In code, first use the current model to predict every training example.</a:t>
            </a:r>
          </a:p>
          <a:p>
            <a:r>
              <a:rPr lang="en-US"/>
              <a:t>Calculate each weight's original derivative from prediction errors and add (λ/m)w.</a:t>
            </a:r>
          </a:p>
          <a:p>
            <a:r>
              <a:rPr lang="en-US"/>
              <a:t>Multiply the full result by learning rate α and subtract it from the current w.</a:t>
            </a:r>
          </a:p>
          <a:p>
            <a:r>
              <a:rPr lang="en-US"/>
              <a:t>The learning rate α applies to both the data-derived and regularization-derived parts.</a:t>
            </a:r>
          </a:p>
          <a:p>
            <a:r>
              <a:rPr lang="en-US"/>
              <a:t>Check the expression so that you do not multiply by λ while forgetting to divide by m when adding the new term.</a:t>
            </a:r>
          </a:p>
          <a:p>
            <a:r>
              <a:rPr lang="en-US"/>
              <a:t>Update b using the mean prediction error without adding the same regularization term.</a:t>
            </a:r>
          </a:p>
          <a:p>
            <a:r>
              <a:rPr lang="en-US"/>
              <a:t>Also calculate all derivatives using parameters from before the update.</a:t>
            </a:r>
          </a:p>
          <a:p>
            <a:r>
              <a:rPr lang="en-US"/>
              <a:t>The rule against mixing an already-updated weight into another derivative still applies.</a:t>
            </a:r>
          </a:p>
          <a:p>
            <a:r>
              <a:rPr lang="en-US"/>
              <a:t>We have added one term per weight to the existing gradient descent, so we do not need to rebuild the entire training loop.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This expression rearranges the previous update rule into another form.</a:t>
            </a:r>
          </a:p>
          <a:p>
            <a:r>
              <a:rPr lang="en-US"/>
              <a:t>Collecting the part that subtracts α(λ/m)wⱼ from wⱼ gives wⱼ(1−αλ/m).</a:t>
            </a:r>
          </a:p>
          <a:p>
            <a:r>
              <a:rPr lang="en-US"/>
              <a:t>Subtracting the data-error update afterward produces the original expression.</a:t>
            </a:r>
          </a:p>
          <a:p>
            <a:r>
              <a:rPr lang="en-US"/>
              <a:t>For example, with α=0.01, λ=1, and m=50, the parenthesized factor is 0.9998.</a:t>
            </a:r>
          </a:p>
          <a:p>
            <a:r>
              <a:rPr lang="en-US"/>
              <a:t>If the current weight is 10, applying this part alone gives 9.998.</a:t>
            </a:r>
          </a:p>
          <a:p>
            <a:r>
              <a:rPr lang="en-US"/>
              <a:t>If it is −10, the result is −9.998, which also slightly reduces its magnitude.</a:t>
            </a:r>
          </a:p>
          <a:p>
            <a:r>
              <a:rPr lang="en-US"/>
              <a:t>This calculation explains why regularization is described as gradually shrinking weights.</a:t>
            </a:r>
          </a:p>
          <a:p>
            <a:r>
              <a:rPr lang="en-US"/>
              <a:t>However, the update for fitting the data is still applied afterward.</a:t>
            </a:r>
          </a:p>
          <a:p>
            <a:r>
              <a:rPr lang="en-US"/>
              <a:t>If the data strongly calls for a larger particular weight, the final weight may increase instead.</a:t>
            </a:r>
          </a:p>
          <a:p>
            <a:r>
              <a:rPr lang="en-US"/>
              <a:t>Understand this as an added force toward smaller magnitudes, rather than a guarantee that every final update makes a weight smaller.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We will check why the added derivative is (λ/m)wⱼ.</a:t>
            </a:r>
          </a:p>
          <a:p>
            <a:r>
              <a:rPr lang="en-US"/>
              <a:t>The regularization term is λ/(2m) multiplied by the sum of all squared weights.</a:t>
            </a:r>
          </a:p>
          <a:p>
            <a:r>
              <a:rPr lang="en-US"/>
              <a:t>When differentiating with respect to wⱼ, only wⱼ² varies with that variable; the other squared weights are treated as constants.</a:t>
            </a:r>
          </a:p>
          <a:p>
            <a:r>
              <a:rPr lang="en-US"/>
              <a:t>The derivative of wⱼ² is 2wⱼ, so the 2 cancels the preceding factor 1/2.</a:t>
            </a:r>
          </a:p>
          <a:p>
            <a:r>
              <a:rPr lang="en-US"/>
              <a:t>The result is (λ/m)wⱼ.</a:t>
            </a:r>
          </a:p>
          <a:p>
            <a:r>
              <a:rPr lang="en-US"/>
              <a:t>Because b is absent from that sum, differentiating with respect to b adds 0.</a:t>
            </a:r>
          </a:p>
          <a:p>
            <a:r>
              <a:rPr lang="en-US"/>
              <a:t>The data-error term sums over m examples, but this term evaluates the list of weights.</a:t>
            </a:r>
          </a:p>
          <a:p>
            <a:r>
              <a:rPr lang="en-US"/>
              <a:t>There is no need to add the same regularization cost again for every example and multiply it by m.</a:t>
            </a:r>
          </a:p>
          <a:p>
            <a:r>
              <a:rPr lang="en-US"/>
              <a:t>If derivatives are still unfamiliar, first remember the connection that differentiating a square produces 2, which cancels the preceding 1/2.</a:t>
            </a:r>
          </a:p>
          <a:p>
            <a:r>
              <a:rPr lang="en-US"/>
              <a:t>This slide checks that the expression follows from differentiating the cost, rather than being chosen arbitrarily.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same regularization idea can be applied to logistic regression.</a:t>
            </a:r>
          </a:p>
          <a:p>
            <a:r>
              <a:rPr lang="en-US"/>
              <a:t>Add the sum of squared weights to the classification cost we used earlier.</a:t>
            </a:r>
          </a:p>
          <a:p>
            <a:r>
              <a:rPr lang="en-US"/>
              <a:t>This encourages accurate predicted probabilities while discouraging a decision boundary from following every small fluctuation in the data.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complex boundary bends in many places to distinguish the training examples precisely.</a:t>
            </a:r>
          </a:p>
          <a:p>
            <a:r>
              <a:rPr lang="en-US"/>
              <a:t>The simpler boundary overlaid on the same plot may work better for new data.</a:t>
            </a:r>
          </a:p>
          <a:p>
            <a:r>
              <a:rPr lang="en-US"/>
              <a:t>To encourage this, add λ/(2m)×Σwⱼ² to logistic regression's average loss.</a:t>
            </a:r>
          </a:p>
          <a:p>
            <a:r>
              <a:rPr lang="en-US"/>
              <a:t>The first term encourages high probability for the correct answer, while the second discourages large weights.</a:t>
            </a:r>
          </a:p>
          <a:p>
            <a:r>
              <a:rPr lang="en-US"/>
              <a:t>This is the same sum-of-squares regularization used in linear regression.</a:t>
            </a:r>
          </a:p>
          <a:p>
            <a:r>
              <a:rPr lang="en-US"/>
              <a:t>What differs is the sigmoid prediction function and binary-cross-entropy loss evaluating those predictions.</a:t>
            </a:r>
          </a:p>
          <a:p>
            <a:r>
              <a:rPr lang="en-US"/>
              <a:t>It can also reduce excessively large weights when many polynomial features are used.</a:t>
            </a:r>
          </a:p>
          <a:p>
            <a:r>
              <a:rPr lang="en-US"/>
              <a:t>However, an excessively large λ can prevent the model from representing a necessary boundary, so balance is needed.</a:t>
            </a:r>
          </a:p>
          <a:p>
            <a:r>
              <a:rPr lang="en-US"/>
              <a:t>Check whether the model actually improves on data not used for training, rather than judging only the boundary's appearance.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xmlns:a="http://schemas.openxmlformats.org/drawingml/2006/main">
          <a:bodyPr/>
          <a:lstStyle/>
          <a:p>
            <a:r>
              <a:rPr lang="en-US"/>
              <a:t>The final update rule combines the two calculations we have learned.</a:t>
            </a:r>
          </a:p>
          <a:p>
            <a:r>
              <a:rPr lang="en-US"/>
              <a:t>For each wⱼ, update using the average probability-minus-target difference multiplied by its feature, plus (λ/m)wⱼ.</a:t>
            </a:r>
          </a:p>
          <a:p>
            <a:r>
              <a:rPr lang="en-US"/>
              <a:t>For b, update using only the average difference between predicted probabilities and targets.</a:t>
            </a:r>
          </a:p>
          <a:p>
            <a:r>
              <a:rPr lang="en-US"/>
              <a:t>Here f(x) must be the probability obtained after sigmoid, rather than linear regression's straight-line output.</a:t>
            </a:r>
          </a:p>
          <a:p>
            <a:r>
              <a:rPr lang="en-US"/>
              <a:t>The rule that all parameter updates are calculated from the same current state still applies.</a:t>
            </a:r>
          </a:p>
          <a:p>
            <a:r>
              <a:rPr lang="en-US"/>
              <a:t>We have now learned the complete sequence: represent inputs as numbers, predict with a model, evaluate with loss, and adjust parameters using gradient descent.</a:t>
            </a:r>
          </a:p>
          <a:p>
            <a:r>
              <a:rPr lang="en-US"/>
              <a:t>Regularization is a mechanism within that sequence for reducing excessive fitting to the training data.</a:t>
            </a:r>
          </a:p>
          <a:p>
            <a:r>
              <a:rPr lang="en-US"/>
              <a:t>When we study neural networks and Transformers, the structure calculating predictions will become much more complex.</a:t>
            </a:r>
          </a:p>
          <a:p>
            <a:r>
              <a:rPr lang="en-US"/>
              <a:t>But the basic learning structure continues: compare predictions with targets to form a loss, then update parameters using derivatives.</a:t>
            </a:r>
          </a:p>
          <a:p>
            <a:r>
              <a:rPr lang="en-US"/>
              <a:t>When you encounter the next model, again begin by identifying its inputs, predictions, loss, and trainable parameters.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2b7cca6d4b4d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091ee48c694d1b" /><Relationship Type="http://schemas.openxmlformats.org/officeDocument/2006/relationships/slideLayout" Target="/ppt/slideLayouts/slideLayout1.xml" Id="R6e09bcf8d8634b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09bcf8d8634b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8b9147d65b4572" /><Relationship Type="http://schemas.openxmlformats.org/officeDocument/2006/relationships/image" Target="/ppt/media/image.png" Id="R0675a7c26fd84457" /><Relationship Type="http://schemas.openxmlformats.org/officeDocument/2006/relationships/notesSlide" Target="/ppt/notesSlides/notesSlide1.xml" Id="R46cbee462d0f4d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fab18aa9d24c0d" /><Relationship Type="http://schemas.openxmlformats.org/officeDocument/2006/relationships/image" Target="/ppt/media/image2.png" Id="Rb7f6f393dc654bbd" /><Relationship Type="http://schemas.openxmlformats.org/officeDocument/2006/relationships/notesSlide" Target="/ppt/notesSlides/notesSlide2.xml" Id="R0da1b7fdb1e147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42b79013e34dd0" /><Relationship Type="http://schemas.openxmlformats.org/officeDocument/2006/relationships/image" Target="/ppt/media/image3.png" Id="R8cba6198c27c4194" /><Relationship Type="http://schemas.openxmlformats.org/officeDocument/2006/relationships/notesSlide" Target="/ppt/notesSlides/notesSlide3.xml" Id="Rff6df857da1145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eb1ad2146646d9" /><Relationship Type="http://schemas.openxmlformats.org/officeDocument/2006/relationships/image" Target="/ppt/media/image4.png" Id="R8ade566facf5472c" /><Relationship Type="http://schemas.openxmlformats.org/officeDocument/2006/relationships/notesSlide" Target="/ppt/notesSlides/notesSlide4.xml" Id="Rd5c2d54fbcf44f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6bcbd4b03a4758" /><Relationship Type="http://schemas.openxmlformats.org/officeDocument/2006/relationships/image" Target="/ppt/media/image5.png" Id="Ra650710acb6a48da" /><Relationship Type="http://schemas.openxmlformats.org/officeDocument/2006/relationships/notesSlide" Target="/ppt/notesSlides/notesSlide5.xml" Id="Ra87c9282cd1e4e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2deb1981a948b4" /><Relationship Type="http://schemas.openxmlformats.org/officeDocument/2006/relationships/image" Target="/ppt/media/image6.png" Id="R0872bdd63a064270" /><Relationship Type="http://schemas.openxmlformats.org/officeDocument/2006/relationships/notesSlide" Target="/ppt/notesSlides/notesSlide6.xml" Id="R418d5d3f7f0149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d3f343e21045f2" /><Relationship Type="http://schemas.openxmlformats.org/officeDocument/2006/relationships/image" Target="/ppt/media/image7.png" Id="R69d356f4e4e848ea" /><Relationship Type="http://schemas.openxmlformats.org/officeDocument/2006/relationships/notesSlide" Target="/ppt/notesSlides/notesSlide7.xml" Id="R2f80b1eb690447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96a42b5cea4350" /><Relationship Type="http://schemas.openxmlformats.org/officeDocument/2006/relationships/image" Target="/ppt/media/image8.png" Id="R9da8437331b4463f" /><Relationship Type="http://schemas.openxmlformats.org/officeDocument/2006/relationships/notesSlide" Target="/ppt/notesSlides/notesSlide8.xml" Id="R0152c992d1a048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68497755c9456f" /><Relationship Type="http://schemas.openxmlformats.org/officeDocument/2006/relationships/image" Target="/ppt/media/image9.png" Id="R9d826faca9324050" /><Relationship Type="http://schemas.openxmlformats.org/officeDocument/2006/relationships/notesSlide" Target="/ppt/notesSlides/notesSlide9.xml" Id="R650a253ce05f4e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6c12bdd58b4f2e" /><Relationship Type="http://schemas.openxmlformats.org/officeDocument/2006/relationships/image" Target="/ppt/media/image10.png" Id="R65c4aa98a6814692" /><Relationship Type="http://schemas.openxmlformats.org/officeDocument/2006/relationships/notesSlide" Target="/ppt/notesSlides/notesSlide10.xml" Id="Rcd979dc3734a4f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80505073844c9b" /><Relationship Type="http://schemas.openxmlformats.org/officeDocument/2006/relationships/image" Target="/ppt/media/image11.png" Id="R3889abf67c414acc" /><Relationship Type="http://schemas.openxmlformats.org/officeDocument/2006/relationships/notesSlide" Target="/ppt/notesSlides/notesSlide11.xml" Id="Rb9a622167ab041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0e640ed0474caf" /><Relationship Type="http://schemas.openxmlformats.org/officeDocument/2006/relationships/image" Target="/ppt/media/image12.png" Id="Rc4555ffef0324b60" /><Relationship Type="http://schemas.openxmlformats.org/officeDocument/2006/relationships/notesSlide" Target="/ppt/notesSlides/notesSlide12.xml" Id="R2f6c89a0799042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b7185872b3e4b3e" /><Relationship Type="http://schemas.openxmlformats.org/officeDocument/2006/relationships/image" Target="/ppt/media/image13.png" Id="R16b5d4e2296d41a7" /><Relationship Type="http://schemas.openxmlformats.org/officeDocument/2006/relationships/notesSlide" Target="/ppt/notesSlides/notesSlide13.xml" Id="R86a5986bcb9644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6bcd9389bea4c8b" /><Relationship Type="http://schemas.openxmlformats.org/officeDocument/2006/relationships/image" Target="/ppt/media/image14.png" Id="Rcdb5b708cb544f10" /><Relationship Type="http://schemas.openxmlformats.org/officeDocument/2006/relationships/notesSlide" Target="/ppt/notesSlides/notesSlide14.xml" Id="R3b2dd0c70f3b4c7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f814f16565e4e5f" /><Relationship Type="http://schemas.openxmlformats.org/officeDocument/2006/relationships/image" Target="/ppt/media/image15.png" Id="R1b88d09b2b2942c2" /><Relationship Type="http://schemas.openxmlformats.org/officeDocument/2006/relationships/notesSlide" Target="/ppt/notesSlides/notesSlide15.xml" Id="Ree34ab32aa4241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62453a6781e4cba" /><Relationship Type="http://schemas.openxmlformats.org/officeDocument/2006/relationships/image" Target="/ppt/media/image16.png" Id="R23651a5579b84482" /><Relationship Type="http://schemas.openxmlformats.org/officeDocument/2006/relationships/notesSlide" Target="/ppt/notesSlides/notesSlide16.xml" Id="Rfaf7879d854d43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cac02b20384433" /><Relationship Type="http://schemas.openxmlformats.org/officeDocument/2006/relationships/image" Target="/ppt/media/image17.png" Id="R7fdc51448a0f45f5" /><Relationship Type="http://schemas.openxmlformats.org/officeDocument/2006/relationships/notesSlide" Target="/ppt/notesSlides/notesSlide17.xml" Id="R27cecf89f7cf4e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033cdaccd5b4b22" /><Relationship Type="http://schemas.openxmlformats.org/officeDocument/2006/relationships/image" Target="/ppt/media/image18.png" Id="R19113e5cb8d14d4b" /><Relationship Type="http://schemas.openxmlformats.org/officeDocument/2006/relationships/notesSlide" Target="/ppt/notesSlides/notesSlide18.xml" Id="R561f0551abbf458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fe206bc4dcb4025" /><Relationship Type="http://schemas.openxmlformats.org/officeDocument/2006/relationships/image" Target="/ppt/media/image19.png" Id="R27cccf0d46984ea1" /><Relationship Type="http://schemas.openxmlformats.org/officeDocument/2006/relationships/notesSlide" Target="/ppt/notesSlides/notesSlide19.xml" Id="Rb658b09255eb4c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4e7b6e6663d4bfb" /><Relationship Type="http://schemas.openxmlformats.org/officeDocument/2006/relationships/image" Target="/ppt/media/image20.png" Id="Ra2bed536597748e7" /><Relationship Type="http://schemas.openxmlformats.org/officeDocument/2006/relationships/notesSlide" Target="/ppt/notesSlides/notesSlide20.xml" Id="Re41843ae8cb146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936514d658460d" /><Relationship Type="http://schemas.openxmlformats.org/officeDocument/2006/relationships/image" Target="/ppt/media/image21.png" Id="R29ceffbdaf464bad" /><Relationship Type="http://schemas.openxmlformats.org/officeDocument/2006/relationships/notesSlide" Target="/ppt/notesSlides/notesSlide21.xml" Id="R283cece755e2414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936b6e8b24b41be" /><Relationship Type="http://schemas.openxmlformats.org/officeDocument/2006/relationships/image" Target="/ppt/media/image22.png" Id="Rcdb24aa8b3cb4067" /><Relationship Type="http://schemas.openxmlformats.org/officeDocument/2006/relationships/notesSlide" Target="/ppt/notesSlides/notesSlide22.xml" Id="R51a4c81f9b6540b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6b00d4a56004232" /><Relationship Type="http://schemas.openxmlformats.org/officeDocument/2006/relationships/image" Target="/ppt/media/image23.png" Id="R872119f36dd64df6" /><Relationship Type="http://schemas.openxmlformats.org/officeDocument/2006/relationships/notesSlide" Target="/ppt/notesSlides/notesSlide23.xml" Id="Rf065a6ab7a18473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12a4405d24e4a66" /><Relationship Type="http://schemas.openxmlformats.org/officeDocument/2006/relationships/image" Target="/ppt/media/image24.png" Id="Rb89da82def77486a" /><Relationship Type="http://schemas.openxmlformats.org/officeDocument/2006/relationships/notesSlide" Target="/ppt/notesSlides/notesSlide24.xml" Id="R98fb91f80f2e404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e6a2e37b0134d6a" /><Relationship Type="http://schemas.openxmlformats.org/officeDocument/2006/relationships/image" Target="/ppt/media/image25.png" Id="R13bd2264a9af4bff" /><Relationship Type="http://schemas.openxmlformats.org/officeDocument/2006/relationships/notesSlide" Target="/ppt/notesSlides/notesSlide25.xml" Id="R5ef98828133e463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e74accbe757459e" /><Relationship Type="http://schemas.openxmlformats.org/officeDocument/2006/relationships/image" Target="/ppt/media/image26.png" Id="Raf66367c1596477e" /><Relationship Type="http://schemas.openxmlformats.org/officeDocument/2006/relationships/notesSlide" Target="/ppt/notesSlides/notesSlide26.xml" Id="Rf65934911426414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3a7dab34304491f" /><Relationship Type="http://schemas.openxmlformats.org/officeDocument/2006/relationships/image" Target="/ppt/media/image27.png" Id="R65a5df51ed104d6b" /><Relationship Type="http://schemas.openxmlformats.org/officeDocument/2006/relationships/notesSlide" Target="/ppt/notesSlides/notesSlide27.xml" Id="R2e373a39d68749a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2472ade96fc4c29" /><Relationship Type="http://schemas.openxmlformats.org/officeDocument/2006/relationships/image" Target="/ppt/media/image28.png" Id="R9d3688f592e742c4" /><Relationship Type="http://schemas.openxmlformats.org/officeDocument/2006/relationships/notesSlide" Target="/ppt/notesSlides/notesSlide28.xml" Id="Rc1dda832dcde4ff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18618ea74784cfa" /><Relationship Type="http://schemas.openxmlformats.org/officeDocument/2006/relationships/image" Target="/ppt/media/image29.png" Id="R816845f31391437b" /><Relationship Type="http://schemas.openxmlformats.org/officeDocument/2006/relationships/notesSlide" Target="/ppt/notesSlides/notesSlide29.xml" Id="R9ad59fe829b1479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4b329cca5f24a37" /><Relationship Type="http://schemas.openxmlformats.org/officeDocument/2006/relationships/image" Target="/ppt/media/image30.png" Id="R730543b26ea94929" /><Relationship Type="http://schemas.openxmlformats.org/officeDocument/2006/relationships/notesSlide" Target="/ppt/notesSlides/notesSlide30.xml" Id="R6a3770b19bed46b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16bd7e3ae2b4dc0" /><Relationship Type="http://schemas.openxmlformats.org/officeDocument/2006/relationships/image" Target="/ppt/media/image31.png" Id="Ra62eaa7f3d234d5f" /><Relationship Type="http://schemas.openxmlformats.org/officeDocument/2006/relationships/notesSlide" Target="/ppt/notesSlides/notesSlide31.xml" Id="Rda4bdede74d24fd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a927e1ed9ea4e15" /><Relationship Type="http://schemas.openxmlformats.org/officeDocument/2006/relationships/image" Target="/ppt/media/image32.png" Id="R6ce2d90ef56c4f90" /><Relationship Type="http://schemas.openxmlformats.org/officeDocument/2006/relationships/notesSlide" Target="/ppt/notesSlides/notesSlide32.xml" Id="R05c68606667946b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6ce1377acb94158" /><Relationship Type="http://schemas.openxmlformats.org/officeDocument/2006/relationships/image" Target="/ppt/media/image33.png" Id="Ra6a1944b50a948bb" /><Relationship Type="http://schemas.openxmlformats.org/officeDocument/2006/relationships/notesSlide" Target="/ppt/notesSlides/notesSlide33.xml" Id="R3d11786e7303413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de38acb40eb45b4" /><Relationship Type="http://schemas.openxmlformats.org/officeDocument/2006/relationships/image" Target="/ppt/media/image34.png" Id="Rcba7a3c0605246b2" /><Relationship Type="http://schemas.openxmlformats.org/officeDocument/2006/relationships/notesSlide" Target="/ppt/notesSlides/notesSlide34.xml" Id="R7aa69083a830470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edbd3b33daf4671" /><Relationship Type="http://schemas.openxmlformats.org/officeDocument/2006/relationships/image" Target="/ppt/media/image35.png" Id="R97b0c4d888b94f49" /><Relationship Type="http://schemas.openxmlformats.org/officeDocument/2006/relationships/notesSlide" Target="/ppt/notesSlides/notesSlide35.xml" Id="R5b7d3751089c483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b2e97bb7b3246ae" /><Relationship Type="http://schemas.openxmlformats.org/officeDocument/2006/relationships/image" Target="/ppt/media/image36.png" Id="R35a5bab712bf4643" /><Relationship Type="http://schemas.openxmlformats.org/officeDocument/2006/relationships/notesSlide" Target="/ppt/notesSlides/notesSlide36.xml" Id="Rcc6f70fb4916483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1a83bd149504650" /><Relationship Type="http://schemas.openxmlformats.org/officeDocument/2006/relationships/image" Target="/ppt/media/image37.png" Id="R1cc31b52ff52450e" /><Relationship Type="http://schemas.openxmlformats.org/officeDocument/2006/relationships/notesSlide" Target="/ppt/notesSlides/notesSlide37.xml" Id="Raeb5f1fbf27c467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01bd870236e45fb" /><Relationship Type="http://schemas.openxmlformats.org/officeDocument/2006/relationships/image" Target="/ppt/media/image38.png" Id="R6910530e67c44eeb" /><Relationship Type="http://schemas.openxmlformats.org/officeDocument/2006/relationships/notesSlide" Target="/ppt/notesSlides/notesSlide38.xml" Id="R0102a4bae1bf469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307bf0facc449b3" /><Relationship Type="http://schemas.openxmlformats.org/officeDocument/2006/relationships/image" Target="/ppt/media/image39.png" Id="R5f71dbff1a844231" /><Relationship Type="http://schemas.openxmlformats.org/officeDocument/2006/relationships/notesSlide" Target="/ppt/notesSlides/notesSlide39.xml" Id="Rb92f8effcd1d4dc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b91735454514e06" /><Relationship Type="http://schemas.openxmlformats.org/officeDocument/2006/relationships/image" Target="/ppt/media/image40.png" Id="R9d6e955ad63a4fa3" /><Relationship Type="http://schemas.openxmlformats.org/officeDocument/2006/relationships/notesSlide" Target="/ppt/notesSlides/notesSlide40.xml" Id="Rccb7510fa803497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4f8aa0325024624" /><Relationship Type="http://schemas.openxmlformats.org/officeDocument/2006/relationships/image" Target="/ppt/media/image41.png" Id="Rbfb790f99b204501" /><Relationship Type="http://schemas.openxmlformats.org/officeDocument/2006/relationships/notesSlide" Target="/ppt/notesSlides/notesSlide41.xml" Id="R14ef5f1c0b5f4a3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9e9de102e754737" /><Relationship Type="http://schemas.openxmlformats.org/officeDocument/2006/relationships/image" Target="/ppt/media/image42.png" Id="Re400d33eeb584502" /><Relationship Type="http://schemas.openxmlformats.org/officeDocument/2006/relationships/notesSlide" Target="/ppt/notesSlides/notesSlide42.xml" Id="R25968b9030c648f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1df8479fa8249a4" /><Relationship Type="http://schemas.openxmlformats.org/officeDocument/2006/relationships/image" Target="/ppt/media/image43.png" Id="Rd1b19ea749e3405f" /><Relationship Type="http://schemas.openxmlformats.org/officeDocument/2006/relationships/notesSlide" Target="/ppt/notesSlides/notesSlide43.xml" Id="R952c26e49dd44ba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3947213de794581" /><Relationship Type="http://schemas.openxmlformats.org/officeDocument/2006/relationships/image" Target="/ppt/media/image44.png" Id="Rd5901e202c494300" /><Relationship Type="http://schemas.openxmlformats.org/officeDocument/2006/relationships/notesSlide" Target="/ppt/notesSlides/notesSlide44.xml" Id="R8bffe4e74e354ae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fc08860c6494f54" /><Relationship Type="http://schemas.openxmlformats.org/officeDocument/2006/relationships/image" Target="/ppt/media/image45.png" Id="R52fcf0abbc2d40a5" /><Relationship Type="http://schemas.openxmlformats.org/officeDocument/2006/relationships/notesSlide" Target="/ppt/notesSlides/notesSlide45.xml" Id="R1636148d1c4d42c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2f71a5d1eae4bcb" /><Relationship Type="http://schemas.openxmlformats.org/officeDocument/2006/relationships/image" Target="/ppt/media/image46.png" Id="R667a6df8753d4a1a" /><Relationship Type="http://schemas.openxmlformats.org/officeDocument/2006/relationships/notesSlide" Target="/ppt/notesSlides/notesSlide46.xml" Id="Rae69b7775d484c7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7cf0f7b16bd4224" /><Relationship Type="http://schemas.openxmlformats.org/officeDocument/2006/relationships/image" Target="/ppt/media/image47.png" Id="R22d6d127581641c5" /><Relationship Type="http://schemas.openxmlformats.org/officeDocument/2006/relationships/notesSlide" Target="/ppt/notesSlides/notesSlide47.xml" Id="Rc0001521e6b848c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f6dcb3b3814489a" /><Relationship Type="http://schemas.openxmlformats.org/officeDocument/2006/relationships/image" Target="/ppt/media/image48.png" Id="R342f8dd1c09a4caf" /><Relationship Type="http://schemas.openxmlformats.org/officeDocument/2006/relationships/notesSlide" Target="/ppt/notesSlides/notesSlide48.xml" Id="R970abf0acdec48c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238b11b43b64eba" /><Relationship Type="http://schemas.openxmlformats.org/officeDocument/2006/relationships/image" Target="/ppt/media/image49.png" Id="Rb84b394349884ea8" /><Relationship Type="http://schemas.openxmlformats.org/officeDocument/2006/relationships/notesSlide" Target="/ppt/notesSlides/notesSlide49.xml" Id="R93c311f9fc87445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f0203d7e6ee4510" /><Relationship Type="http://schemas.openxmlformats.org/officeDocument/2006/relationships/image" Target="/ppt/media/image50.png" Id="Rec3fadd07b084787" /><Relationship Type="http://schemas.openxmlformats.org/officeDocument/2006/relationships/notesSlide" Target="/ppt/notesSlides/notesSlide50.xml" Id="Rf80724418bd7450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771146f8d494b40" /><Relationship Type="http://schemas.openxmlformats.org/officeDocument/2006/relationships/image" Target="/ppt/media/image51.png" Id="R4707516afec246f6" /><Relationship Type="http://schemas.openxmlformats.org/officeDocument/2006/relationships/notesSlide" Target="/ppt/notesSlides/notesSlide51.xml" Id="R2ba762203ed342a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f91fc672d69e4dab" /><Relationship Type="http://schemas.openxmlformats.org/officeDocument/2006/relationships/image" Target="/ppt/media/image52.png" Id="R055cd92961304130" /><Relationship Type="http://schemas.openxmlformats.org/officeDocument/2006/relationships/notesSlide" Target="/ppt/notesSlides/notesSlide52.xml" Id="Rbb898eb29d45451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f00a24eab6b4ee5" /><Relationship Type="http://schemas.openxmlformats.org/officeDocument/2006/relationships/image" Target="/ppt/media/image53.png" Id="Ref595346cfd04b8e" /><Relationship Type="http://schemas.openxmlformats.org/officeDocument/2006/relationships/notesSlide" Target="/ppt/notesSlides/notesSlide53.xml" Id="R0c010ffe74fd46d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4e56e7aef37467b" /><Relationship Type="http://schemas.openxmlformats.org/officeDocument/2006/relationships/image" Target="/ppt/media/image54.png" Id="R0c155052bdf94782" /><Relationship Type="http://schemas.openxmlformats.org/officeDocument/2006/relationships/notesSlide" Target="/ppt/notesSlides/notesSlide54.xml" Id="Rb615f853a410408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1868c1d8af24600" /><Relationship Type="http://schemas.openxmlformats.org/officeDocument/2006/relationships/image" Target="/ppt/media/image55.png" Id="Rfb12f66e74364380" /><Relationship Type="http://schemas.openxmlformats.org/officeDocument/2006/relationships/notesSlide" Target="/ppt/notesSlides/notesSlide55.xml" Id="Rd6a91c7bff84405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c9d1a0a4d4434151" /><Relationship Type="http://schemas.openxmlformats.org/officeDocument/2006/relationships/image" Target="/ppt/media/image56.png" Id="Ra5e814c4998b47f9" /><Relationship Type="http://schemas.openxmlformats.org/officeDocument/2006/relationships/notesSlide" Target="/ppt/notesSlides/notesSlide56.xml" Id="R1f4200d0702c45d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0be771e43c74ead" /><Relationship Type="http://schemas.openxmlformats.org/officeDocument/2006/relationships/image" Target="/ppt/media/image57.png" Id="Rf95f89e9704b45a4" /><Relationship Type="http://schemas.openxmlformats.org/officeDocument/2006/relationships/notesSlide" Target="/ppt/notesSlides/notesSlide57.xml" Id="Rf4a70cec22c8400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a398dd6a17144291" /><Relationship Type="http://schemas.openxmlformats.org/officeDocument/2006/relationships/image" Target="/ppt/media/image58.png" Id="R92841ced86d2422c" /><Relationship Type="http://schemas.openxmlformats.org/officeDocument/2006/relationships/notesSlide" Target="/ppt/notesSlides/notesSlide58.xml" Id="R8909a55ee8024bb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a4b6b95e1e2d4105" /><Relationship Type="http://schemas.openxmlformats.org/officeDocument/2006/relationships/image" Target="/ppt/media/image59.png" Id="Re1539ab0c0bd49f5" /><Relationship Type="http://schemas.openxmlformats.org/officeDocument/2006/relationships/notesSlide" Target="/ppt/notesSlides/notesSlide59.xml" Id="Rbd9547ac39b5469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afa6749a6ee64b9c" /><Relationship Type="http://schemas.openxmlformats.org/officeDocument/2006/relationships/image" Target="/ppt/media/image60.png" Id="R4b7f2df5a0ad4789" /><Relationship Type="http://schemas.openxmlformats.org/officeDocument/2006/relationships/notesSlide" Target="/ppt/notesSlides/notesSlide60.xml" Id="R233142eef4c348c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a0ac094d45bf4a8c" /><Relationship Type="http://schemas.openxmlformats.org/officeDocument/2006/relationships/image" Target="/ppt/media/image61.png" Id="R892656b3db7f4632" /><Relationship Type="http://schemas.openxmlformats.org/officeDocument/2006/relationships/notesSlide" Target="/ppt/notesSlides/notesSlide61.xml" Id="R729703aee4bc484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fc274f95cd542b5" /><Relationship Type="http://schemas.openxmlformats.org/officeDocument/2006/relationships/image" Target="/ppt/media/image62.png" Id="Rcaaf0c692a30458d" /><Relationship Type="http://schemas.openxmlformats.org/officeDocument/2006/relationships/notesSlide" Target="/ppt/notesSlides/notesSlide62.xml" Id="R1c5ad30706db412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12510efbae5a487b" /><Relationship Type="http://schemas.openxmlformats.org/officeDocument/2006/relationships/image" Target="/ppt/media/image63.png" Id="R0da89343d2df42a9" /><Relationship Type="http://schemas.openxmlformats.org/officeDocument/2006/relationships/notesSlide" Target="/ppt/notesSlides/notesSlide63.xml" Id="R0204124e7574483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5dc8bd0caed04083" /><Relationship Type="http://schemas.openxmlformats.org/officeDocument/2006/relationships/image" Target="/ppt/media/image64.png" Id="R16acdcbf334647ed" /><Relationship Type="http://schemas.openxmlformats.org/officeDocument/2006/relationships/notesSlide" Target="/ppt/notesSlides/notesSlide64.xml" Id="R7ae88acd01b8427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8096950e85845d5" /><Relationship Type="http://schemas.openxmlformats.org/officeDocument/2006/relationships/image" Target="/ppt/media/image65.png" Id="R234d6cad7c4a402f" /><Relationship Type="http://schemas.openxmlformats.org/officeDocument/2006/relationships/notesSlide" Target="/ppt/notesSlides/notesSlide65.xml" Id="R5641be20d72c4e48"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2ea40587b8fc4165" /><Relationship Type="http://schemas.openxmlformats.org/officeDocument/2006/relationships/image" Target="/ppt/media/image66.png" Id="R9c6f2644a1b74e8c" /><Relationship Type="http://schemas.openxmlformats.org/officeDocument/2006/relationships/notesSlide" Target="/ppt/notesSlides/notesSlide66.xml" Id="Ra7b4593c9fed45f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d618f1ba77ee484a" /><Relationship Type="http://schemas.openxmlformats.org/officeDocument/2006/relationships/image" Target="/ppt/media/image67.png" Id="R23111f6a055c4ec7" /><Relationship Type="http://schemas.openxmlformats.org/officeDocument/2006/relationships/notesSlide" Target="/ppt/notesSlides/notesSlide67.xml" Id="R46f9ec2c8833438f"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a03e305f99b44bcc" /><Relationship Type="http://schemas.openxmlformats.org/officeDocument/2006/relationships/image" Target="/ppt/media/image68.png" Id="Rd1308b55ffe34948" /><Relationship Type="http://schemas.openxmlformats.org/officeDocument/2006/relationships/notesSlide" Target="/ppt/notesSlides/notesSlide68.xml" Id="Rd6b8cbadadcc48e3"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beaad7d35941429d" /><Relationship Type="http://schemas.openxmlformats.org/officeDocument/2006/relationships/image" Target="/ppt/media/image69.png" Id="R94db8097f38a4c5a" /><Relationship Type="http://schemas.openxmlformats.org/officeDocument/2006/relationships/notesSlide" Target="/ppt/notesSlides/notesSlide69.xml" Id="R440042e3a3524f6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6de532558e74486f" /><Relationship Type="http://schemas.openxmlformats.org/officeDocument/2006/relationships/image" Target="/ppt/media/image70.png" Id="R24f8d06c95544eaf" /><Relationship Type="http://schemas.openxmlformats.org/officeDocument/2006/relationships/notesSlide" Target="/ppt/notesSlides/notesSlide70.xml" Id="R95f22431afbc4da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9b23bc263d92456b" /><Relationship Type="http://schemas.openxmlformats.org/officeDocument/2006/relationships/image" Target="/ppt/media/image71.png" Id="R9732e28024f14494" /><Relationship Type="http://schemas.openxmlformats.org/officeDocument/2006/relationships/notesSlide" Target="/ppt/notesSlides/notesSlide71.xml" Id="Re6061cc8a0e14a51"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2516f8c02a844dc0" /><Relationship Type="http://schemas.openxmlformats.org/officeDocument/2006/relationships/image" Target="/ppt/media/image72.png" Id="R4f50d3f90ff547ce" /><Relationship Type="http://schemas.openxmlformats.org/officeDocument/2006/relationships/notesSlide" Target="/ppt/notesSlides/notesSlide72.xml" Id="Rd724df85700b43f7"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2806e5cc278d4d61" /><Relationship Type="http://schemas.openxmlformats.org/officeDocument/2006/relationships/image" Target="/ppt/media/image73.png" Id="R4d287da11c524914" /><Relationship Type="http://schemas.openxmlformats.org/officeDocument/2006/relationships/notesSlide" Target="/ppt/notesSlides/notesSlide73.xml" Id="R8f9a7fb02acf4ab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9ebf2e19dcca478c" /><Relationship Type="http://schemas.openxmlformats.org/officeDocument/2006/relationships/image" Target="/ppt/media/image74.png" Id="Rfcec2a5dc9824193" /><Relationship Type="http://schemas.openxmlformats.org/officeDocument/2006/relationships/notesSlide" Target="/ppt/notesSlides/notesSlide74.xml" Id="Rd352b2c1439846be"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d5da9eec3c264eb6" /><Relationship Type="http://schemas.openxmlformats.org/officeDocument/2006/relationships/image" Target="/ppt/media/image75.png" Id="Rcaa8f4795e704819" /><Relationship Type="http://schemas.openxmlformats.org/officeDocument/2006/relationships/notesSlide" Target="/ppt/notesSlides/notesSlide75.xml" Id="R8170e27b016f471c"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d19351c58596421d" /><Relationship Type="http://schemas.openxmlformats.org/officeDocument/2006/relationships/image" Target="/ppt/media/image76.png" Id="R48c3ccde5b154d4b" /><Relationship Type="http://schemas.openxmlformats.org/officeDocument/2006/relationships/notesSlide" Target="/ppt/notesSlides/notesSlide76.xml" Id="R66564d8dc894467f"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685f0c644efc432b" /><Relationship Type="http://schemas.openxmlformats.org/officeDocument/2006/relationships/image" Target="/ppt/media/image77.png" Id="R9ab6297b59b34912" /><Relationship Type="http://schemas.openxmlformats.org/officeDocument/2006/relationships/notesSlide" Target="/ppt/notesSlides/notesSlide77.xml" Id="R163ec2f18b6f4009"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eb4ebbe1c32d41c6" /><Relationship Type="http://schemas.openxmlformats.org/officeDocument/2006/relationships/image" Target="/ppt/media/image78.png" Id="R2fcb83eba59d4ea0" /><Relationship Type="http://schemas.openxmlformats.org/officeDocument/2006/relationships/notesSlide" Target="/ppt/notesSlides/notesSlide78.xml" Id="Rd1013a197edc45ed"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9e7bd1a407cf4d35" /><Relationship Type="http://schemas.openxmlformats.org/officeDocument/2006/relationships/image" Target="/ppt/media/image79.png" Id="Rc095d1562921456d" /><Relationship Type="http://schemas.openxmlformats.org/officeDocument/2006/relationships/notesSlide" Target="/ppt/notesSlides/notesSlide79.xml" Id="R22d58abb381b4715"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02507ccfa0d84ea9" /><Relationship Type="http://schemas.openxmlformats.org/officeDocument/2006/relationships/image" Target="/ppt/media/image80.png" Id="Rda388f685ea34712" /><Relationship Type="http://schemas.openxmlformats.org/officeDocument/2006/relationships/notesSlide" Target="/ppt/notesSlides/notesSlide80.xml" Id="R6cb6ed981f73478d"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e47ff97f695b4e74" /><Relationship Type="http://schemas.openxmlformats.org/officeDocument/2006/relationships/image" Target="/ppt/media/image81.png" Id="Rb6ca958100f441de" /><Relationship Type="http://schemas.openxmlformats.org/officeDocument/2006/relationships/notesSlide" Target="/ppt/notesSlides/notesSlide81.xml" Id="R07dcf8e656564e71"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297a353f448a4d0f" /><Relationship Type="http://schemas.openxmlformats.org/officeDocument/2006/relationships/image" Target="/ppt/media/image82.png" Id="R6217c88515314383" /><Relationship Type="http://schemas.openxmlformats.org/officeDocument/2006/relationships/notesSlide" Target="/ppt/notesSlides/notesSlide82.xml" Id="R638caf5374494e48"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beb6970268564f81" /><Relationship Type="http://schemas.openxmlformats.org/officeDocument/2006/relationships/image" Target="/ppt/media/image83.png" Id="R797e09b28fa54fba" /><Relationship Type="http://schemas.openxmlformats.org/officeDocument/2006/relationships/notesSlide" Target="/ppt/notesSlides/notesSlide83.xml" Id="R7157450a0c9f40d4"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2670c379b2b6485d" /><Relationship Type="http://schemas.openxmlformats.org/officeDocument/2006/relationships/image" Target="/ppt/media/image84.png" Id="Rb93886f296614345" /><Relationship Type="http://schemas.openxmlformats.org/officeDocument/2006/relationships/notesSlide" Target="/ppt/notesSlides/notesSlide84.xml" Id="R2d488a73052748ff"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b73e861159c742ab" /><Relationship Type="http://schemas.openxmlformats.org/officeDocument/2006/relationships/image" Target="/ppt/media/image85.png" Id="R1732356009f147cd" /><Relationship Type="http://schemas.openxmlformats.org/officeDocument/2006/relationships/notesSlide" Target="/ppt/notesSlides/notesSlide85.xml" Id="R24f4bde67fd745d6"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fc23ac34075e4328" /><Relationship Type="http://schemas.openxmlformats.org/officeDocument/2006/relationships/image" Target="/ppt/media/image86.png" Id="R301df274b1014527" /><Relationship Type="http://schemas.openxmlformats.org/officeDocument/2006/relationships/notesSlide" Target="/ppt/notesSlides/notesSlide86.xml" Id="R42dc4ccb31a84433"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181f6a63994f4e9d" /><Relationship Type="http://schemas.openxmlformats.org/officeDocument/2006/relationships/image" Target="/ppt/media/image87.png" Id="Ra675c6b15cf246e3" /><Relationship Type="http://schemas.openxmlformats.org/officeDocument/2006/relationships/notesSlide" Target="/ppt/notesSlides/notesSlide87.xml" Id="R6a7919e4e61249a9"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4c3a1949e256416c" /><Relationship Type="http://schemas.openxmlformats.org/officeDocument/2006/relationships/image" Target="/ppt/media/image88.png" Id="R668855c2aae746a7" /><Relationship Type="http://schemas.openxmlformats.org/officeDocument/2006/relationships/notesSlide" Target="/ppt/notesSlides/notesSlide88.xml" Id="R82881ddc2e0b4fb9"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c400f63849db4c18" /><Relationship Type="http://schemas.openxmlformats.org/officeDocument/2006/relationships/image" Target="/ppt/media/image89.png" Id="R7148770088f642dc" /><Relationship Type="http://schemas.openxmlformats.org/officeDocument/2006/relationships/notesSlide" Target="/ppt/notesSlides/notesSlide89.xml" Id="R8ce1e9f894fe408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5f0b63147ba745d1" /><Relationship Type="http://schemas.openxmlformats.org/officeDocument/2006/relationships/image" Target="/ppt/media/image90.png" Id="Ra98bc10b005e4d64" /><Relationship Type="http://schemas.openxmlformats.org/officeDocument/2006/relationships/notesSlide" Target="/ppt/notesSlides/notesSlide90.xml" Id="R8c84f260d12e4727"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e13f4a13b64946a2" /><Relationship Type="http://schemas.openxmlformats.org/officeDocument/2006/relationships/image" Target="/ppt/media/image91.png" Id="R3f4d242759ce4c2b" /><Relationship Type="http://schemas.openxmlformats.org/officeDocument/2006/relationships/notesSlide" Target="/ppt/notesSlides/notesSlide91.xml" Id="R400fb89fee064d7d"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a46197ce853d480f" /><Relationship Type="http://schemas.openxmlformats.org/officeDocument/2006/relationships/image" Target="/ppt/media/image92.png" Id="R1d9ca65a522844f5" /><Relationship Type="http://schemas.openxmlformats.org/officeDocument/2006/relationships/notesSlide" Target="/ppt/notesSlides/notesSlide92.xml" Id="R70744f3695724410"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e1d6ed29e2f44d32" /><Relationship Type="http://schemas.openxmlformats.org/officeDocument/2006/relationships/image" Target="/ppt/media/image93.png" Id="Rd43880f1afeb4d38" /><Relationship Type="http://schemas.openxmlformats.org/officeDocument/2006/relationships/notesSlide" Target="/ppt/notesSlides/notesSlide93.xml" Id="R896d8bb6f8fa43a7"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2d08318398cf4d22" /><Relationship Type="http://schemas.openxmlformats.org/officeDocument/2006/relationships/image" Target="/ppt/media/image94.png" Id="Rc734edc3815847df" /><Relationship Type="http://schemas.openxmlformats.org/officeDocument/2006/relationships/notesSlide" Target="/ppt/notesSlides/notesSlide94.xml" Id="R997ade363106475b"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2e2ea97de85946d7" /><Relationship Type="http://schemas.openxmlformats.org/officeDocument/2006/relationships/image" Target="/ppt/media/image95.png" Id="Rfaf904926f5f433b" /><Relationship Type="http://schemas.openxmlformats.org/officeDocument/2006/relationships/notesSlide" Target="/ppt/notesSlides/notesSlide95.xml" Id="R0169743b418848ca"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f9dfef2eba494dc0" /><Relationship Type="http://schemas.openxmlformats.org/officeDocument/2006/relationships/image" Target="/ppt/media/image96.png" Id="R5687d94ed8124317" /><Relationship Type="http://schemas.openxmlformats.org/officeDocument/2006/relationships/notesSlide" Target="/ppt/notesSlides/notesSlide96.xml" Id="R04c6a6d63d904891"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ab2d247191b44238" /><Relationship Type="http://schemas.openxmlformats.org/officeDocument/2006/relationships/image" Target="/ppt/media/image97.png" Id="R76eb986a122542bf" /><Relationship Type="http://schemas.openxmlformats.org/officeDocument/2006/relationships/notesSlide" Target="/ppt/notesSlides/notesSlide97.xml" Id="R1b017f55cf6848cf"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5f15442051c643c3" /><Relationship Type="http://schemas.openxmlformats.org/officeDocument/2006/relationships/image" Target="/ppt/media/image98.png" Id="R2ca3c7208edc4c23" /><Relationship Type="http://schemas.openxmlformats.org/officeDocument/2006/relationships/notesSlide" Target="/ppt/notesSlides/notesSlide98.xml" Id="R1189bce2649c424d"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cbf36f8106754753" /><Relationship Type="http://schemas.openxmlformats.org/officeDocument/2006/relationships/image" Target="/ppt/media/image99.png" Id="R247b6616ca9f4df2" /><Relationship Type="http://schemas.openxmlformats.org/officeDocument/2006/relationships/notesSlide" Target="/ppt/notesSlides/notesSlide99.xml" Id="R8ebfa99f39ec4e81"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3a72590c36254a05" /><Relationship Type="http://schemas.openxmlformats.org/officeDocument/2006/relationships/image" Target="/ppt/media/image100.png" Id="R3bbaa38da9d5433c" /><Relationship Type="http://schemas.openxmlformats.org/officeDocument/2006/relationships/notesSlide" Target="/ppt/notesSlides/notesSlide100.xml" Id="R50e6b04443ee4dc1"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f14c24d99a7f4b2d" /><Relationship Type="http://schemas.openxmlformats.org/officeDocument/2006/relationships/image" Target="/ppt/media/image101.png" Id="R17e2c93d0109428e" /><Relationship Type="http://schemas.openxmlformats.org/officeDocument/2006/relationships/notesSlide" Target="/ppt/notesSlides/notesSlide101.xml" Id="R27e751892bd545ef"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d1db8dcd2cbd4361" /><Relationship Type="http://schemas.openxmlformats.org/officeDocument/2006/relationships/image" Target="/ppt/media/image102.png" Id="R1a4ac0da868548d1" /><Relationship Type="http://schemas.openxmlformats.org/officeDocument/2006/relationships/notesSlide" Target="/ppt/notesSlides/notesSlide102.xml" Id="Rb3efa2366611462a"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87eac0dccdc141ef" /><Relationship Type="http://schemas.openxmlformats.org/officeDocument/2006/relationships/image" Target="/ppt/media/image103.png" Id="R3fbb5fc922a24dad" /><Relationship Type="http://schemas.openxmlformats.org/officeDocument/2006/relationships/notesSlide" Target="/ppt/notesSlides/notesSlide103.xml" Id="R7cb1de9d8bc94d2e"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9fd6489544c84162" /><Relationship Type="http://schemas.openxmlformats.org/officeDocument/2006/relationships/image" Target="/ppt/media/image104.png" Id="R206665afb7e24573" /><Relationship Type="http://schemas.openxmlformats.org/officeDocument/2006/relationships/notesSlide" Target="/ppt/notesSlides/notesSlide104.xml" Id="Rd0d3d2977ee2477b"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65209fb36c1641c9" /><Relationship Type="http://schemas.openxmlformats.org/officeDocument/2006/relationships/image" Target="/ppt/media/image105.png" Id="R373e91d9ced34d80" /><Relationship Type="http://schemas.openxmlformats.org/officeDocument/2006/relationships/notesSlide" Target="/ppt/notesSlides/notesSlide105.xml" Id="R26572caebdbc4069"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9905668f1c5f42d8" /><Relationship Type="http://schemas.openxmlformats.org/officeDocument/2006/relationships/image" Target="/ppt/media/image106.png" Id="Rb7de20220e2c4f4a" /><Relationship Type="http://schemas.openxmlformats.org/officeDocument/2006/relationships/notesSlide" Target="/ppt/notesSlides/notesSlide106.xml" Id="R9f3115550bf74722"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dab71dae6b614fbb" /><Relationship Type="http://schemas.openxmlformats.org/officeDocument/2006/relationships/image" Target="/ppt/media/image107.png" Id="R3f7426eb211f4b75" /><Relationship Type="http://schemas.openxmlformats.org/officeDocument/2006/relationships/notesSlide" Target="/ppt/notesSlides/notesSlide107.xml" Id="R7919cea7286a4f52"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f0c4f7ce1db140bd" /><Relationship Type="http://schemas.openxmlformats.org/officeDocument/2006/relationships/image" Target="/ppt/media/image108.png" Id="R4a1cdf2cbbde416c" /><Relationship Type="http://schemas.openxmlformats.org/officeDocument/2006/relationships/notesSlide" Target="/ppt/notesSlides/notesSlide108.xml" Id="Reb92fbc2ffd84f9b"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fcdd2cca678f423d" /><Relationship Type="http://schemas.openxmlformats.org/officeDocument/2006/relationships/image" Target="/ppt/media/image109.png" Id="R432fd519eb814dec" /><Relationship Type="http://schemas.openxmlformats.org/officeDocument/2006/relationships/notesSlide" Target="/ppt/notesSlides/notesSlide109.xml" Id="Rd6802c0c14824a41"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20a7848998984b3a" /><Relationship Type="http://schemas.openxmlformats.org/officeDocument/2006/relationships/image" Target="/ppt/media/image110.png" Id="R0c04e469923c47a0" /><Relationship Type="http://schemas.openxmlformats.org/officeDocument/2006/relationships/notesSlide" Target="/ppt/notesSlides/notesSlide110.xml" Id="R87d72b645fbf459a"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f7f87a7ba3f14399" /><Relationship Type="http://schemas.openxmlformats.org/officeDocument/2006/relationships/image" Target="/ppt/media/image111.png" Id="R3187913833ad4ea5" /><Relationship Type="http://schemas.openxmlformats.org/officeDocument/2006/relationships/notesSlide" Target="/ppt/notesSlides/notesSlide111.xml" Id="Ra34c3189811b416e"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de1a20dd337e4be8" /><Relationship Type="http://schemas.openxmlformats.org/officeDocument/2006/relationships/image" Target="/ppt/media/image112.png" Id="Ra289ff61b0be4416" /><Relationship Type="http://schemas.openxmlformats.org/officeDocument/2006/relationships/notesSlide" Target="/ppt/notesSlides/notesSlide112.xml" Id="R18ce142c1fdf47c7"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b93099cd42a04aa5" /><Relationship Type="http://schemas.openxmlformats.org/officeDocument/2006/relationships/image" Target="/ppt/media/image113.png" Id="R23a62a4025504799" /><Relationship Type="http://schemas.openxmlformats.org/officeDocument/2006/relationships/notesSlide" Target="/ppt/notesSlides/notesSlide113.xml" Id="R22d05f130e744dff"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8168dcdb138e4df5" /><Relationship Type="http://schemas.openxmlformats.org/officeDocument/2006/relationships/image" Target="/ppt/media/image114.png" Id="R42dc2588de834f55" /><Relationship Type="http://schemas.openxmlformats.org/officeDocument/2006/relationships/notesSlide" Target="/ppt/notesSlides/notesSlide114.xml" Id="R5c0f3d72876f46db"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977afc7b438a4013" /><Relationship Type="http://schemas.openxmlformats.org/officeDocument/2006/relationships/image" Target="/ppt/media/image115.png" Id="R30761bde07834e8c" /><Relationship Type="http://schemas.openxmlformats.org/officeDocument/2006/relationships/notesSlide" Target="/ppt/notesSlides/notesSlide115.xml" Id="Raca4ab2c83ec4294"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1127e2605fa14733" /><Relationship Type="http://schemas.openxmlformats.org/officeDocument/2006/relationships/image" Target="/ppt/media/image116.png" Id="R11da1d78fc634420" /><Relationship Type="http://schemas.openxmlformats.org/officeDocument/2006/relationships/notesSlide" Target="/ppt/notesSlides/notesSlide116.xml" Id="R623494a1d1c84023"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de05ae9cd13f4be9" /><Relationship Type="http://schemas.openxmlformats.org/officeDocument/2006/relationships/image" Target="/ppt/media/image117.png" Id="R4bd323e5bea84ab2" /><Relationship Type="http://schemas.openxmlformats.org/officeDocument/2006/relationships/notesSlide" Target="/ppt/notesSlides/notesSlide117.xml" Id="R238875acc7e84723"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f9042313f5774162" /><Relationship Type="http://schemas.openxmlformats.org/officeDocument/2006/relationships/image" Target="/ppt/media/image118.png" Id="Rbf60fde05e87400f" /><Relationship Type="http://schemas.openxmlformats.org/officeDocument/2006/relationships/notesSlide" Target="/ppt/notesSlides/notesSlide118.xml" Id="R72b4b63d3ba24f7d"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be67dae5faa64fae" /><Relationship Type="http://schemas.openxmlformats.org/officeDocument/2006/relationships/image" Target="/ppt/media/image119.png" Id="Rd0667bf55071451d" /><Relationship Type="http://schemas.openxmlformats.org/officeDocument/2006/relationships/notesSlide" Target="/ppt/notesSlides/notesSlide119.xml" Id="R2cbb03939aa1463a"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6b0d752998e94ed5" /><Relationship Type="http://schemas.openxmlformats.org/officeDocument/2006/relationships/image" Target="/ppt/media/image120.png" Id="R2066b33a6f3f4948" /><Relationship Type="http://schemas.openxmlformats.org/officeDocument/2006/relationships/notesSlide" Target="/ppt/notesSlides/notesSlide120.xml" Id="Rcad43b88675e4b55"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d6a4cec55bac4961" /><Relationship Type="http://schemas.openxmlformats.org/officeDocument/2006/relationships/image" Target="/ppt/media/image121.png" Id="Rb3e0bd2d5c2d4a84" /><Relationship Type="http://schemas.openxmlformats.org/officeDocument/2006/relationships/notesSlide" Target="/ppt/notesSlides/notesSlide121.xml" Id="Rb0fab3c5d46b49a7"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25407812ce2b4e3c" /><Relationship Type="http://schemas.openxmlformats.org/officeDocument/2006/relationships/image" Target="/ppt/media/image122.png" Id="Rd5f43fc843b747d6" /><Relationship Type="http://schemas.openxmlformats.org/officeDocument/2006/relationships/notesSlide" Target="/ppt/notesSlides/notesSlide122.xml" Id="Rfa2a4648740c435e"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4465af73055547b3" /><Relationship Type="http://schemas.openxmlformats.org/officeDocument/2006/relationships/image" Target="/ppt/media/image123.png" Id="Recac70a769d44fff" /><Relationship Type="http://schemas.openxmlformats.org/officeDocument/2006/relationships/notesSlide" Target="/ppt/notesSlides/notesSlide123.xml" Id="Rd47d7a2916394ee7"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dc13c547a9cf4b0f" /><Relationship Type="http://schemas.openxmlformats.org/officeDocument/2006/relationships/image" Target="/ppt/media/image124.png" Id="R3ab243edfe664d6b" /><Relationship Type="http://schemas.openxmlformats.org/officeDocument/2006/relationships/notesSlide" Target="/ppt/notesSlides/notesSlide124.xml" Id="Rd25c8ac6aaa84e70"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b691a52cdd4f4f71" /><Relationship Type="http://schemas.openxmlformats.org/officeDocument/2006/relationships/image" Target="/ppt/media/image125.png" Id="R8b67357cc4df4d98" /><Relationship Type="http://schemas.openxmlformats.org/officeDocument/2006/relationships/notesSlide" Target="/ppt/notesSlides/notesSlide125.xml" Id="R7d57461eb1bc45b8"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3483753f3aac45f9" /><Relationship Type="http://schemas.openxmlformats.org/officeDocument/2006/relationships/image" Target="/ppt/media/image126.png" Id="Re5571e2487cb47ac" /><Relationship Type="http://schemas.openxmlformats.org/officeDocument/2006/relationships/notesSlide" Target="/ppt/notesSlides/notesSlide126.xml" Id="Re6157e8eeaa64e3f"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11fac8c273c94758" /><Relationship Type="http://schemas.openxmlformats.org/officeDocument/2006/relationships/image" Target="/ppt/media/image127.png" Id="Rceca44c6d99a4e0f" /><Relationship Type="http://schemas.openxmlformats.org/officeDocument/2006/relationships/notesSlide" Target="/ppt/notesSlides/notesSlide127.xml" Id="Rf1028ccc4f4b427d"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09f2975bc5df4a4b" /><Relationship Type="http://schemas.openxmlformats.org/officeDocument/2006/relationships/image" Target="/ppt/media/image128.png" Id="R119bfbba435445bf" /><Relationship Type="http://schemas.openxmlformats.org/officeDocument/2006/relationships/notesSlide" Target="/ppt/notesSlides/notesSlide128.xml" Id="R6ef4b5d4629e48f9"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2d0544dae37240e0" /><Relationship Type="http://schemas.openxmlformats.org/officeDocument/2006/relationships/image" Target="/ppt/media/image129.png" Id="R6df8c089fa634c8f" /><Relationship Type="http://schemas.openxmlformats.org/officeDocument/2006/relationships/notesSlide" Target="/ppt/notesSlides/notesSlide129.xml" Id="R86e6723ae00e40b3"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13254adc51464cc2" /><Relationship Type="http://schemas.openxmlformats.org/officeDocument/2006/relationships/image" Target="/ppt/media/image130.png" Id="Rb8af6e75359b498e" /><Relationship Type="http://schemas.openxmlformats.org/officeDocument/2006/relationships/notesSlide" Target="/ppt/notesSlides/notesSlide130.xml" Id="R3c572d4d2bc1465e"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51e751adbdd1401e" /><Relationship Type="http://schemas.openxmlformats.org/officeDocument/2006/relationships/image" Target="/ppt/media/image131.png" Id="R4951f87cbd124d73" /><Relationship Type="http://schemas.openxmlformats.org/officeDocument/2006/relationships/notesSlide" Target="/ppt/notesSlides/notesSlide131.xml" Id="Rd300a76cd78c4715"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02c08bd743a54fe5" /><Relationship Type="http://schemas.openxmlformats.org/officeDocument/2006/relationships/image" Target="/ppt/media/image132.png" Id="Rcec7743c26394196" /><Relationship Type="http://schemas.openxmlformats.org/officeDocument/2006/relationships/notesSlide" Target="/ppt/notesSlides/notesSlide132.xml" Id="R22d7e09fc69d4cb8"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378b7ce2346549d5" /><Relationship Type="http://schemas.openxmlformats.org/officeDocument/2006/relationships/image" Target="/ppt/media/image133.png" Id="R79f430b6a98f4edc" /><Relationship Type="http://schemas.openxmlformats.org/officeDocument/2006/relationships/notesSlide" Target="/ppt/notesSlides/notesSlide133.xml" Id="R17451754ab504d08"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a83f51639ec84763" /><Relationship Type="http://schemas.openxmlformats.org/officeDocument/2006/relationships/image" Target="/ppt/media/image134.png" Id="Rc25f41671a794688" /><Relationship Type="http://schemas.openxmlformats.org/officeDocument/2006/relationships/notesSlide" Target="/ppt/notesSlides/notesSlide134.xml" Id="R9767da37cd9d4f4c"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f893f00f4efd4fa7" /><Relationship Type="http://schemas.openxmlformats.org/officeDocument/2006/relationships/image" Target="/ppt/media/image135.png" Id="R7d16d88df8c64382" /><Relationship Type="http://schemas.openxmlformats.org/officeDocument/2006/relationships/notesSlide" Target="/ppt/notesSlides/notesSlide135.xml" Id="R6da4acf0804e421c"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25f4104bd7b245a4" /><Relationship Type="http://schemas.openxmlformats.org/officeDocument/2006/relationships/image" Target="/ppt/media/image136.png" Id="R6245596ee62f4d39" /><Relationship Type="http://schemas.openxmlformats.org/officeDocument/2006/relationships/notesSlide" Target="/ppt/notesSlides/notesSlide136.xml" Id="Rdf02d4874daf4f79"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3d6f57feb55e4ba7" /><Relationship Type="http://schemas.openxmlformats.org/officeDocument/2006/relationships/image" Target="/ppt/media/image137.png" Id="R82f8ec8e4b724015" /><Relationship Type="http://schemas.openxmlformats.org/officeDocument/2006/relationships/notesSlide" Target="/ppt/notesSlides/notesSlide137.xml" Id="Ra444f6b798ec47a0"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943acdc7cea84b4a" /><Relationship Type="http://schemas.openxmlformats.org/officeDocument/2006/relationships/image" Target="/ppt/media/image138.png" Id="Rf52d71f7325b4c95" /><Relationship Type="http://schemas.openxmlformats.org/officeDocument/2006/relationships/notesSlide" Target="/ppt/notesSlides/notesSlide138.xml" Id="R299cff2fee544c87"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6ca8415aa5584506" /><Relationship Type="http://schemas.openxmlformats.org/officeDocument/2006/relationships/image" Target="/ppt/media/image139.png" Id="R6390eecb529241d2" /><Relationship Type="http://schemas.openxmlformats.org/officeDocument/2006/relationships/notesSlide" Target="/ppt/notesSlides/notesSlide139.xml" Id="Rf51a83357446477a"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7b463decef1947be" /><Relationship Type="http://schemas.openxmlformats.org/officeDocument/2006/relationships/image" Target="/ppt/media/image140.png" Id="R8ae51cf759294df6" /><Relationship Type="http://schemas.openxmlformats.org/officeDocument/2006/relationships/notesSlide" Target="/ppt/notesSlides/notesSlide140.xml" Id="R71fceeb493a54cbc"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e992f82c6a8640e2" /><Relationship Type="http://schemas.openxmlformats.org/officeDocument/2006/relationships/image" Target="/ppt/media/image141.png" Id="R936ac75f065b4907" /><Relationship Type="http://schemas.openxmlformats.org/officeDocument/2006/relationships/notesSlide" Target="/ppt/notesSlides/notesSlide141.xml" Id="Rfc0e8374db914e8e"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a7c632db908e4bdf" /><Relationship Type="http://schemas.openxmlformats.org/officeDocument/2006/relationships/image" Target="/ppt/media/image142.png" Id="R4cb96725009b43bd" /><Relationship Type="http://schemas.openxmlformats.org/officeDocument/2006/relationships/notesSlide" Target="/ppt/notesSlides/notesSlide142.xml" Id="Re161075958424008"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23234078c91a4a18" /><Relationship Type="http://schemas.openxmlformats.org/officeDocument/2006/relationships/image" Target="/ppt/media/image143.png" Id="R5efc4a7ce8e54dda" /><Relationship Type="http://schemas.openxmlformats.org/officeDocument/2006/relationships/notesSlide" Target="/ppt/notesSlides/notesSlide143.xml" Id="R58e3d65b9feb40a1"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b97abbc57700457b" /><Relationship Type="http://schemas.openxmlformats.org/officeDocument/2006/relationships/image" Target="/ppt/media/image144.png" Id="R27e8cd6ee32c4ead" /><Relationship Type="http://schemas.openxmlformats.org/officeDocument/2006/relationships/notesSlide" Target="/ppt/notesSlides/notesSlide144.xml" Id="R29015baf8ffd4f93"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764da52f5a7c4cae" /><Relationship Type="http://schemas.openxmlformats.org/officeDocument/2006/relationships/image" Target="/ppt/media/image145.png" Id="Rc995e6b3380a4345" /><Relationship Type="http://schemas.openxmlformats.org/officeDocument/2006/relationships/notesSlide" Target="/ppt/notesSlides/notesSlide145.xml" Id="Re827bbfad1504e12"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1cde8d9cb8b34f01" /><Relationship Type="http://schemas.openxmlformats.org/officeDocument/2006/relationships/image" Target="/ppt/media/image146.png" Id="Rcb458bbb012f40d5" /><Relationship Type="http://schemas.openxmlformats.org/officeDocument/2006/relationships/notesSlide" Target="/ppt/notesSlides/notesSlide146.xml" Id="R5cfc4242240a47cb"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7ed76d39e8f3407b" /><Relationship Type="http://schemas.openxmlformats.org/officeDocument/2006/relationships/image" Target="/ppt/media/image147.png" Id="R600496d2fab44ed6" /><Relationship Type="http://schemas.openxmlformats.org/officeDocument/2006/relationships/notesSlide" Target="/ppt/notesSlides/notesSlide147.xml" Id="R2043fba6ae124421"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c8efe10234ca493f" /><Relationship Type="http://schemas.openxmlformats.org/officeDocument/2006/relationships/image" Target="/ppt/media/image148.png" Id="R5ef9174f96964743" /><Relationship Type="http://schemas.openxmlformats.org/officeDocument/2006/relationships/notesSlide" Target="/ppt/notesSlides/notesSlide148.xml" Id="R3b1158e5cc664f96"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70e01d0385764c38" /><Relationship Type="http://schemas.openxmlformats.org/officeDocument/2006/relationships/image" Target="/ppt/media/image149.png" Id="R29f20670f5bb4bb6" /><Relationship Type="http://schemas.openxmlformats.org/officeDocument/2006/relationships/notesSlide" Target="/ppt/notesSlides/notesSlide149.xml" Id="R8449086301bf4944"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bf95f4772a8b4335" /><Relationship Type="http://schemas.openxmlformats.org/officeDocument/2006/relationships/image" Target="/ppt/media/image150.png" Id="Refdaed6e913b4290" /><Relationship Type="http://schemas.openxmlformats.org/officeDocument/2006/relationships/notesSlide" Target="/ppt/notesSlides/notesSlide150.xml" Id="R8a5b828deab045c2"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02ad1a0b6ecb4697" /><Relationship Type="http://schemas.openxmlformats.org/officeDocument/2006/relationships/image" Target="/ppt/media/image151.png" Id="R481bb9d942ca4eae" /><Relationship Type="http://schemas.openxmlformats.org/officeDocument/2006/relationships/notesSlide" Target="/ppt/notesSlides/notesSlide151.xml" Id="Rb6b6d204b5a14f25"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xml" Id="Rbe408b91602a454d" /><Relationship Type="http://schemas.openxmlformats.org/officeDocument/2006/relationships/image" Target="/ppt/media/image152.png" Id="R87e620765e8b436a" /><Relationship Type="http://schemas.openxmlformats.org/officeDocument/2006/relationships/notesSlide" Target="/ppt/notesSlides/notesSlide152.xml" Id="R92d5138e55ce4a09"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xml" Id="Rbfa2aabb746043c8" /><Relationship Type="http://schemas.openxmlformats.org/officeDocument/2006/relationships/image" Target="/ppt/media/image153.png" Id="R7c63ea796fcb496e" /><Relationship Type="http://schemas.openxmlformats.org/officeDocument/2006/relationships/notesSlide" Target="/ppt/notesSlides/notesSlide153.xml" Id="R960d307e913c429c"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xml" Id="R584f6a90823b4d9a" /><Relationship Type="http://schemas.openxmlformats.org/officeDocument/2006/relationships/image" Target="/ppt/media/image154.png" Id="Rb61e18e62dad476d" /><Relationship Type="http://schemas.openxmlformats.org/officeDocument/2006/relationships/notesSlide" Target="/ppt/notesSlides/notesSlide154.xml" Id="R024fde74cc2841c8"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xml" Id="Re3b14d369a984b3c" /><Relationship Type="http://schemas.openxmlformats.org/officeDocument/2006/relationships/image" Target="/ppt/media/image155.png" Id="R3a51f7d63fb547b7" /><Relationship Type="http://schemas.openxmlformats.org/officeDocument/2006/relationships/notesSlide" Target="/ppt/notesSlides/notesSlide155.xml" Id="R1c389529fa8846ff"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xml" Id="R23842b079ebf4a2d" /><Relationship Type="http://schemas.openxmlformats.org/officeDocument/2006/relationships/image" Target="/ppt/media/image156.png" Id="R778ec6f9222d4ea1" /><Relationship Type="http://schemas.openxmlformats.org/officeDocument/2006/relationships/notesSlide" Target="/ppt/notesSlides/notesSlide156.xml" Id="Rcc5e34fbc5b849f7"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1.xml" Id="Rad4dd95466114057" /><Relationship Type="http://schemas.openxmlformats.org/officeDocument/2006/relationships/image" Target="/ppt/media/image157.png" Id="R608c646b21914e74" /><Relationship Type="http://schemas.openxmlformats.org/officeDocument/2006/relationships/notesSlide" Target="/ppt/notesSlides/notesSlide157.xml" Id="Rc16c69d1964b442b"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1.xml" Id="R69eb2a9358ad43ff" /><Relationship Type="http://schemas.openxmlformats.org/officeDocument/2006/relationships/image" Target="/ppt/media/image158.png" Id="R6a991184022d4127" /><Relationship Type="http://schemas.openxmlformats.org/officeDocument/2006/relationships/notesSlide" Target="/ppt/notesSlides/notesSlide158.xml" Id="Rcae12d2169b343c1"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1.xml" Id="R3d2c4704ffe94e7b" /><Relationship Type="http://schemas.openxmlformats.org/officeDocument/2006/relationships/image" Target="/ppt/media/image159.png" Id="Rcfc7a00c7ad04cad" /><Relationship Type="http://schemas.openxmlformats.org/officeDocument/2006/relationships/notesSlide" Target="/ppt/notesSlides/notesSlide159.xml" Id="R288adeea8afd4c0c"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1.xml" Id="Rce91a0f459f44c06" /><Relationship Type="http://schemas.openxmlformats.org/officeDocument/2006/relationships/image" Target="/ppt/media/image160.png" Id="R73530a487c1541fc" /><Relationship Type="http://schemas.openxmlformats.org/officeDocument/2006/relationships/notesSlide" Target="/ppt/notesSlides/notesSlide160.xml" Id="R6668e6d9ec4d4a49"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1.xml" Id="R83548236510748ac" /><Relationship Type="http://schemas.openxmlformats.org/officeDocument/2006/relationships/image" Target="/ppt/media/image161.png" Id="R34bd0b1a1a2943a5" /><Relationship Type="http://schemas.openxmlformats.org/officeDocument/2006/relationships/notesSlide" Target="/ppt/notesSlides/notesSlide161.xml" Id="R90ef012a333c4758"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1.xml" Id="Rd0da102dd2a646ed" /><Relationship Type="http://schemas.openxmlformats.org/officeDocument/2006/relationships/image" Target="/ppt/media/image162.png" Id="R3a09e41109a543d0" /><Relationship Type="http://schemas.openxmlformats.org/officeDocument/2006/relationships/notesSlide" Target="/ppt/notesSlides/notesSlide162.xml" Id="R268654ff23104594"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1.xml" Id="R10b72a0d11bb4520" /><Relationship Type="http://schemas.openxmlformats.org/officeDocument/2006/relationships/image" Target="/ppt/media/image163.png" Id="R603e5401aab14c96" /><Relationship Type="http://schemas.openxmlformats.org/officeDocument/2006/relationships/notesSlide" Target="/ppt/notesSlides/notesSlide163.xml" Id="R79eb92c03a45491e"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1.xml" Id="R6c4986d86d9c4ea2" /><Relationship Type="http://schemas.openxmlformats.org/officeDocument/2006/relationships/image" Target="/ppt/media/image164.png" Id="R0561b45a5050452f" /><Relationship Type="http://schemas.openxmlformats.org/officeDocument/2006/relationships/notesSlide" Target="/ppt/notesSlides/notesSlide164.xml" Id="R715b0613444b4271"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1.xml" Id="R78a7cbc4643e4f77" /><Relationship Type="http://schemas.openxmlformats.org/officeDocument/2006/relationships/image" Target="/ppt/media/image165.png" Id="R6a2eabdcf6754db2" /><Relationship Type="http://schemas.openxmlformats.org/officeDocument/2006/relationships/notesSlide" Target="/ppt/notesSlides/notesSlide165.xml" Id="R3a1713b72f844dce"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1.xml" Id="R31218f93a7414eb0" /><Relationship Type="http://schemas.openxmlformats.org/officeDocument/2006/relationships/image" Target="/ppt/media/image166.png" Id="Ra0d7a13ee47349da" /><Relationship Type="http://schemas.openxmlformats.org/officeDocument/2006/relationships/notesSlide" Target="/ppt/notesSlides/notesSlide166.xml" Id="Rfd5262c25e8f49fb"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1.xml" Id="R35251487393942fe" /><Relationship Type="http://schemas.openxmlformats.org/officeDocument/2006/relationships/image" Target="/ppt/media/image167.png" Id="Rbff6c5b07362437e" /><Relationship Type="http://schemas.openxmlformats.org/officeDocument/2006/relationships/notesSlide" Target="/ppt/notesSlides/notesSlide167.xml" Id="R13d1f0a2f3aa49ab"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1.xml" Id="R958de2b0ce3742ef" /><Relationship Type="http://schemas.openxmlformats.org/officeDocument/2006/relationships/image" Target="/ppt/media/image168.png" Id="Rdb89ad497fd744f7" /><Relationship Type="http://schemas.openxmlformats.org/officeDocument/2006/relationships/notesSlide" Target="/ppt/notesSlides/notesSlide168.xml" Id="R3dd4510d8d094318"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1.xml" Id="Rf5bb6fcda6b4429d" /><Relationship Type="http://schemas.openxmlformats.org/officeDocument/2006/relationships/image" Target="/ppt/media/image169.png" Id="R51cc287ecdc34b09" /><Relationship Type="http://schemas.openxmlformats.org/officeDocument/2006/relationships/notesSlide" Target="/ppt/notesSlides/notesSlide169.xml" Id="R82af50098c7c4d9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675a7c26fd8445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2893591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7f6f393dc654bb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3979777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cba6198c27c419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134655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ade566facf5472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4438034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650710acb6a48d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01200771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872bdd63a06427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9540110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9d356f4e4e848e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2844084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da8437331b4463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320255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d826faca932405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7925002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5c4aa98a681469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49076042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889abf67c414ac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8968461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4555ffef0324b6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9875751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6b5d4e2296d41a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0502666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db5b708cb544f1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57301332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b88d09b2b2942c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8107570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3651a5579b8448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6005709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fdc51448a0f45f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8719112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9113e5cb8d14d4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077197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7cccf0d46984ea1"/>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2395970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2bed536597748e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5402815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9ceffbdaf464ba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4608295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db24aa8b3cb406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53029329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72119f36dd64df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0693382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89da82def77486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38409471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3bd2264a9af4bf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01428548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f66367c1596477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3488638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5a5df51ed104d6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1070345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d3688f592e742c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53649678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16845f31391437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1971812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30543b26ea9492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42068835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62eaa7f3d234d5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63911555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ce2d90ef56c4f9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60234133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6a1944b50a948b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5972086"/>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ba7a3c0605246b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415338780"/>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7b0c4d888b94f4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93907972"/>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5a5bab712bf464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07441663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cc31b52ff52450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26532451"/>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910530e67c44ee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4070364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f71dbff1a844231"/>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74910026"/>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d6e955ad63a4fa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43632030"/>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fb790f99b204501"/>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7008189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400d33eeb58450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4782540"/>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1b19ea749e3405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580759063"/>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5901e202c49430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372984984"/>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2fcf0abbc2d40a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25105137"/>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67a6df8753d4a1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10293550"/>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2d6d127581641c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0712793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42f8dd1c09a4ca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68205887"/>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84b394349884ea8"/>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3575074"/>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c3fadd07b08478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31803502"/>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707516afec246f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64285477"/>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55cd9296130413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394314251"/>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f595346cfd04b8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74507952"/>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c155052bdf9478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61735301"/>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b12f66e7436438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079879517"/>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5e814c4998b47f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20007142"/>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95f89e9704b45a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47557647"/>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2841ced86d2422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50480333"/>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1539ab0c0bd49f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38825826"/>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b7f2df5a0ad478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21426431"/>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92656b3db7f463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2367280"/>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aaf0c692a30458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41928715"/>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da89343d2df42a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123908767"/>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6acdcbf334647e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274973234"/>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34d6cad7c4a402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64824437"/>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c6f2644a1b74e8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572299724"/>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3111f6a055c4ec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417945"/>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1308b55ffe34948"/>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91460627"/>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4db8097f38a4c5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068226350"/>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4f8d06c95544ea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63619937"/>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732e28024f1449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79572627"/>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f50d3f90ff547c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37293472"/>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d287da11c52491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522367578"/>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cec2a5dc982419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52606155"/>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aa8f4795e70481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2273805"/>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8c3ccde5b154d4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036265282"/>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ab6297b59b3491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535379016"/>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fcb83eba59d4ea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67058519"/>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095d1562921456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63466590"/>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a388f685ea3471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71502074"/>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6ca958100f441d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508437037"/>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217c8851531438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03151251"/>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97e09b28fa54fb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01551867"/>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93886f29661434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503909882"/>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732356009f147c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79747035"/>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01df274b101452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064145697"/>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675c6b15cf246e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08569622"/>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68855c2aae746a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10944739"/>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148770088f642d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010147953"/>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98bc10b005e4d6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06432364"/>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f4d242759ce4c2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55397381"/>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d9ca65a522844f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12762929"/>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43880f1afeb4d38"/>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010681925"/>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734edc3815847d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83090658"/>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af904926f5f433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265585069"/>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687d94ed812431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30444820"/>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6eb986a122542b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03768330"/>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ca3c7208edc4c2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98788882"/>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47b6616ca9f4df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05560029"/>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bbaa38da9d5433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2409232"/>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7e2c93d0109428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2376723"/>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a4ac0da868548d1"/>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522261436"/>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fbb5fc922a24da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04797806"/>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06665afb7e2457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95320299"/>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73e91d9ced34d8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402811241"/>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7de20220e2c4f4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11395676"/>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f7426eb211f4b7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228383809"/>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a1cdf2cbbde416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00486310"/>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32fd519eb814de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412555500"/>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c04e469923c47a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37802209"/>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187913833ad4ea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67874668"/>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289ff61b0be441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87165537"/>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3a62a402550479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44285720"/>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2dc2588de834f5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51972188"/>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0761bde07834e8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18411572"/>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1da1d78fc63442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432357495"/>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bd323e5bea84ab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629861539"/>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f60fde05e87400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356595777"/>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0667bf55071451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569512787"/>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066b33a6f3f4948"/>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01297658"/>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3e0bd2d5c2d4a8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37556615"/>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5f43fc843b747d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73969366"/>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cac70a769d44ff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51426143"/>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ab243edfe664d6b"/>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102773"/>
      </p:ext>
    </p:extLst>
  </p:cSld>
</p:sld>
</file>

<file path=ppt/slides/slide12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b67357cc4df4d98"/>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229446475"/>
      </p:ext>
    </p:extLst>
  </p:cSld>
</p:sld>
</file>

<file path=ppt/slides/slide12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5571e2487cb47a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98409797"/>
      </p:ext>
    </p:extLst>
  </p:cSld>
</p:sld>
</file>

<file path=ppt/slides/slide12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eca44c6d99a4e0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76689558"/>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19bfbba435445b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512256568"/>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df8c089fa634c8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97064893"/>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8af6e75359b498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453993410"/>
      </p:ext>
    </p:extLst>
  </p:cSld>
</p:sld>
</file>

<file path=ppt/slides/slide13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951f87cbd124d7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11224616"/>
      </p:ext>
    </p:extLst>
  </p:cSld>
</p:sld>
</file>

<file path=ppt/slides/slide13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ec7743c2639419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40540064"/>
      </p:ext>
    </p:extLst>
  </p:cSld>
</p:sld>
</file>

<file path=ppt/slides/slide13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9f430b6a98f4ed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53829697"/>
      </p:ext>
    </p:extLst>
  </p:cSld>
</p:sld>
</file>

<file path=ppt/slides/slide13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25f41671a794688"/>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667308367"/>
      </p:ext>
    </p:extLst>
  </p:cSld>
</p:sld>
</file>

<file path=ppt/slides/slide13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d16d88df8c6438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125066764"/>
      </p:ext>
    </p:extLst>
  </p:cSld>
</p:sld>
</file>

<file path=ppt/slides/slide13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245596ee62f4d3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585268740"/>
      </p:ext>
    </p:extLst>
  </p:cSld>
</p:sld>
</file>

<file path=ppt/slides/slide13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2f8ec8e4b72401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22990093"/>
      </p:ext>
    </p:extLst>
  </p:cSld>
</p:sld>
</file>

<file path=ppt/slides/slide13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52d71f7325b4c9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94410465"/>
      </p:ext>
    </p:extLst>
  </p:cSld>
</p:sld>
</file>

<file path=ppt/slides/slide13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390eecb529241d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221794101"/>
      </p:ext>
    </p:extLst>
  </p:cSld>
</p:sld>
</file>

<file path=ppt/slides/slide14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ae51cf759294df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319321309"/>
      </p:ext>
    </p:extLst>
  </p:cSld>
</p:sld>
</file>

<file path=ppt/slides/slide14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36ac75f065b490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36261088"/>
      </p:ext>
    </p:extLst>
  </p:cSld>
</p:sld>
</file>

<file path=ppt/slides/slide14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cb96725009b43b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74263201"/>
      </p:ext>
    </p:extLst>
  </p:cSld>
</p:sld>
</file>

<file path=ppt/slides/slide14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efc4a7ce8e54dd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671457602"/>
      </p:ext>
    </p:extLst>
  </p:cSld>
</p:sld>
</file>

<file path=ppt/slides/slide14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7e8cd6ee32c4ea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551233812"/>
      </p:ext>
    </p:extLst>
  </p:cSld>
</p:sld>
</file>

<file path=ppt/slides/slide14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995e6b3380a434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40629364"/>
      </p:ext>
    </p:extLst>
  </p:cSld>
</p:sld>
</file>

<file path=ppt/slides/slide14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b458bbb012f40d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88874120"/>
      </p:ext>
    </p:extLst>
  </p:cSld>
</p:sld>
</file>

<file path=ppt/slides/slide14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00496d2fab44ed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36802918"/>
      </p:ext>
    </p:extLst>
  </p:cSld>
</p:sld>
</file>

<file path=ppt/slides/slide14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ef9174f96964743"/>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398417937"/>
      </p:ext>
    </p:extLst>
  </p:cSld>
</p:sld>
</file>

<file path=ppt/slides/slide14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9f20670f5bb4bb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416807631"/>
      </p:ext>
    </p:extLst>
  </p:cSld>
</p:sld>
</file>

<file path=ppt/slides/slide15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fdaed6e913b429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872800495"/>
      </p:ext>
    </p:extLst>
  </p:cSld>
</p:sld>
</file>

<file path=ppt/slides/slide15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81bb9d942ca4ea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778846996"/>
      </p:ext>
    </p:extLst>
  </p:cSld>
</p:sld>
</file>

<file path=ppt/slides/slide15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7e620765e8b436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26092966"/>
      </p:ext>
    </p:extLst>
  </p:cSld>
</p:sld>
</file>

<file path=ppt/slides/slide15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c63ea796fcb496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937439271"/>
      </p:ext>
    </p:extLst>
  </p:cSld>
</p:sld>
</file>

<file path=ppt/slides/slide15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61e18e62dad476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96793177"/>
      </p:ext>
    </p:extLst>
  </p:cSld>
</p:sld>
</file>

<file path=ppt/slides/slide15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a51f7d63fb547b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63769757"/>
      </p:ext>
    </p:extLst>
  </p:cSld>
</p:sld>
</file>

<file path=ppt/slides/slide15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78ec6f9222d4ea1"/>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589360958"/>
      </p:ext>
    </p:extLst>
  </p:cSld>
</p:sld>
</file>

<file path=ppt/slides/slide15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08c646b21914e74"/>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527080870"/>
      </p:ext>
    </p:extLst>
  </p:cSld>
</p:sld>
</file>

<file path=ppt/slides/slide15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a991184022d412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65514367"/>
      </p:ext>
    </p:extLst>
  </p:cSld>
</p:sld>
</file>

<file path=ppt/slides/slide15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fc7a00c7ad04cad"/>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085349312"/>
      </p:ext>
    </p:extLst>
  </p:cSld>
</p:sld>
</file>

<file path=ppt/slides/slide16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3530a487c1541fc"/>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68913643"/>
      </p:ext>
    </p:extLst>
  </p:cSld>
</p:sld>
</file>

<file path=ppt/slides/slide16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4bd0b1a1a2943a5"/>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505756880"/>
      </p:ext>
    </p:extLst>
  </p:cSld>
</p:sld>
</file>

<file path=ppt/slides/slide16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a09e41109a543d0"/>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18111101"/>
      </p:ext>
    </p:extLst>
  </p:cSld>
</p:sld>
</file>

<file path=ppt/slides/slide16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03e5401aab14c96"/>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83657352"/>
      </p:ext>
    </p:extLst>
  </p:cSld>
</p:sld>
</file>

<file path=ppt/slides/slide16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561b45a5050452f"/>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820071789"/>
      </p:ext>
    </p:extLst>
  </p:cSld>
</p:sld>
</file>

<file path=ppt/slides/slide16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a2eabdcf6754db2"/>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1476279"/>
      </p:ext>
    </p:extLst>
  </p:cSld>
</p:sld>
</file>

<file path=ppt/slides/slide16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0d7a13ee47349d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1300293195"/>
      </p:ext>
    </p:extLst>
  </p:cSld>
</p:sld>
</file>

<file path=ppt/slides/slide16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ff6c5b07362437e"/>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2006855034"/>
      </p:ext>
    </p:extLst>
  </p:cSld>
</p:sld>
</file>

<file path=ppt/slides/slide16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b89ad497fd744f7"/>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727167010"/>
      </p:ext>
    </p:extLst>
  </p:cSld>
</p:sld>
</file>

<file path=ppt/slides/slide16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1cc287ecdc34b0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Tree>
    <p:extLst>
      <p:ext uri="{BB962C8B-B14F-4D97-AF65-F5344CB8AC3E}">
        <p14:creationId xmlns:p14="http://schemas.microsoft.com/office/powerpoint/2010/main" val="996699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2026-09-17T07:51:15.5140000Z</dcterms:created>
  <dcterms:modified xsi:type="dcterms:W3CDTF">2026-09-17T07:51:15.5150000Z</dcterms:modified>
</coreProperties>
</file>